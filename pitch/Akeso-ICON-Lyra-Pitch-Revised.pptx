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I believe most teams here have built an app, a website, or a tool to help people save time. Akeso does that too. But our bigger goal is to give people back time they already have, yet cannot use. A free hour is not useful if you have no energy, focus, or emotional capacity to act. Akeso is an explainable energy and nutrition coach that turns plans into action.
[Sources]
- Internal project overview: README.md
- Product screenshots and mascot inherited from the team-provided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These memes exaggerate two extremes: your body feels like an alarm, or suddenly everything feels easy. We are not claiming to measure cortisol. The serious question underneath the joke is this: why can the same person have a plan on both days, but only have the energy to execute it on one of them?
[Sources]
- Meme images inherited from the team-provided source deck; original public URLs were not recorded.
- Medical boundary: README.md and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Most people do not have a planning problem. They already know what they want to do. The hard part is execution. Imagine a student with five hours blocked out for work. Those five hours exist on the calendar. But after five hours of sleep, poor nutrition, dehydration, or a stressful morning, how many of those hours are genuinely usable? We cannot add hours to the clock. We can work on the gap between time available and capacity to act.
[Sources]
- Illustrative scenario; no measured productivity outcome is claimed.
- Product framing: README.md and docs/superpowers/specs/2026-07-22-demo-video-script-design.md.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That is why tired does not mean lazy. Low energy is the visible outcome, but the signals around it are scattered. Food, sleep, hydration, stress, and mood can all shape the day someone experiences. Most productivity tools only see the task, so they treat every hour as identical. Akeso starts with the person who has to perform the task.
[Sources]
- Product framing: README.md.
- Current and planned signal boundaries: docs/API_CONTRACT.md and docs/superpowers/specs/2026-07-22-demo-video-script-design.md.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Our solution is a personal energy and nutrition coach. In the MVP, Akeso connects a short daily check-in with an explainable energy picture, an energy-aware plan, and food guidance grounded in what the user actually has. It does not ask people to push harder. It helps them choose work, meals, and recovery that fit the day they actually have.
[Sources]
- Current product flow: README.md.
- Energy, plan, and nutrition contracts: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The experience has three steps. First, the user checks in with a few signals. Second, they calibrate the result. This is not a mysterious black-box score: the user’s reported energy anchors the deterministic score. If the result does not reflect how they feel, they update the check-in and Akeso recalculates it. Third, Akeso turns that state into a realistic next action—such as moving demanding work to a stronger window, or suggesting a meal from ingredients already available.
[Sources]
- Scoring definition and user-reported energy mapping: docs/API_CONTRACT.md.
- Rolling check-in recalculation flow: docs/superpowers/specs/2026-07-21-rolling-checkin-design.md.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Personalised does not mean medicalised. Akeso does not diagnose iron deficiency from a meal log. It can identify a repeated pattern, explain it cautiously, suggest one realistic food option, and recommend professional advice when symptoms persist. The goal is useful guidance without pretending to be a doctor.
[Sources]
- Safety and dietary-guidance rules: docs/API_CONTRACT.md.
- Product boundary: 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Akeso gives time back in two ways. First, it removes daily decision friction. In our measured demo workflow, checking the calendar, ranking tasks, deciding what to eat, and building a plan took twelve minutes. Akeso reached the first useful recommendation in twenty-five seconds: eleven minutes and thirty-five seconds saved. That is one rehearsed workflow, not a population study, so wider user testing is our next validation step. Second, better timing helps people make more of the hours they already have.
[Sources]
- Measured team demo workflow: docs/superpowers/specs/2026-07-22-demo-video-script-design.md.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Under the hood, the Expo app talks to an Express API backed by Supabase. Deterministic TypeScript services calculate the authoritative energy result and plan. AI can explain schema-validated guidance, but it does not invent the score. That separation is important: the same input produces a consistent result, and uncertainty is communicated instead of hidden.
[Sources]
- Architecture overview: README.md.
- API and scoring contracts: docs/API_CONTRACT.md.
- Demo architecture narration: docs/superpowers/specs/2026-07-22-demo-video-script-design.md.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Akeso is built by four of us. Dailin Jia and Bob Lee cover full-stack development — Dailin also owns the UI design, and Bob leads the architecture and the algorithm implementation. Nicole Wang designed the energy algorithm and works across the backend. Xin He drives marketing and also contributes to the backend. Four people, one shared goal: making energy something you can understand and act on.
[Sources]
- Roles as listed on the team introduction card provided by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Today, Akeso connects daily energy, planning, and nutrition. Next, we want to deepen the picture with an emotion coach, faster food logging, wearables, weekly patterns, and expert-reviewed guidance. Most tools save a few minutes. Akeso aims to do something deeper: help people reclaim the hours they are currently unable to use. We do not ask people to grind harder. We help them understand their energy and use it at the right time. Akeso: less grind, better timing.
[Sources]
- Current product and roadmap framing: README.md and the team-provided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72B56E"/>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1B1D19"/>
                </a:solidFill>
                <a:latin typeface="Arial" pitchFamily="34" charset="0"/>
                <a:ea typeface="Arial" pitchFamily="34" charset="-122"/>
                <a:cs typeface="Arial" pitchFamily="34" charset="-120"/>
              </a:rPr>
              <a:t>AKESO · ICON × LYRA 2026</a:t>
            </a:r>
            <a:endParaRPr lang="en-US" sz="850" dirty="0"/>
          </a:p>
        </p:txBody>
      </p:sp>
      <p:sp>
        <p:nvSpPr>
          <p:cNvPr id="4" name="Text 2"/>
          <p:cNvSpPr/>
          <p:nvPr/>
        </p:nvSpPr>
        <p:spPr>
          <a:xfrm>
            <a:off x="381000" y="991493"/>
            <a:ext cx="5682505" cy="1822549"/>
          </a:xfrm>
          <a:prstGeom prst="rect">
            <a:avLst/>
          </a:prstGeom>
          <a:noFill/>
          <a:ln/>
        </p:spPr>
        <p:txBody>
          <a:bodyPr wrap="square" lIns="0" tIns="0" rIns="0" bIns="0" rtlCol="0" anchor="t"/>
          <a:lstStyle/>
          <a:p>
            <a:pPr algn="l" indent="0" marL="0">
              <a:lnSpc>
                <a:spcPts val="4784"/>
              </a:lnSpc>
              <a:buNone/>
            </a:pPr>
            <a:r>
              <a:rPr lang="en-US" sz="4600" dirty="0">
                <a:solidFill>
                  <a:srgbClr val="1B1D19"/>
                </a:solidFill>
                <a:latin typeface="Georgia" pitchFamily="34" charset="0"/>
                <a:ea typeface="Georgia" pitchFamily="34" charset="-122"/>
                <a:cs typeface="Georgia" pitchFamily="34" charset="-120"/>
              </a:rPr>
              <a:t>RECLAIM</a:t>
            </a:r>
            <a:endParaRPr lang="en-US" sz="4600" dirty="0"/>
          </a:p>
          <a:p>
            <a:pPr algn="l" indent="0" marL="0">
              <a:lnSpc>
                <a:spcPts val="4784"/>
              </a:lnSpc>
              <a:buNone/>
            </a:pPr>
            <a:r>
              <a:rPr lang="en-US" sz="4600" dirty="0">
                <a:solidFill>
                  <a:srgbClr val="1B1D19"/>
                </a:solidFill>
                <a:latin typeface="Georgia" pitchFamily="34" charset="0"/>
                <a:ea typeface="Georgia" pitchFamily="34" charset="-122"/>
                <a:cs typeface="Georgia" pitchFamily="34" charset="-120"/>
              </a:rPr>
              <a:t>YOUR USABLE</a:t>
            </a:r>
            <a:endParaRPr lang="en-US" sz="4600" dirty="0"/>
          </a:p>
          <a:p>
            <a:pPr algn="l" indent="0" marL="0">
              <a:lnSpc>
                <a:spcPts val="4784"/>
              </a:lnSpc>
              <a:buNone/>
            </a:pPr>
            <a:r>
              <a:rPr lang="en-US" sz="4600" dirty="0">
                <a:solidFill>
                  <a:srgbClr val="1B1D19"/>
                </a:solidFill>
                <a:latin typeface="Georgia" pitchFamily="34" charset="0"/>
                <a:ea typeface="Georgia" pitchFamily="34" charset="-122"/>
                <a:cs typeface="Georgia" pitchFamily="34" charset="-120"/>
              </a:rPr>
              <a:t>TIME.</a:t>
            </a:r>
            <a:endParaRPr lang="en-US" sz="4600" dirty="0"/>
          </a:p>
        </p:txBody>
      </p:sp>
      <p:sp>
        <p:nvSpPr>
          <p:cNvPr id="5" name="Text 3"/>
          <p:cNvSpPr/>
          <p:nvPr/>
        </p:nvSpPr>
        <p:spPr>
          <a:xfrm>
            <a:off x="381000" y="3017193"/>
            <a:ext cx="5311039" cy="480417"/>
          </a:xfrm>
          <a:prstGeom prst="rect">
            <a:avLst/>
          </a:prstGeom>
          <a:noFill/>
          <a:ln/>
        </p:spPr>
        <p:txBody>
          <a:bodyPr wrap="square" lIns="0" tIns="0" rIns="0" bIns="0" rtlCol="0" anchor="t"/>
          <a:lstStyle/>
          <a:p>
            <a:pPr algn="l" indent="0" marL="0">
              <a:lnSpc>
                <a:spcPts val="1891"/>
              </a:lnSpc>
              <a:spcBef>
                <a:spcPts val="1600"/>
              </a:spcBef>
              <a:buNone/>
            </a:pPr>
            <a:r>
              <a:rPr lang="en-US" sz="1550" b="1" dirty="0">
                <a:solidFill>
                  <a:srgbClr val="1B1D19"/>
                </a:solidFill>
                <a:latin typeface="Arial" pitchFamily="34" charset="0"/>
                <a:ea typeface="Arial" pitchFamily="34" charset="-122"/>
                <a:cs typeface="Arial" pitchFamily="34" charset="-120"/>
              </a:rPr>
              <a:t>An explainable energy + nutrition coach that turns plans into action.</a:t>
            </a:r>
            <a:endParaRPr lang="en-US" sz="1550" dirty="0"/>
          </a:p>
        </p:txBody>
      </p:sp>
      <p:sp>
        <p:nvSpPr>
          <p:cNvPr id="6" name="Text 4"/>
          <p:cNvSpPr/>
          <p:nvPr/>
        </p:nvSpPr>
        <p:spPr>
          <a:xfrm>
            <a:off x="381000" y="3726210"/>
            <a:ext cx="755749" cy="285155"/>
          </a:xfrm>
          <a:prstGeom prst="roundRect">
            <a:avLst>
              <a:gd name="adj" fmla="val 4449264"/>
            </a:avLst>
          </a:prstGeom>
          <a:solidFill>
            <a:srgbClr val="F49C86"/>
          </a:solidFill>
          <a:ln w="9525">
            <a:solidFill>
              <a:srgbClr val="1B1D19"/>
            </a:solidFill>
          </a:ln>
        </p:spPr>
        <p:txBody>
          <a:bodyPr wrap="square" rtlCol="0" anchor="ctr"/>
          <a:lstStyle/>
          <a:p>
            <a:pPr indent="0" marL="0">
              <a:buNone/>
            </a:pPr>
            <a:endParaRPr lang="en-US" dirty="0"/>
          </a:p>
        </p:txBody>
      </p:sp>
      <p:sp>
        <p:nvSpPr>
          <p:cNvPr id="7" name="Text 5"/>
          <p:cNvSpPr/>
          <p:nvPr/>
        </p:nvSpPr>
        <p:spPr>
          <a:xfrm>
            <a:off x="517475" y="3799136"/>
            <a:ext cx="492454"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ENERGY</a:t>
            </a:r>
            <a:endParaRPr lang="en-US" sz="900" dirty="0"/>
          </a:p>
        </p:txBody>
      </p:sp>
      <p:sp>
        <p:nvSpPr>
          <p:cNvPr id="8" name="Text 6"/>
          <p:cNvSpPr/>
          <p:nvPr/>
        </p:nvSpPr>
        <p:spPr>
          <a:xfrm>
            <a:off x="1238250" y="3726210"/>
            <a:ext cx="895201" cy="285155"/>
          </a:xfrm>
          <a:prstGeom prst="roundRect">
            <a:avLst>
              <a:gd name="adj" fmla="val 4449264"/>
            </a:avLst>
          </a:prstGeom>
          <a:solidFill>
            <a:srgbClr val="FFFFFF"/>
          </a:solidFill>
          <a:ln w="9525">
            <a:solidFill>
              <a:srgbClr val="1B1D19"/>
            </a:solidFill>
          </a:ln>
        </p:spPr>
        <p:txBody>
          <a:bodyPr wrap="square" rtlCol="0" anchor="ctr"/>
          <a:lstStyle/>
          <a:p>
            <a:pPr indent="0" marL="0">
              <a:buNone/>
            </a:pPr>
            <a:endParaRPr lang="en-US" dirty="0"/>
          </a:p>
        </p:txBody>
      </p:sp>
      <p:sp>
        <p:nvSpPr>
          <p:cNvPr id="9" name="Text 7"/>
          <p:cNvSpPr/>
          <p:nvPr/>
        </p:nvSpPr>
        <p:spPr>
          <a:xfrm>
            <a:off x="1374725" y="3799136"/>
            <a:ext cx="634695"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NUTRITION</a:t>
            </a:r>
            <a:endParaRPr lang="en-US" sz="900" dirty="0"/>
          </a:p>
        </p:txBody>
      </p:sp>
      <p:sp>
        <p:nvSpPr>
          <p:cNvPr id="10" name="Text 8"/>
          <p:cNvSpPr/>
          <p:nvPr/>
        </p:nvSpPr>
        <p:spPr>
          <a:xfrm>
            <a:off x="2234952" y="3726210"/>
            <a:ext cx="869900" cy="285155"/>
          </a:xfrm>
          <a:prstGeom prst="roundRect">
            <a:avLst>
              <a:gd name="adj" fmla="val 4449264"/>
            </a:avLst>
          </a:prstGeom>
          <a:solidFill>
            <a:srgbClr val="F6EA7B"/>
          </a:solidFill>
          <a:ln w="9525">
            <a:solidFill>
              <a:srgbClr val="1B1D19"/>
            </a:solidFill>
          </a:ln>
        </p:spPr>
        <p:txBody>
          <a:bodyPr wrap="square" rtlCol="0" anchor="ctr"/>
          <a:lstStyle/>
          <a:p>
            <a:pPr indent="0" marL="0">
              <a:buNone/>
            </a:pPr>
            <a:endParaRPr lang="en-US" dirty="0"/>
          </a:p>
        </p:txBody>
      </p:sp>
      <p:sp>
        <p:nvSpPr>
          <p:cNvPr id="11" name="Text 9"/>
          <p:cNvSpPr/>
          <p:nvPr/>
        </p:nvSpPr>
        <p:spPr>
          <a:xfrm>
            <a:off x="2371427" y="3799136"/>
            <a:ext cx="608889"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PLANNING</a:t>
            </a:r>
            <a:endParaRPr lang="en-US" sz="900" dirty="0"/>
          </a:p>
        </p:txBody>
      </p:sp>
      <p:sp>
        <p:nvSpPr>
          <p:cNvPr id="12" name="Text 10"/>
          <p:cNvSpPr/>
          <p:nvPr/>
        </p:nvSpPr>
        <p:spPr>
          <a:xfrm>
            <a:off x="3206353" y="3726210"/>
            <a:ext cx="927199" cy="285155"/>
          </a:xfrm>
          <a:prstGeom prst="roundRect">
            <a:avLst>
              <a:gd name="adj" fmla="val 4449264"/>
            </a:avLst>
          </a:prstGeom>
          <a:solidFill>
            <a:srgbClr val="B9D7F2"/>
          </a:solidFill>
          <a:ln w="9525">
            <a:solidFill>
              <a:srgbClr val="1B1D19"/>
            </a:solidFill>
          </a:ln>
        </p:spPr>
        <p:txBody>
          <a:bodyPr wrap="square" rtlCol="0" anchor="ctr"/>
          <a:lstStyle/>
          <a:p>
            <a:pPr indent="0" marL="0">
              <a:buNone/>
            </a:pPr>
            <a:endParaRPr lang="en-US" dirty="0"/>
          </a:p>
        </p:txBody>
      </p:sp>
      <p:sp>
        <p:nvSpPr>
          <p:cNvPr id="13" name="Text 11"/>
          <p:cNvSpPr/>
          <p:nvPr/>
        </p:nvSpPr>
        <p:spPr>
          <a:xfrm>
            <a:off x="3342829" y="3799136"/>
            <a:ext cx="667333"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EXPLAINED</a:t>
            </a:r>
            <a:endParaRPr lang="en-US" sz="900" dirty="0"/>
          </a:p>
        </p:txBody>
      </p:sp>
      <p:sp>
        <p:nvSpPr>
          <p:cNvPr id="14" name="Text 12"/>
          <p:cNvSpPr/>
          <p:nvPr/>
        </p:nvSpPr>
        <p:spPr>
          <a:xfrm>
            <a:off x="4235053" y="3726210"/>
            <a:ext cx="1521768" cy="285155"/>
          </a:xfrm>
          <a:prstGeom prst="roundRect">
            <a:avLst>
              <a:gd name="adj" fmla="val 4449264"/>
            </a:avLst>
          </a:prstGeom>
          <a:solidFill>
            <a:srgbClr val="C8F23D"/>
          </a:solidFill>
          <a:ln w="9525">
            <a:solidFill>
              <a:srgbClr val="1B1D19"/>
            </a:solidFill>
          </a:ln>
        </p:spPr>
        <p:txBody>
          <a:bodyPr wrap="square" rtlCol="0" anchor="ctr"/>
          <a:lstStyle/>
          <a:p>
            <a:pPr indent="0" marL="0">
              <a:buNone/>
            </a:pPr>
            <a:endParaRPr lang="en-US" dirty="0"/>
          </a:p>
        </p:txBody>
      </p:sp>
      <p:sp>
        <p:nvSpPr>
          <p:cNvPr id="15" name="Text 13"/>
          <p:cNvSpPr/>
          <p:nvPr/>
        </p:nvSpPr>
        <p:spPr>
          <a:xfrm>
            <a:off x="4371529" y="3799136"/>
            <a:ext cx="1273793"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BUILT FOR STUDENTS</a:t>
            </a:r>
            <a:endParaRPr lang="en-US" sz="900" dirty="0"/>
          </a:p>
        </p:txBody>
      </p:sp>
      <p:sp>
        <p:nvSpPr>
          <p:cNvPr id="16" name="Text 14"/>
          <p:cNvSpPr/>
          <p:nvPr/>
        </p:nvSpPr>
        <p:spPr>
          <a:xfrm>
            <a:off x="381000" y="4265265"/>
            <a:ext cx="5682505" cy="170408"/>
          </a:xfrm>
          <a:prstGeom prst="rect">
            <a:avLst/>
          </a:prstGeom>
          <a:noFill/>
          <a:ln/>
        </p:spPr>
        <p:txBody>
          <a:bodyPr wrap="square" lIns="0" tIns="0" rIns="0" bIns="0" rtlCol="0" anchor="t"/>
          <a:lstStyle/>
          <a:p>
            <a:pPr algn="l" indent="0" marL="0">
              <a:lnSpc>
                <a:spcPts val="1342"/>
              </a:lnSpc>
              <a:spcBef>
                <a:spcPts val="2000"/>
              </a:spcBef>
              <a:buNone/>
            </a:pPr>
            <a:r>
              <a:rPr lang="en-US" sz="1100" b="1" dirty="0">
                <a:solidFill>
                  <a:srgbClr val="1B1D19"/>
                </a:solidFill>
                <a:latin typeface="Arial" pitchFamily="34" charset="0"/>
                <a:ea typeface="Arial" pitchFamily="34" charset="-122"/>
                <a:cs typeface="Arial" pitchFamily="34" charset="-120"/>
              </a:rPr>
              <a:t>github.com/EdwinjJ1/akeso</a:t>
            </a:r>
            <a:endParaRPr lang="en-US" sz="1100" dirty="0"/>
          </a:p>
        </p:txBody>
      </p:sp>
      <p:sp>
        <p:nvSpPr>
          <p:cNvPr id="17" name="Text 15"/>
          <p:cNvSpPr/>
          <p:nvPr/>
        </p:nvSpPr>
        <p:spPr>
          <a:xfrm>
            <a:off x="6383834" y="1157883"/>
            <a:ext cx="2379166" cy="3111401"/>
          </a:xfrm>
          <a:prstGeom prst="roundRect">
            <a:avLst>
              <a:gd name="adj" fmla="val 16014"/>
            </a:avLst>
          </a:prstGeom>
          <a:solidFill>
            <a:srgbClr val="1B1D19"/>
          </a:solidFill>
          <a:ln w="19050">
            <a:solidFill>
              <a:srgbClr val="1B1D19"/>
            </a:solidFill>
          </a:ln>
        </p:spPr>
        <p:txBody>
          <a:bodyPr wrap="square" rtlCol="0" anchor="ctr"/>
          <a:lstStyle/>
          <a:p>
            <a:pPr indent="0" marL="0">
              <a:buNone/>
            </a:pPr>
            <a:endParaRPr lang="en-US" dirty="0"/>
          </a:p>
        </p:txBody>
      </p:sp>
      <p:pic>
        <p:nvPicPr>
          <p:cNvPr id="18" name="Image 0" descr="/Users/edwinj/Edwin/second-brain/01-projects/UNSWHac/pitch/assets/mascot-celebrate.png">    </p:cNvPr>
          <p:cNvPicPr>
            <a:picLocks noChangeAspect="1"/>
          </p:cNvPicPr>
          <p:nvPr/>
        </p:nvPicPr>
        <p:blipFill>
          <a:blip r:embed="rId1"/>
          <a:stretch>
            <a:fillRect/>
          </a:stretch>
        </p:blipFill>
        <p:spPr>
          <a:xfrm>
            <a:off x="6239917" y="1583234"/>
            <a:ext cx="2667000" cy="2667000"/>
          </a:xfrm>
          <a:prstGeom prst="rect">
            <a:avLst/>
          </a:prstGeom>
        </p:spPr>
      </p:pic>
      <p:sp>
        <p:nvSpPr>
          <p:cNvPr id="19" name="Text 16"/>
          <p:cNvSpPr/>
          <p:nvPr/>
        </p:nvSpPr>
        <p:spPr>
          <a:xfrm>
            <a:off x="381000" y="4925913"/>
            <a:ext cx="2214679" cy="116086"/>
          </a:xfrm>
          <a:prstGeom prst="rect">
            <a:avLst/>
          </a:prstGeom>
          <a:noFill/>
          <a:ln/>
        </p:spPr>
        <p:txBody>
          <a:bodyPr wrap="square" lIns="0" tIns="0" rIns="0" bIns="0" rtlCol="0" anchor="t"/>
          <a:lstStyle/>
          <a:p>
            <a:pPr algn="l" indent="0" marL="0">
              <a:lnSpc>
                <a:spcPts val="915"/>
              </a:lnSpc>
              <a:buNone/>
            </a:pPr>
            <a:r>
              <a:rPr lang="en-US" sz="750" b="1" dirty="0">
                <a:solidFill>
                  <a:srgbClr val="1B1D19"/>
                </a:solidFill>
                <a:latin typeface="Arial" pitchFamily="34" charset="0"/>
                <a:ea typeface="Arial" pitchFamily="34" charset="-122"/>
                <a:cs typeface="Arial" pitchFamily="34" charset="-120"/>
              </a:rPr>
              <a:t>AKESO · LESS GRIND. BETTER TIMING.</a:t>
            </a:r>
            <a:endParaRPr lang="en-US" sz="750" dirty="0"/>
          </a:p>
        </p:txBody>
      </p:sp>
      <p:sp>
        <p:nvSpPr>
          <p:cNvPr id="20" name="Text 17"/>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1B1D19"/>
                </a:solidFill>
                <a:latin typeface="Arial" pitchFamily="34" charset="0"/>
                <a:ea typeface="Arial" pitchFamily="34" charset="-122"/>
                <a:cs typeface="Arial" pitchFamily="34" charset="-120"/>
              </a:rPr>
              <a:t>00</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THE PROBLEM, IN TWO MEMES</a:t>
            </a:r>
            <a:endParaRPr lang="en-US" sz="850" dirty="0"/>
          </a:p>
        </p:txBody>
      </p:sp>
      <p:sp>
        <p:nvSpPr>
          <p:cNvPr id="3" name="Text 1"/>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YOUR ENERGY IS TRYING</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TO TELL YOU SOMETHING.</a:t>
            </a:r>
            <a:endParaRPr lang="en-US" sz="3600" dirty="0"/>
          </a:p>
        </p:txBody>
      </p:sp>
      <p:sp>
        <p:nvSpPr>
          <p:cNvPr id="4" name="Text 2"/>
          <p:cNvSpPr/>
          <p:nvPr/>
        </p:nvSpPr>
        <p:spPr>
          <a:xfrm>
            <a:off x="381000" y="1691580"/>
            <a:ext cx="4076700" cy="2768501"/>
          </a:xfrm>
          <a:prstGeom prst="roundRect">
            <a:avLst>
              <a:gd name="adj" fmla="val 6422"/>
            </a:avLst>
          </a:prstGeom>
          <a:solidFill>
            <a:srgbClr val="F49C86"/>
          </a:solidFill>
          <a:ln w="19050">
            <a:solidFill>
              <a:srgbClr val="30342E"/>
            </a:solidFill>
          </a:ln>
        </p:spPr>
        <p:txBody>
          <a:bodyPr wrap="square" rtlCol="0" anchor="ctr"/>
          <a:lstStyle/>
          <a:p>
            <a:pPr indent="0" marL="0">
              <a:buNone/>
            </a:pPr>
            <a:endParaRPr lang="en-US" dirty="0"/>
          </a:p>
        </p:txBody>
      </p:sp>
      <p:pic>
        <p:nvPicPr>
          <p:cNvPr id="5" name="Image 0" descr="/Users/edwinj/Edwin/second-brain/01-projects/UNSWHac/pitch/assets/meme-high-cortisol.jpg">    </p:cNvPr>
          <p:cNvPicPr>
            <a:picLocks noChangeAspect="1"/>
          </p:cNvPicPr>
          <p:nvPr/>
        </p:nvPicPr>
        <p:blipFill>
          <a:blip r:embed="rId1"/>
          <a:stretch>
            <a:fillRect/>
          </a:stretch>
        </p:blipFill>
        <p:spPr>
          <a:xfrm>
            <a:off x="501551" y="1812131"/>
            <a:ext cx="3848100" cy="2158901"/>
          </a:xfrm>
          <a:prstGeom prst="rect">
            <a:avLst/>
          </a:prstGeom>
        </p:spPr>
      </p:pic>
      <p:sp>
        <p:nvSpPr>
          <p:cNvPr id="6" name="Text 3"/>
          <p:cNvSpPr/>
          <p:nvPr/>
        </p:nvSpPr>
        <p:spPr>
          <a:xfrm>
            <a:off x="501551" y="4059882"/>
            <a:ext cx="3912310" cy="154781"/>
          </a:xfrm>
          <a:prstGeom prst="rect">
            <a:avLst/>
          </a:prstGeom>
          <a:noFill/>
          <a:ln/>
        </p:spPr>
        <p:txBody>
          <a:bodyPr wrap="square" lIns="0" tIns="0" rIns="0" bIns="0" rtlCol="0" anchor="t"/>
          <a:lstStyle/>
          <a:p>
            <a:pPr algn="l" indent="0" marL="0">
              <a:lnSpc>
                <a:spcPts val="1220"/>
              </a:lnSpc>
              <a:spcBef>
                <a:spcPts val="700"/>
              </a:spcBef>
              <a:buNone/>
            </a:pPr>
            <a:r>
              <a:rPr lang="en-US" sz="1000" b="1" dirty="0">
                <a:solidFill>
                  <a:srgbClr val="1B1D19"/>
                </a:solidFill>
                <a:latin typeface="Arial" pitchFamily="34" charset="0"/>
                <a:ea typeface="Arial" pitchFamily="34" charset="-122"/>
                <a:cs typeface="Arial" pitchFamily="34" charset="-120"/>
              </a:rPr>
              <a:t>WHEN YOUR BODY FEELS LIKE AN ALARM</a:t>
            </a:r>
            <a:endParaRPr lang="en-US" sz="1000" dirty="0"/>
          </a:p>
        </p:txBody>
      </p:sp>
      <p:sp>
        <p:nvSpPr>
          <p:cNvPr id="7" name="Text 4"/>
          <p:cNvSpPr/>
          <p:nvPr/>
        </p:nvSpPr>
        <p:spPr>
          <a:xfrm>
            <a:off x="4686300" y="1691580"/>
            <a:ext cx="4076700" cy="2768501"/>
          </a:xfrm>
          <a:prstGeom prst="roundRect">
            <a:avLst>
              <a:gd name="adj" fmla="val 6422"/>
            </a:avLst>
          </a:prstGeom>
          <a:solidFill>
            <a:srgbClr val="72B56E"/>
          </a:solidFill>
          <a:ln w="19050">
            <a:solidFill>
              <a:srgbClr val="30342E"/>
            </a:solidFill>
          </a:ln>
        </p:spPr>
        <p:txBody>
          <a:bodyPr wrap="square" rtlCol="0" anchor="ctr"/>
          <a:lstStyle/>
          <a:p>
            <a:pPr indent="0" marL="0">
              <a:buNone/>
            </a:pPr>
            <a:endParaRPr lang="en-US" dirty="0"/>
          </a:p>
        </p:txBody>
      </p:sp>
      <p:pic>
        <p:nvPicPr>
          <p:cNvPr id="8" name="Image 1" descr="/Users/edwinj/Edwin/second-brain/01-projects/UNSWHac/pitch/assets/meme-low-cortisol.jpg">    </p:cNvPr>
          <p:cNvPicPr>
            <a:picLocks noChangeAspect="1"/>
          </p:cNvPicPr>
          <p:nvPr/>
        </p:nvPicPr>
        <p:blipFill>
          <a:blip r:embed="rId2"/>
          <a:stretch>
            <a:fillRect/>
          </a:stretch>
        </p:blipFill>
        <p:spPr>
          <a:xfrm>
            <a:off x="4806851" y="1812131"/>
            <a:ext cx="3848100" cy="2158901"/>
          </a:xfrm>
          <a:prstGeom prst="rect">
            <a:avLst/>
          </a:prstGeom>
        </p:spPr>
      </p:pic>
      <p:sp>
        <p:nvSpPr>
          <p:cNvPr id="9" name="Text 5"/>
          <p:cNvSpPr/>
          <p:nvPr/>
        </p:nvSpPr>
        <p:spPr>
          <a:xfrm>
            <a:off x="4806851" y="4059882"/>
            <a:ext cx="3912310" cy="154781"/>
          </a:xfrm>
          <a:prstGeom prst="rect">
            <a:avLst/>
          </a:prstGeom>
          <a:noFill/>
          <a:ln/>
        </p:spPr>
        <p:txBody>
          <a:bodyPr wrap="square" lIns="0" tIns="0" rIns="0" bIns="0" rtlCol="0" anchor="t"/>
          <a:lstStyle/>
          <a:p>
            <a:pPr algn="l" indent="0" marL="0">
              <a:lnSpc>
                <a:spcPts val="1220"/>
              </a:lnSpc>
              <a:spcBef>
                <a:spcPts val="700"/>
              </a:spcBef>
              <a:buNone/>
            </a:pPr>
            <a:r>
              <a:rPr lang="en-US" sz="1000" b="1" dirty="0">
                <a:solidFill>
                  <a:srgbClr val="1B1D19"/>
                </a:solidFill>
                <a:latin typeface="Arial" pitchFamily="34" charset="0"/>
                <a:ea typeface="Arial" pitchFamily="34" charset="-122"/>
                <a:cs typeface="Arial" pitchFamily="34" charset="-120"/>
              </a:rPr>
              <a:t>WHEN EVERYTHING FINALLY FEELS EASY</a:t>
            </a:r>
            <a:endParaRPr lang="en-US" sz="1000" dirty="0"/>
          </a:p>
        </p:txBody>
      </p:sp>
      <p:sp>
        <p:nvSpPr>
          <p:cNvPr id="10" name="Text 6"/>
          <p:cNvSpPr/>
          <p:nvPr/>
        </p:nvSpPr>
        <p:spPr>
          <a:xfrm>
            <a:off x="381000" y="4561582"/>
            <a:ext cx="8549640" cy="114300"/>
          </a:xfrm>
          <a:prstGeom prst="rect">
            <a:avLst/>
          </a:prstGeom>
          <a:noFill/>
          <a:ln/>
        </p:spPr>
        <p:txBody>
          <a:bodyPr wrap="square" lIns="0" tIns="0" rIns="0" bIns="0" rtlCol="0" anchor="t"/>
          <a:lstStyle/>
          <a:p>
            <a:pPr algn="l" indent="0" marL="0">
              <a:lnSpc>
                <a:spcPts val="900"/>
              </a:lnSpc>
              <a:spcBef>
                <a:spcPts val="800"/>
              </a:spcBef>
              <a:buNone/>
            </a:pPr>
            <a:r>
              <a:rPr lang="en-US" sz="750" dirty="0">
                <a:solidFill>
                  <a:srgbClr val="667066"/>
                </a:solidFill>
                <a:latin typeface="Arial" pitchFamily="34" charset="0"/>
                <a:ea typeface="Arial" pitchFamily="34" charset="-122"/>
                <a:cs typeface="Arial" pitchFamily="34" charset="-120"/>
              </a:rPr>
              <a:t>The memes are the hook — Akeso does not measure or diagnose cortisol.</a:t>
            </a:r>
            <a:endParaRPr lang="en-US" sz="750" dirty="0"/>
          </a:p>
        </p:txBody>
      </p:sp>
      <p:sp>
        <p:nvSpPr>
          <p:cNvPr id="11" name="Text 7"/>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12" name="Text 8"/>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01</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6EA7B"/>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THE EXECUTION GAP</a:t>
            </a:r>
            <a:endParaRPr lang="en-US" sz="850" dirty="0"/>
          </a:p>
        </p:txBody>
      </p:sp>
      <p:sp>
        <p:nvSpPr>
          <p:cNvPr id="4" name="Text 2"/>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TIME AVAILABLE</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ISN’T ALWAYS TIME USABLE.</a:t>
            </a:r>
            <a:endParaRPr lang="en-US" sz="3600" dirty="0"/>
          </a:p>
        </p:txBody>
      </p:sp>
      <p:sp>
        <p:nvSpPr>
          <p:cNvPr id="5" name="Text 3"/>
          <p:cNvSpPr/>
          <p:nvPr/>
        </p:nvSpPr>
        <p:spPr>
          <a:xfrm>
            <a:off x="381000" y="1691580"/>
            <a:ext cx="3873401" cy="2031950"/>
          </a:xfrm>
          <a:prstGeom prst="roundRect">
            <a:avLst>
              <a:gd name="adj" fmla="val 8750"/>
            </a:avLst>
          </a:prstGeom>
          <a:solidFill>
            <a:srgbClr val="FFFFFF"/>
          </a:solidFill>
          <a:ln w="19050">
            <a:solidFill>
              <a:srgbClr val="30342E"/>
            </a:solidFill>
          </a:ln>
        </p:spPr>
        <p:txBody>
          <a:bodyPr wrap="square" rtlCol="0" anchor="ctr"/>
          <a:lstStyle/>
          <a:p>
            <a:pPr indent="0" marL="0">
              <a:buNone/>
            </a:pPr>
            <a:endParaRPr lang="en-US" dirty="0"/>
          </a:p>
        </p:txBody>
      </p:sp>
      <p:sp>
        <p:nvSpPr>
          <p:cNvPr id="6" name="Text 4"/>
          <p:cNvSpPr/>
          <p:nvPr/>
        </p:nvSpPr>
        <p:spPr>
          <a:xfrm>
            <a:off x="628650" y="1901130"/>
            <a:ext cx="3445663"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PLANNED</a:t>
            </a:r>
            <a:endParaRPr lang="en-US" sz="850" dirty="0"/>
          </a:p>
        </p:txBody>
      </p:sp>
      <p:sp>
        <p:nvSpPr>
          <p:cNvPr id="7" name="Text 5"/>
          <p:cNvSpPr/>
          <p:nvPr/>
        </p:nvSpPr>
        <p:spPr>
          <a:xfrm>
            <a:off x="628650" y="2134195"/>
            <a:ext cx="3445663" cy="584150"/>
          </a:xfrm>
          <a:prstGeom prst="rect">
            <a:avLst/>
          </a:prstGeom>
          <a:noFill/>
          <a:ln/>
        </p:spPr>
        <p:txBody>
          <a:bodyPr wrap="square" lIns="0" tIns="0" rIns="0" bIns="0" rtlCol="0" anchor="t"/>
          <a:lstStyle/>
          <a:p>
            <a:pPr algn="l" indent="0" marL="0">
              <a:lnSpc>
                <a:spcPts val="4600"/>
              </a:lnSpc>
              <a:buNone/>
            </a:pPr>
            <a:r>
              <a:rPr lang="en-US" sz="4600" b="1" dirty="0">
                <a:solidFill>
                  <a:srgbClr val="1B1D19"/>
                </a:solidFill>
                <a:latin typeface="Georgia" pitchFamily="34" charset="0"/>
                <a:ea typeface="Georgia" pitchFamily="34" charset="-122"/>
                <a:cs typeface="Georgia" pitchFamily="34" charset="-120"/>
              </a:rPr>
              <a:t>5:00</a:t>
            </a:r>
            <a:endParaRPr lang="en-US" sz="4600" dirty="0"/>
          </a:p>
        </p:txBody>
      </p:sp>
      <p:sp>
        <p:nvSpPr>
          <p:cNvPr id="8" name="Text 6"/>
          <p:cNvSpPr/>
          <p:nvPr/>
        </p:nvSpPr>
        <p:spPr>
          <a:xfrm>
            <a:off x="628650" y="3355330"/>
            <a:ext cx="3445663" cy="158651"/>
          </a:xfrm>
          <a:prstGeom prst="rect">
            <a:avLst/>
          </a:prstGeom>
          <a:noFill/>
          <a:ln/>
        </p:spPr>
        <p:txBody>
          <a:bodyPr wrap="square" lIns="0" tIns="0" rIns="0" bIns="0" rtlCol="0" anchor="t"/>
          <a:lstStyle/>
          <a:p>
            <a:pPr algn="l" indent="0" marL="0">
              <a:lnSpc>
                <a:spcPts val="1250"/>
              </a:lnSpc>
              <a:buNone/>
            </a:pPr>
            <a:r>
              <a:rPr lang="en-US" sz="1000" dirty="0">
                <a:solidFill>
                  <a:srgbClr val="667066"/>
                </a:solidFill>
                <a:latin typeface="Arial" pitchFamily="34" charset="0"/>
                <a:ea typeface="Arial" pitchFamily="34" charset="-122"/>
                <a:cs typeface="Arial" pitchFamily="34" charset="-120"/>
              </a:rPr>
              <a:t>The plan exists. The hours are on the calendar.</a:t>
            </a:r>
            <a:endParaRPr lang="en-US" sz="1000" dirty="0"/>
          </a:p>
        </p:txBody>
      </p:sp>
      <p:sp>
        <p:nvSpPr>
          <p:cNvPr id="9" name="Text 7"/>
          <p:cNvSpPr/>
          <p:nvPr/>
        </p:nvSpPr>
        <p:spPr>
          <a:xfrm>
            <a:off x="4483001" y="1691580"/>
            <a:ext cx="3873401" cy="2031950"/>
          </a:xfrm>
          <a:prstGeom prst="roundRect">
            <a:avLst>
              <a:gd name="adj" fmla="val 8750"/>
            </a:avLst>
          </a:prstGeom>
          <a:solidFill>
            <a:srgbClr val="1B1D19"/>
          </a:solidFill>
          <a:ln w="47625">
            <a:solidFill>
              <a:srgbClr val="C8F23D"/>
            </a:solidFill>
          </a:ln>
        </p:spPr>
        <p:txBody>
          <a:bodyPr wrap="square" rtlCol="0" anchor="ctr"/>
          <a:lstStyle/>
          <a:p>
            <a:pPr indent="0" marL="0">
              <a:buNone/>
            </a:pPr>
            <a:endParaRPr lang="en-US" dirty="0"/>
          </a:p>
        </p:txBody>
      </p:sp>
      <p:sp>
        <p:nvSpPr>
          <p:cNvPr id="10" name="Text 8"/>
          <p:cNvSpPr/>
          <p:nvPr/>
        </p:nvSpPr>
        <p:spPr>
          <a:xfrm>
            <a:off x="4759226" y="1929705"/>
            <a:ext cx="338737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C8F23D"/>
                </a:solidFill>
                <a:latin typeface="Arial" pitchFamily="34" charset="0"/>
                <a:ea typeface="Arial" pitchFamily="34" charset="-122"/>
                <a:cs typeface="Arial" pitchFamily="34" charset="-120"/>
              </a:rPr>
              <a:t>READY TO ACT</a:t>
            </a:r>
            <a:endParaRPr lang="en-US" sz="850" dirty="0"/>
          </a:p>
        </p:txBody>
      </p:sp>
      <p:sp>
        <p:nvSpPr>
          <p:cNvPr id="11" name="Text 9"/>
          <p:cNvSpPr/>
          <p:nvPr/>
        </p:nvSpPr>
        <p:spPr>
          <a:xfrm>
            <a:off x="4759226" y="2162770"/>
            <a:ext cx="3387370" cy="584150"/>
          </a:xfrm>
          <a:prstGeom prst="rect">
            <a:avLst/>
          </a:prstGeom>
          <a:noFill/>
          <a:ln/>
        </p:spPr>
        <p:txBody>
          <a:bodyPr wrap="square" lIns="0" tIns="0" rIns="0" bIns="0" rtlCol="0" anchor="t"/>
          <a:lstStyle/>
          <a:p>
            <a:pPr algn="l" indent="0" marL="0">
              <a:lnSpc>
                <a:spcPts val="4600"/>
              </a:lnSpc>
              <a:buNone/>
            </a:pPr>
            <a:r>
              <a:rPr lang="en-US" sz="4600" b="1" dirty="0">
                <a:solidFill>
                  <a:srgbClr val="C8F23D"/>
                </a:solidFill>
                <a:latin typeface="Georgia" pitchFamily="34" charset="0"/>
                <a:ea typeface="Georgia" pitchFamily="34" charset="-122"/>
                <a:cs typeface="Georgia" pitchFamily="34" charset="-120"/>
              </a:rPr>
              <a:t>?</a:t>
            </a:r>
            <a:endParaRPr lang="en-US" sz="4600" dirty="0"/>
          </a:p>
        </p:txBody>
      </p:sp>
      <p:sp>
        <p:nvSpPr>
          <p:cNvPr id="12" name="Text 10"/>
          <p:cNvSpPr/>
          <p:nvPr/>
        </p:nvSpPr>
        <p:spPr>
          <a:xfrm>
            <a:off x="4759226" y="3168104"/>
            <a:ext cx="3387370" cy="317302"/>
          </a:xfrm>
          <a:prstGeom prst="rect">
            <a:avLst/>
          </a:prstGeom>
          <a:noFill/>
          <a:ln/>
        </p:spPr>
        <p:txBody>
          <a:bodyPr wrap="square" lIns="0" tIns="0" rIns="0" bIns="0" rtlCol="0" anchor="t"/>
          <a:lstStyle/>
          <a:p>
            <a:pPr algn="l" indent="0" marL="0">
              <a:lnSpc>
                <a:spcPts val="1250"/>
              </a:lnSpc>
              <a:buNone/>
            </a:pPr>
            <a:r>
              <a:rPr lang="en-US" sz="1000" dirty="0">
                <a:solidFill>
                  <a:srgbClr val="DDE1D8"/>
                </a:solidFill>
                <a:latin typeface="Arial" pitchFamily="34" charset="0"/>
                <a:ea typeface="Arial" pitchFamily="34" charset="-122"/>
                <a:cs typeface="Arial" pitchFamily="34" charset="-120"/>
              </a:rPr>
              <a:t>Sleep + food + hydration + stress + mood shape what is usable.</a:t>
            </a:r>
            <a:endParaRPr lang="en-US" sz="1000" dirty="0"/>
          </a:p>
        </p:txBody>
      </p:sp>
      <p:sp>
        <p:nvSpPr>
          <p:cNvPr id="13" name="Text 11"/>
          <p:cNvSpPr/>
          <p:nvPr/>
        </p:nvSpPr>
        <p:spPr>
          <a:xfrm>
            <a:off x="381000" y="3875931"/>
            <a:ext cx="4635401" cy="347067"/>
          </a:xfrm>
          <a:prstGeom prst="roundRect">
            <a:avLst>
              <a:gd name="adj" fmla="val 3655577"/>
            </a:avLst>
          </a:prstGeom>
          <a:solidFill>
            <a:srgbClr val="72B56E"/>
          </a:solidFill>
          <a:ln w="9525">
            <a:solidFill>
              <a:srgbClr val="1B1D19"/>
            </a:solidFill>
          </a:ln>
        </p:spPr>
        <p:txBody>
          <a:bodyPr wrap="square" rtlCol="0" anchor="ctr"/>
          <a:lstStyle/>
          <a:p>
            <a:pPr indent="0" marL="0">
              <a:buNone/>
            </a:pPr>
            <a:endParaRPr lang="en-US" dirty="0"/>
          </a:p>
        </p:txBody>
      </p:sp>
      <p:sp>
        <p:nvSpPr>
          <p:cNvPr id="14" name="Text 12"/>
          <p:cNvSpPr/>
          <p:nvPr/>
        </p:nvSpPr>
        <p:spPr>
          <a:xfrm>
            <a:off x="1506438" y="3948857"/>
            <a:ext cx="2432215" cy="201216"/>
          </a:xfrm>
          <a:prstGeom prst="rect">
            <a:avLst/>
          </a:prstGeom>
          <a:noFill/>
          <a:ln/>
        </p:spPr>
        <p:txBody>
          <a:bodyPr wrap="square" lIns="0" tIns="0" rIns="0" bIns="0" rtlCol="0" anchor="t"/>
          <a:lstStyle/>
          <a:p>
            <a:pPr algn="l" indent="0" marL="0">
              <a:lnSpc>
                <a:spcPts val="1586"/>
              </a:lnSpc>
              <a:buNone/>
            </a:pPr>
            <a:r>
              <a:rPr lang="en-US" sz="1300" b="1" dirty="0">
                <a:solidFill>
                  <a:srgbClr val="1B1D19"/>
                </a:solidFill>
                <a:latin typeface="Arial" pitchFamily="34" charset="0"/>
                <a:ea typeface="Arial" pitchFamily="34" charset="-122"/>
                <a:cs typeface="Arial" pitchFamily="34" charset="-120"/>
              </a:rPr>
              <a:t>AKESO WORKS ON THIS GAP</a:t>
            </a:r>
            <a:endParaRPr lang="en-US" sz="1300" dirty="0"/>
          </a:p>
        </p:txBody>
      </p:sp>
      <p:sp>
        <p:nvSpPr>
          <p:cNvPr id="15" name="Text 13"/>
          <p:cNvSpPr/>
          <p:nvPr/>
        </p:nvSpPr>
        <p:spPr>
          <a:xfrm>
            <a:off x="381000" y="4286399"/>
            <a:ext cx="8549640" cy="114300"/>
          </a:xfrm>
          <a:prstGeom prst="rect">
            <a:avLst/>
          </a:prstGeom>
          <a:noFill/>
          <a:ln/>
        </p:spPr>
        <p:txBody>
          <a:bodyPr wrap="square" lIns="0" tIns="0" rIns="0" bIns="0" rtlCol="0" anchor="t"/>
          <a:lstStyle/>
          <a:p>
            <a:pPr algn="l" indent="0" marL="0">
              <a:lnSpc>
                <a:spcPts val="900"/>
              </a:lnSpc>
              <a:spcBef>
                <a:spcPts val="500"/>
              </a:spcBef>
              <a:buNone/>
            </a:pPr>
            <a:r>
              <a:rPr lang="en-US" sz="750" dirty="0">
                <a:solidFill>
                  <a:srgbClr val="667066"/>
                </a:solidFill>
                <a:latin typeface="Arial" pitchFamily="34" charset="0"/>
                <a:ea typeface="Arial" pitchFamily="34" charset="-122"/>
                <a:cs typeface="Arial" pitchFamily="34" charset="-120"/>
              </a:rPr>
              <a:t>Turn invisible blockers into one explainable next action.</a:t>
            </a:r>
            <a:endParaRPr lang="en-US" sz="750" dirty="0"/>
          </a:p>
        </p:txBody>
      </p:sp>
      <p:sp>
        <p:nvSpPr>
          <p:cNvPr id="16" name="Text 14"/>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17" name="Text 15"/>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02</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01 · THE REAL PROBLEM</a:t>
            </a:r>
            <a:endParaRPr lang="en-US" sz="850" dirty="0"/>
          </a:p>
        </p:txBody>
      </p:sp>
      <p:sp>
        <p:nvSpPr>
          <p:cNvPr id="3" name="Text 1"/>
          <p:cNvSpPr/>
          <p:nvPr/>
        </p:nvSpPr>
        <p:spPr>
          <a:xfrm>
            <a:off x="381000" y="563166"/>
            <a:ext cx="5570169" cy="1426071"/>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TIRED</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DOESN’T MEAN</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LAZY.</a:t>
            </a:r>
            <a:endParaRPr lang="en-US" sz="3600" dirty="0"/>
          </a:p>
        </p:txBody>
      </p:sp>
      <p:sp>
        <p:nvSpPr>
          <p:cNvPr id="4" name="Text 2"/>
          <p:cNvSpPr/>
          <p:nvPr/>
        </p:nvSpPr>
        <p:spPr>
          <a:xfrm>
            <a:off x="381000" y="2166938"/>
            <a:ext cx="5181549" cy="492026"/>
          </a:xfrm>
          <a:prstGeom prst="rect">
            <a:avLst/>
          </a:prstGeom>
          <a:noFill/>
          <a:ln/>
        </p:spPr>
        <p:txBody>
          <a:bodyPr wrap="square" lIns="0" tIns="0" rIns="0" bIns="0" rtlCol="0" anchor="t"/>
          <a:lstStyle/>
          <a:p>
            <a:pPr algn="l" indent="0" marL="0">
              <a:lnSpc>
                <a:spcPts val="1937"/>
              </a:lnSpc>
              <a:spcBef>
                <a:spcPts val="1400"/>
              </a:spcBef>
              <a:buNone/>
            </a:pPr>
            <a:r>
              <a:rPr lang="en-US" sz="1550" b="1" dirty="0">
                <a:solidFill>
                  <a:srgbClr val="1B1D19"/>
                </a:solidFill>
                <a:latin typeface="Arial" pitchFamily="34" charset="0"/>
                <a:ea typeface="Arial" pitchFamily="34" charset="-122"/>
                <a:cs typeface="Arial" pitchFamily="34" charset="-120"/>
              </a:rPr>
              <a:t>People feel the outcome — low energy — but the connected signals behind it stay scattered.</a:t>
            </a:r>
            <a:endParaRPr lang="en-US" sz="1550" dirty="0"/>
          </a:p>
        </p:txBody>
      </p:sp>
      <p:sp>
        <p:nvSpPr>
          <p:cNvPr id="5" name="Text 3"/>
          <p:cNvSpPr/>
          <p:nvPr/>
        </p:nvSpPr>
        <p:spPr>
          <a:xfrm>
            <a:off x="6451699" y="563166"/>
            <a:ext cx="2311301" cy="2311301"/>
          </a:xfrm>
          <a:prstGeom prst="roundRect">
            <a:avLst>
              <a:gd name="adj" fmla="val 39562"/>
            </a:avLst>
          </a:prstGeom>
          <a:solidFill>
            <a:srgbClr val="F6EA7B"/>
          </a:solidFill>
          <a:ln w="19050">
            <a:solidFill>
              <a:srgbClr val="1B1D19"/>
            </a:solidFill>
          </a:ln>
        </p:spPr>
        <p:txBody>
          <a:bodyPr wrap="square" rtlCol="0" anchor="ctr"/>
          <a:lstStyle/>
          <a:p>
            <a:pPr indent="0" marL="0">
              <a:buNone/>
            </a:pPr>
            <a:endParaRPr lang="en-US" dirty="0"/>
          </a:p>
        </p:txBody>
      </p:sp>
      <p:pic>
        <p:nvPicPr>
          <p:cNvPr id="6" name="Image 0" descr="/Users/edwinj/Edwin/second-brain/01-projects/UNSWHac/pitch/assets/mascot-steady.png">    </p:cNvPr>
          <p:cNvPicPr>
            <a:picLocks noChangeAspect="1"/>
          </p:cNvPicPr>
          <p:nvPr/>
        </p:nvPicPr>
        <p:blipFill>
          <a:blip r:embed="rId1"/>
          <a:stretch>
            <a:fillRect/>
          </a:stretch>
        </p:blipFill>
        <p:spPr>
          <a:xfrm>
            <a:off x="6616750" y="728216"/>
            <a:ext cx="1981200" cy="1981200"/>
          </a:xfrm>
          <a:prstGeom prst="rect">
            <a:avLst/>
          </a:prstGeom>
        </p:spPr>
      </p:pic>
      <p:sp>
        <p:nvSpPr>
          <p:cNvPr id="7" name="Text 4"/>
          <p:cNvSpPr/>
          <p:nvPr/>
        </p:nvSpPr>
        <p:spPr>
          <a:xfrm>
            <a:off x="381000" y="3077617"/>
            <a:ext cx="2616101" cy="994916"/>
          </a:xfrm>
          <a:prstGeom prst="roundRect">
            <a:avLst>
              <a:gd name="adj" fmla="val 17871"/>
            </a:avLst>
          </a:prstGeom>
          <a:solidFill>
            <a:srgbClr val="FFFFFF"/>
          </a:solidFill>
          <a:ln w="19050">
            <a:solidFill>
              <a:srgbClr val="30342E"/>
            </a:solidFill>
          </a:ln>
        </p:spPr>
        <p:txBody>
          <a:bodyPr wrap="square" rtlCol="0" anchor="ctr"/>
          <a:lstStyle/>
          <a:p>
            <a:pPr indent="0" marL="0">
              <a:buNone/>
            </a:pPr>
            <a:endParaRPr lang="en-US" dirty="0"/>
          </a:p>
        </p:txBody>
      </p:sp>
      <p:sp>
        <p:nvSpPr>
          <p:cNvPr id="8" name="Text 5"/>
          <p:cNvSpPr/>
          <p:nvPr/>
        </p:nvSpPr>
        <p:spPr>
          <a:xfrm>
            <a:off x="565100" y="3261717"/>
            <a:ext cx="2292858" cy="131564"/>
          </a:xfrm>
          <a:prstGeom prst="rect">
            <a:avLst/>
          </a:prstGeom>
          <a:noFill/>
          <a:ln/>
        </p:spPr>
        <p:txBody>
          <a:bodyPr wrap="square" lIns="0" tIns="0" rIns="0" bIns="0" rtlCol="0" anchor="t"/>
          <a:lstStyle/>
          <a:p>
            <a:pPr algn="l" indent="0" marL="0">
              <a:lnSpc>
                <a:spcPts val="1037"/>
              </a:lnSpc>
              <a:spcAft>
                <a:spcPts val="400"/>
              </a:spcAft>
              <a:buNone/>
            </a:pPr>
            <a:r>
              <a:rPr lang="en-US" sz="850" b="1" dirty="0">
                <a:solidFill>
                  <a:srgbClr val="667066"/>
                </a:solidFill>
                <a:latin typeface="Arial" pitchFamily="34" charset="0"/>
                <a:ea typeface="Arial" pitchFamily="34" charset="-122"/>
                <a:cs typeface="Arial" pitchFamily="34" charset="-120"/>
              </a:rPr>
              <a:t>ONE SYSTEM</a:t>
            </a:r>
            <a:endParaRPr lang="en-US" sz="850" dirty="0"/>
          </a:p>
        </p:txBody>
      </p:sp>
      <p:sp>
        <p:nvSpPr>
          <p:cNvPr id="9" name="Text 6"/>
          <p:cNvSpPr/>
          <p:nvPr/>
        </p:nvSpPr>
        <p:spPr>
          <a:xfrm>
            <a:off x="565100" y="3444032"/>
            <a:ext cx="2292858"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Food · Sleep · Water</a:t>
            </a:r>
            <a:endParaRPr lang="en-US" sz="1500" dirty="0"/>
          </a:p>
        </p:txBody>
      </p:sp>
      <p:sp>
        <p:nvSpPr>
          <p:cNvPr id="10" name="Text 7"/>
          <p:cNvSpPr/>
          <p:nvPr/>
        </p:nvSpPr>
        <p:spPr>
          <a:xfrm>
            <a:off x="565100" y="3729782"/>
            <a:ext cx="2292858"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667066"/>
                </a:solidFill>
                <a:latin typeface="Arial" pitchFamily="34" charset="0"/>
                <a:ea typeface="Arial" pitchFamily="34" charset="-122"/>
                <a:cs typeface="Arial" pitchFamily="34" charset="-120"/>
              </a:rPr>
              <a:t>Plus stress and mood context.</a:t>
            </a:r>
            <a:endParaRPr lang="en-US" sz="1000" dirty="0"/>
          </a:p>
        </p:txBody>
      </p:sp>
      <p:sp>
        <p:nvSpPr>
          <p:cNvPr id="11" name="Text 8"/>
          <p:cNvSpPr/>
          <p:nvPr/>
        </p:nvSpPr>
        <p:spPr>
          <a:xfrm>
            <a:off x="3149501" y="3077617"/>
            <a:ext cx="2616101" cy="994916"/>
          </a:xfrm>
          <a:prstGeom prst="roundRect">
            <a:avLst>
              <a:gd name="adj" fmla="val 17871"/>
            </a:avLst>
          </a:prstGeom>
          <a:solidFill>
            <a:srgbClr val="B9D7F2"/>
          </a:solidFill>
          <a:ln w="19050">
            <a:solidFill>
              <a:srgbClr val="30342E"/>
            </a:solidFill>
          </a:ln>
        </p:spPr>
        <p:txBody>
          <a:bodyPr wrap="square" rtlCol="0" anchor="ctr"/>
          <a:lstStyle/>
          <a:p>
            <a:pPr indent="0" marL="0">
              <a:buNone/>
            </a:pPr>
            <a:endParaRPr lang="en-US" dirty="0"/>
          </a:p>
        </p:txBody>
      </p:sp>
      <p:sp>
        <p:nvSpPr>
          <p:cNvPr id="12" name="Text 9"/>
          <p:cNvSpPr/>
          <p:nvPr/>
        </p:nvSpPr>
        <p:spPr>
          <a:xfrm>
            <a:off x="3333601" y="3261717"/>
            <a:ext cx="2292858" cy="131564"/>
          </a:xfrm>
          <a:prstGeom prst="rect">
            <a:avLst/>
          </a:prstGeom>
          <a:noFill/>
          <a:ln/>
        </p:spPr>
        <p:txBody>
          <a:bodyPr wrap="square" lIns="0" tIns="0" rIns="0" bIns="0" rtlCol="0" anchor="t"/>
          <a:lstStyle/>
          <a:p>
            <a:pPr algn="l" indent="0" marL="0">
              <a:lnSpc>
                <a:spcPts val="1037"/>
              </a:lnSpc>
              <a:spcAft>
                <a:spcPts val="400"/>
              </a:spcAft>
              <a:buNone/>
            </a:pPr>
            <a:r>
              <a:rPr lang="en-US" sz="850" b="1" dirty="0">
                <a:solidFill>
                  <a:srgbClr val="667066"/>
                </a:solidFill>
                <a:latin typeface="Arial" pitchFamily="34" charset="0"/>
                <a:ea typeface="Arial" pitchFamily="34" charset="-122"/>
                <a:cs typeface="Arial" pitchFamily="34" charset="-120"/>
              </a:rPr>
              <a:t>OUTCOME</a:t>
            </a:r>
            <a:endParaRPr lang="en-US" sz="850" dirty="0"/>
          </a:p>
        </p:txBody>
      </p:sp>
      <p:sp>
        <p:nvSpPr>
          <p:cNvPr id="13" name="Text 10"/>
          <p:cNvSpPr/>
          <p:nvPr/>
        </p:nvSpPr>
        <p:spPr>
          <a:xfrm>
            <a:off x="3333601" y="3444032"/>
            <a:ext cx="2292858"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“Why am I so low?”</a:t>
            </a:r>
            <a:endParaRPr lang="en-US" sz="1500" dirty="0"/>
          </a:p>
        </p:txBody>
      </p:sp>
      <p:sp>
        <p:nvSpPr>
          <p:cNvPr id="14" name="Text 11"/>
          <p:cNvSpPr/>
          <p:nvPr/>
        </p:nvSpPr>
        <p:spPr>
          <a:xfrm>
            <a:off x="3333601" y="3729782"/>
            <a:ext cx="2292858"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667066"/>
                </a:solidFill>
                <a:latin typeface="Arial" pitchFamily="34" charset="0"/>
                <a:ea typeface="Arial" pitchFamily="34" charset="-122"/>
                <a:cs typeface="Arial" pitchFamily="34" charset="-120"/>
              </a:rPr>
              <a:t>The pattern is hard to see.</a:t>
            </a:r>
            <a:endParaRPr lang="en-US" sz="1000" dirty="0"/>
          </a:p>
        </p:txBody>
      </p:sp>
      <p:sp>
        <p:nvSpPr>
          <p:cNvPr id="15" name="Text 12"/>
          <p:cNvSpPr/>
          <p:nvPr/>
        </p:nvSpPr>
        <p:spPr>
          <a:xfrm>
            <a:off x="5918002" y="3077617"/>
            <a:ext cx="2616101" cy="994916"/>
          </a:xfrm>
          <a:prstGeom prst="roundRect">
            <a:avLst>
              <a:gd name="adj" fmla="val 17871"/>
            </a:avLst>
          </a:prstGeom>
          <a:solidFill>
            <a:srgbClr val="F49C86"/>
          </a:solidFill>
          <a:ln w="19050">
            <a:solidFill>
              <a:srgbClr val="30342E"/>
            </a:solidFill>
          </a:ln>
        </p:spPr>
        <p:txBody>
          <a:bodyPr wrap="square" rtlCol="0" anchor="ctr"/>
          <a:lstStyle/>
          <a:p>
            <a:pPr indent="0" marL="0">
              <a:buNone/>
            </a:pPr>
            <a:endParaRPr lang="en-US" dirty="0"/>
          </a:p>
        </p:txBody>
      </p:sp>
      <p:sp>
        <p:nvSpPr>
          <p:cNvPr id="16" name="Text 13"/>
          <p:cNvSpPr/>
          <p:nvPr/>
        </p:nvSpPr>
        <p:spPr>
          <a:xfrm>
            <a:off x="6102102" y="3261717"/>
            <a:ext cx="2292858" cy="131564"/>
          </a:xfrm>
          <a:prstGeom prst="rect">
            <a:avLst/>
          </a:prstGeom>
          <a:noFill/>
          <a:ln/>
        </p:spPr>
        <p:txBody>
          <a:bodyPr wrap="square" lIns="0" tIns="0" rIns="0" bIns="0" rtlCol="0" anchor="t"/>
          <a:lstStyle/>
          <a:p>
            <a:pPr algn="l" indent="0" marL="0">
              <a:lnSpc>
                <a:spcPts val="1037"/>
              </a:lnSpc>
              <a:spcAft>
                <a:spcPts val="400"/>
              </a:spcAft>
              <a:buNone/>
            </a:pPr>
            <a:r>
              <a:rPr lang="en-US" sz="850" b="1" dirty="0">
                <a:solidFill>
                  <a:srgbClr val="667066"/>
                </a:solidFill>
                <a:latin typeface="Arial" pitchFamily="34" charset="0"/>
                <a:ea typeface="Arial" pitchFamily="34" charset="-122"/>
                <a:cs typeface="Arial" pitchFamily="34" charset="-120"/>
              </a:rPr>
              <a:t>CURRENT TOOLS</a:t>
            </a:r>
            <a:endParaRPr lang="en-US" sz="850" dirty="0"/>
          </a:p>
        </p:txBody>
      </p:sp>
      <p:sp>
        <p:nvSpPr>
          <p:cNvPr id="17" name="Text 14"/>
          <p:cNvSpPr/>
          <p:nvPr/>
        </p:nvSpPr>
        <p:spPr>
          <a:xfrm>
            <a:off x="6102102" y="3444032"/>
            <a:ext cx="2292858"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Tasks, not the person</a:t>
            </a:r>
            <a:endParaRPr lang="en-US" sz="1500" dirty="0"/>
          </a:p>
        </p:txBody>
      </p:sp>
      <p:sp>
        <p:nvSpPr>
          <p:cNvPr id="18" name="Text 15"/>
          <p:cNvSpPr/>
          <p:nvPr/>
        </p:nvSpPr>
        <p:spPr>
          <a:xfrm>
            <a:off x="6102102" y="3729782"/>
            <a:ext cx="2292858"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667066"/>
                </a:solidFill>
                <a:latin typeface="Arial" pitchFamily="34" charset="0"/>
                <a:ea typeface="Arial" pitchFamily="34" charset="-122"/>
                <a:cs typeface="Arial" pitchFamily="34" charset="-120"/>
              </a:rPr>
              <a:t>Every hour looks identical.</a:t>
            </a:r>
            <a:endParaRPr lang="en-US" sz="1000" dirty="0"/>
          </a:p>
        </p:txBody>
      </p:sp>
      <p:sp>
        <p:nvSpPr>
          <p:cNvPr id="19" name="Text 16"/>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20" name="Text 17"/>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03</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1B1D19"/>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C8F23D"/>
                </a:solidFill>
                <a:latin typeface="Arial" pitchFamily="34" charset="0"/>
                <a:ea typeface="Arial" pitchFamily="34" charset="-122"/>
                <a:cs typeface="Arial" pitchFamily="34" charset="-120"/>
              </a:rPr>
              <a:t>02 · OUR SOLUTION</a:t>
            </a:r>
            <a:endParaRPr lang="en-US" sz="850" dirty="0"/>
          </a:p>
        </p:txBody>
      </p:sp>
      <p:sp>
        <p:nvSpPr>
          <p:cNvPr id="4" name="Text 2"/>
          <p:cNvSpPr/>
          <p:nvPr/>
        </p:nvSpPr>
        <p:spPr>
          <a:xfrm>
            <a:off x="381000" y="850404"/>
            <a:ext cx="5246370" cy="1796058"/>
          </a:xfrm>
          <a:prstGeom prst="rect">
            <a:avLst/>
          </a:prstGeom>
          <a:noFill/>
          <a:ln/>
        </p:spPr>
        <p:txBody>
          <a:bodyPr wrap="square" lIns="0" tIns="0" rIns="0" bIns="0" rtlCol="0" anchor="t"/>
          <a:lstStyle/>
          <a:p>
            <a:pPr algn="l" indent="0" marL="0">
              <a:lnSpc>
                <a:spcPts val="3536"/>
              </a:lnSpc>
              <a:buNone/>
            </a:pPr>
            <a:r>
              <a:rPr lang="en-US" sz="3400" dirty="0">
                <a:solidFill>
                  <a:srgbClr val="F5F2E8"/>
                </a:solidFill>
                <a:latin typeface="Georgia" pitchFamily="34" charset="0"/>
                <a:ea typeface="Georgia" pitchFamily="34" charset="-122"/>
                <a:cs typeface="Georgia" pitchFamily="34" charset="-120"/>
              </a:rPr>
              <a:t>A PERSONAL</a:t>
            </a:r>
            <a:endParaRPr lang="en-US" sz="3400" dirty="0"/>
          </a:p>
          <a:p>
            <a:pPr algn="l" indent="0" marL="0">
              <a:lnSpc>
                <a:spcPts val="3536"/>
              </a:lnSpc>
              <a:buNone/>
            </a:pPr>
            <a:r>
              <a:rPr lang="en-US" sz="3400" dirty="0">
                <a:solidFill>
                  <a:srgbClr val="F5F2E8"/>
                </a:solidFill>
                <a:latin typeface="Georgia" pitchFamily="34" charset="0"/>
                <a:ea typeface="Georgia" pitchFamily="34" charset="-122"/>
                <a:cs typeface="Georgia" pitchFamily="34" charset="-120"/>
              </a:rPr>
              <a:t>ENERGY + NUTRITION</a:t>
            </a:r>
            <a:endParaRPr lang="en-US" sz="3400" dirty="0"/>
          </a:p>
          <a:p>
            <a:pPr algn="l" indent="0" marL="0">
              <a:lnSpc>
                <a:spcPts val="3536"/>
              </a:lnSpc>
              <a:buNone/>
            </a:pPr>
            <a:r>
              <a:rPr lang="en-US" sz="3400" dirty="0">
                <a:solidFill>
                  <a:srgbClr val="F5F2E8"/>
                </a:solidFill>
                <a:latin typeface="Georgia" pitchFamily="34" charset="0"/>
                <a:ea typeface="Georgia" pitchFamily="34" charset="-122"/>
                <a:cs typeface="Georgia" pitchFamily="34" charset="-120"/>
              </a:rPr>
              <a:t>COACH.</a:t>
            </a:r>
            <a:endParaRPr lang="en-US" sz="3400" dirty="0"/>
          </a:p>
        </p:txBody>
      </p:sp>
      <p:sp>
        <p:nvSpPr>
          <p:cNvPr id="5" name="Text 3"/>
          <p:cNvSpPr/>
          <p:nvPr/>
        </p:nvSpPr>
        <p:spPr>
          <a:xfrm>
            <a:off x="381000" y="2849612"/>
            <a:ext cx="5246370" cy="738039"/>
          </a:xfrm>
          <a:prstGeom prst="rect">
            <a:avLst/>
          </a:prstGeom>
          <a:noFill/>
          <a:ln/>
        </p:spPr>
        <p:txBody>
          <a:bodyPr wrap="square" lIns="0" tIns="0" rIns="0" bIns="0" rtlCol="0" anchor="t"/>
          <a:lstStyle/>
          <a:p>
            <a:pPr algn="l" indent="0" marL="0">
              <a:lnSpc>
                <a:spcPts val="1937"/>
              </a:lnSpc>
              <a:spcBef>
                <a:spcPts val="1600"/>
              </a:spcBef>
              <a:buNone/>
            </a:pPr>
            <a:r>
              <a:rPr lang="en-US" sz="1550" dirty="0">
                <a:solidFill>
                  <a:srgbClr val="DDE1D8"/>
                </a:solidFill>
                <a:latin typeface="Arial" pitchFamily="34" charset="0"/>
                <a:ea typeface="Arial" pitchFamily="34" charset="-122"/>
                <a:cs typeface="Arial" pitchFamily="34" charset="-120"/>
              </a:rPr>
              <a:t>Understand what may be shaping your energy — then turn that insight into food and routine choices you can actually follow.</a:t>
            </a:r>
            <a:endParaRPr lang="en-US" sz="1550" dirty="0"/>
          </a:p>
        </p:txBody>
      </p:sp>
      <p:sp>
        <p:nvSpPr>
          <p:cNvPr id="6" name="Text 4"/>
          <p:cNvSpPr/>
          <p:nvPr/>
        </p:nvSpPr>
        <p:spPr>
          <a:xfrm>
            <a:off x="381000" y="3816251"/>
            <a:ext cx="1917650" cy="285155"/>
          </a:xfrm>
          <a:prstGeom prst="roundRect">
            <a:avLst>
              <a:gd name="adj" fmla="val 4449264"/>
            </a:avLst>
          </a:prstGeom>
          <a:solidFill>
            <a:srgbClr val="C8F23D"/>
          </a:solidFill>
          <a:ln w="9525">
            <a:solidFill>
              <a:srgbClr val="1B1D19"/>
            </a:solidFill>
          </a:ln>
        </p:spPr>
        <p:txBody>
          <a:bodyPr wrap="square" rtlCol="0" anchor="ctr"/>
          <a:lstStyle/>
          <a:p>
            <a:pPr indent="0" marL="0">
              <a:buNone/>
            </a:pPr>
            <a:endParaRPr lang="en-US" dirty="0"/>
          </a:p>
        </p:txBody>
      </p:sp>
      <p:sp>
        <p:nvSpPr>
          <p:cNvPr id="7" name="Text 5"/>
          <p:cNvSpPr/>
          <p:nvPr/>
        </p:nvSpPr>
        <p:spPr>
          <a:xfrm>
            <a:off x="517475" y="3889177"/>
            <a:ext cx="1677594"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NOW · CONNECTED SIGNALS</a:t>
            </a:r>
            <a:endParaRPr lang="en-US" sz="900" dirty="0"/>
          </a:p>
        </p:txBody>
      </p:sp>
      <p:sp>
        <p:nvSpPr>
          <p:cNvPr id="8" name="Text 6"/>
          <p:cNvSpPr/>
          <p:nvPr/>
        </p:nvSpPr>
        <p:spPr>
          <a:xfrm>
            <a:off x="2400151" y="3816251"/>
            <a:ext cx="1917502" cy="285155"/>
          </a:xfrm>
          <a:prstGeom prst="roundRect">
            <a:avLst>
              <a:gd name="adj" fmla="val 4449264"/>
            </a:avLst>
          </a:prstGeom>
          <a:solidFill>
            <a:srgbClr val="F6EA7B"/>
          </a:solidFill>
          <a:ln w="9525">
            <a:solidFill>
              <a:srgbClr val="1B1D19"/>
            </a:solidFill>
          </a:ln>
        </p:spPr>
        <p:txBody>
          <a:bodyPr wrap="square" rtlCol="0" anchor="ctr"/>
          <a:lstStyle/>
          <a:p>
            <a:pPr indent="0" marL="0">
              <a:buNone/>
            </a:pPr>
            <a:endParaRPr lang="en-US" dirty="0"/>
          </a:p>
        </p:txBody>
      </p:sp>
      <p:sp>
        <p:nvSpPr>
          <p:cNvPr id="9" name="Text 7"/>
          <p:cNvSpPr/>
          <p:nvPr/>
        </p:nvSpPr>
        <p:spPr>
          <a:xfrm>
            <a:off x="2536627" y="3889177"/>
            <a:ext cx="1677442"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NOW · NUTRITION GUIDANCE</a:t>
            </a:r>
            <a:endParaRPr lang="en-US" sz="900" dirty="0"/>
          </a:p>
        </p:txBody>
      </p:sp>
      <p:sp>
        <p:nvSpPr>
          <p:cNvPr id="10" name="Text 8"/>
          <p:cNvSpPr/>
          <p:nvPr/>
        </p:nvSpPr>
        <p:spPr>
          <a:xfrm>
            <a:off x="381000" y="4291757"/>
            <a:ext cx="1663601" cy="285155"/>
          </a:xfrm>
          <a:prstGeom prst="roundRect">
            <a:avLst>
              <a:gd name="adj" fmla="val 4449264"/>
            </a:avLst>
          </a:prstGeom>
          <a:solidFill>
            <a:srgbClr val="B9D7F2"/>
          </a:solidFill>
          <a:ln w="9525">
            <a:solidFill>
              <a:srgbClr val="1B1D19"/>
            </a:solidFill>
          </a:ln>
        </p:spPr>
        <p:txBody>
          <a:bodyPr wrap="square" rtlCol="0" anchor="ctr"/>
          <a:lstStyle/>
          <a:p>
            <a:pPr indent="0" marL="0">
              <a:buNone/>
            </a:pPr>
            <a:endParaRPr lang="en-US" dirty="0"/>
          </a:p>
        </p:txBody>
      </p:sp>
      <p:sp>
        <p:nvSpPr>
          <p:cNvPr id="11" name="Text 9"/>
          <p:cNvSpPr/>
          <p:nvPr/>
        </p:nvSpPr>
        <p:spPr>
          <a:xfrm>
            <a:off x="517475" y="4364682"/>
            <a:ext cx="1418463"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NEXT · EMOTION COACH</a:t>
            </a:r>
            <a:endParaRPr lang="en-US" sz="900" dirty="0"/>
          </a:p>
        </p:txBody>
      </p:sp>
      <p:sp>
        <p:nvSpPr>
          <p:cNvPr id="12" name="Text 10"/>
          <p:cNvSpPr/>
          <p:nvPr/>
        </p:nvSpPr>
        <p:spPr>
          <a:xfrm>
            <a:off x="5880050" y="808583"/>
            <a:ext cx="2514600" cy="3810000"/>
          </a:xfrm>
          <a:prstGeom prst="roundRect">
            <a:avLst>
              <a:gd name="adj" fmla="val 7071"/>
            </a:avLst>
          </a:prstGeom>
          <a:solidFill>
            <a:srgbClr val="72B56E"/>
          </a:solidFill>
          <a:ln w="47625">
            <a:solidFill>
              <a:srgbClr val="C8F23D"/>
            </a:solidFill>
          </a:ln>
        </p:spPr>
        <p:txBody>
          <a:bodyPr wrap="square" rtlCol="0" anchor="ctr"/>
          <a:lstStyle/>
          <a:p>
            <a:pPr indent="0" marL="0">
              <a:buNone/>
            </a:pPr>
            <a:endParaRPr lang="en-US" dirty="0"/>
          </a:p>
        </p:txBody>
      </p:sp>
      <p:pic>
        <p:nvPicPr>
          <p:cNvPr id="13" name="Image 0" descr="/Users/edwinj/Edwin/second-brain/01-projects/UNSWHac/pitch/assets/akeso-today.jpg">    </p:cNvPr>
          <p:cNvPicPr>
            <a:picLocks noChangeAspect="1"/>
          </p:cNvPicPr>
          <p:nvPr/>
        </p:nvPicPr>
        <p:blipFill>
          <a:blip r:embed="rId1"/>
          <a:stretch>
            <a:fillRect/>
          </a:stretch>
        </p:blipFill>
        <p:spPr>
          <a:xfrm>
            <a:off x="6029176" y="957709"/>
            <a:ext cx="2286000" cy="3581400"/>
          </a:xfrm>
          <a:prstGeom prst="rect">
            <a:avLst/>
          </a:prstGeom>
        </p:spPr>
      </p:pic>
      <p:sp>
        <p:nvSpPr>
          <p:cNvPr id="14" name="Text 11"/>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AEB5AA"/>
                </a:solidFill>
                <a:latin typeface="Arial" pitchFamily="34" charset="0"/>
                <a:ea typeface="Arial" pitchFamily="34" charset="-122"/>
                <a:cs typeface="Arial" pitchFamily="34" charset="-120"/>
              </a:rPr>
              <a:t>AKESO · ICON × LYRA HACKATHON 2026</a:t>
            </a:r>
            <a:endParaRPr lang="en-US" sz="750" dirty="0"/>
          </a:p>
        </p:txBody>
      </p:sp>
      <p:sp>
        <p:nvSpPr>
          <p:cNvPr id="15" name="Text 12"/>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AEB5AA"/>
                </a:solidFill>
                <a:latin typeface="Arial" pitchFamily="34" charset="0"/>
                <a:ea typeface="Arial" pitchFamily="34" charset="-122"/>
                <a:cs typeface="Arial" pitchFamily="34" charset="-120"/>
              </a:rPr>
              <a:t>04</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03 · HOW IT WORKS</a:t>
            </a:r>
            <a:endParaRPr lang="en-US" sz="850" dirty="0"/>
          </a:p>
        </p:txBody>
      </p:sp>
      <p:sp>
        <p:nvSpPr>
          <p:cNvPr id="3" name="Text 1"/>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20 SECONDS IN.</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A CLEARER DAY OUT.</a:t>
            </a:r>
            <a:endParaRPr lang="en-US" sz="3600" dirty="0"/>
          </a:p>
        </p:txBody>
      </p:sp>
      <p:sp>
        <p:nvSpPr>
          <p:cNvPr id="4" name="Text 2"/>
          <p:cNvSpPr/>
          <p:nvPr/>
        </p:nvSpPr>
        <p:spPr>
          <a:xfrm>
            <a:off x="844451" y="1640830"/>
            <a:ext cx="1676400" cy="2412950"/>
          </a:xfrm>
          <a:prstGeom prst="roundRect">
            <a:avLst>
              <a:gd name="adj" fmla="val 10606"/>
            </a:avLst>
          </a:prstGeom>
          <a:solidFill>
            <a:srgbClr val="F6EA7B"/>
          </a:solidFill>
          <a:ln w="19050">
            <a:solidFill>
              <a:srgbClr val="30342E"/>
            </a:solidFill>
          </a:ln>
        </p:spPr>
        <p:txBody>
          <a:bodyPr wrap="square" rtlCol="0" anchor="ctr"/>
          <a:lstStyle/>
          <a:p>
            <a:pPr indent="0" marL="0">
              <a:buNone/>
            </a:pPr>
            <a:endParaRPr lang="en-US" dirty="0"/>
          </a:p>
        </p:txBody>
      </p:sp>
      <p:pic>
        <p:nvPicPr>
          <p:cNvPr id="5" name="Image 0" descr="/Users/edwinj/Edwin/second-brain/01-projects/UNSWHac/pitch/assets/akeso-checkin.jpg">    </p:cNvPr>
          <p:cNvPicPr>
            <a:picLocks noChangeAspect="1"/>
          </p:cNvPicPr>
          <p:nvPr/>
        </p:nvPicPr>
        <p:blipFill>
          <a:blip r:embed="rId1"/>
          <a:stretch>
            <a:fillRect/>
          </a:stretch>
        </p:blipFill>
        <p:spPr>
          <a:xfrm>
            <a:off x="926902" y="1723281"/>
            <a:ext cx="1524000" cy="2260550"/>
          </a:xfrm>
          <a:prstGeom prst="rect">
            <a:avLst/>
          </a:prstGeom>
        </p:spPr>
      </p:pic>
      <p:sp>
        <p:nvSpPr>
          <p:cNvPr id="6" name="Text 3"/>
          <p:cNvSpPr/>
          <p:nvPr/>
        </p:nvSpPr>
        <p:spPr>
          <a:xfrm>
            <a:off x="1187351" y="4142631"/>
            <a:ext cx="990600" cy="285155"/>
          </a:xfrm>
          <a:prstGeom prst="roundRect">
            <a:avLst>
              <a:gd name="adj" fmla="val 4449264"/>
            </a:avLst>
          </a:prstGeom>
          <a:solidFill>
            <a:srgbClr val="F6EA7B"/>
          </a:solidFill>
          <a:ln w="9525">
            <a:solidFill>
              <a:srgbClr val="1B1D19"/>
            </a:solidFill>
          </a:ln>
        </p:spPr>
        <p:txBody>
          <a:bodyPr wrap="square" rtlCol="0" anchor="ctr"/>
          <a:lstStyle/>
          <a:p>
            <a:pPr indent="0" marL="0">
              <a:buNone/>
            </a:pPr>
            <a:endParaRPr lang="en-US" dirty="0"/>
          </a:p>
        </p:txBody>
      </p:sp>
      <p:sp>
        <p:nvSpPr>
          <p:cNvPr id="7" name="Text 4"/>
          <p:cNvSpPr/>
          <p:nvPr/>
        </p:nvSpPr>
        <p:spPr>
          <a:xfrm>
            <a:off x="1323826" y="4215557"/>
            <a:ext cx="732002"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1 · CHECK IN</a:t>
            </a:r>
            <a:endParaRPr lang="en-US" sz="900" dirty="0"/>
          </a:p>
        </p:txBody>
      </p:sp>
      <p:sp>
        <p:nvSpPr>
          <p:cNvPr id="8" name="Text 5"/>
          <p:cNvSpPr/>
          <p:nvPr/>
        </p:nvSpPr>
        <p:spPr>
          <a:xfrm>
            <a:off x="1002412" y="4491186"/>
            <a:ext cx="1360625" cy="158651"/>
          </a:xfrm>
          <a:prstGeom prst="rect">
            <a:avLst/>
          </a:prstGeom>
          <a:noFill/>
          <a:ln/>
        </p:spPr>
        <p:txBody>
          <a:bodyPr wrap="square" lIns="0" tIns="0" rIns="0" bIns="0" rtlCol="0" anchor="t"/>
          <a:lstStyle/>
          <a:p>
            <a:pPr algn="ctr" indent="0" marL="0">
              <a:lnSpc>
                <a:spcPts val="1250"/>
              </a:lnSpc>
              <a:spcBef>
                <a:spcPts val="500"/>
              </a:spcBef>
              <a:buNone/>
            </a:pPr>
            <a:r>
              <a:rPr lang="en-US" sz="1000" dirty="0">
                <a:solidFill>
                  <a:srgbClr val="667066"/>
                </a:solidFill>
                <a:latin typeface="Arial" pitchFamily="34" charset="0"/>
                <a:ea typeface="Arial" pitchFamily="34" charset="-122"/>
                <a:cs typeface="Arial" pitchFamily="34" charset="-120"/>
              </a:rPr>
              <a:t>Daily signals, one place</a:t>
            </a:r>
            <a:endParaRPr lang="en-US" sz="1000" dirty="0"/>
          </a:p>
        </p:txBody>
      </p:sp>
      <p:sp>
        <p:nvSpPr>
          <p:cNvPr id="9" name="Text 6"/>
          <p:cNvSpPr/>
          <p:nvPr/>
        </p:nvSpPr>
        <p:spPr>
          <a:xfrm>
            <a:off x="3651052" y="1640830"/>
            <a:ext cx="1676400" cy="2412950"/>
          </a:xfrm>
          <a:prstGeom prst="roundRect">
            <a:avLst>
              <a:gd name="adj" fmla="val 10606"/>
            </a:avLst>
          </a:prstGeom>
          <a:solidFill>
            <a:srgbClr val="72B56E"/>
          </a:solidFill>
          <a:ln w="19050">
            <a:solidFill>
              <a:srgbClr val="30342E"/>
            </a:solidFill>
          </a:ln>
        </p:spPr>
        <p:txBody>
          <a:bodyPr wrap="square" rtlCol="0" anchor="ctr"/>
          <a:lstStyle/>
          <a:p>
            <a:pPr indent="0" marL="0">
              <a:buNone/>
            </a:pPr>
            <a:endParaRPr lang="en-US" dirty="0"/>
          </a:p>
        </p:txBody>
      </p:sp>
      <p:pic>
        <p:nvPicPr>
          <p:cNvPr id="10" name="Image 1" descr="/Users/edwinj/Edwin/second-brain/01-projects/UNSWHac/pitch/assets/akeso-today.jpg">    </p:cNvPr>
          <p:cNvPicPr>
            <a:picLocks noChangeAspect="1"/>
          </p:cNvPicPr>
          <p:nvPr/>
        </p:nvPicPr>
        <p:blipFill>
          <a:blip r:embed="rId2"/>
          <a:stretch>
            <a:fillRect/>
          </a:stretch>
        </p:blipFill>
        <p:spPr>
          <a:xfrm>
            <a:off x="3733502" y="1723281"/>
            <a:ext cx="1524000" cy="2260550"/>
          </a:xfrm>
          <a:prstGeom prst="rect">
            <a:avLst/>
          </a:prstGeom>
        </p:spPr>
      </p:pic>
      <p:sp>
        <p:nvSpPr>
          <p:cNvPr id="11" name="Text 7"/>
          <p:cNvSpPr/>
          <p:nvPr/>
        </p:nvSpPr>
        <p:spPr>
          <a:xfrm>
            <a:off x="4043660" y="4142631"/>
            <a:ext cx="891183" cy="285155"/>
          </a:xfrm>
          <a:prstGeom prst="roundRect">
            <a:avLst>
              <a:gd name="adj" fmla="val 4449264"/>
            </a:avLst>
          </a:prstGeom>
          <a:solidFill>
            <a:srgbClr val="72B56E"/>
          </a:solidFill>
          <a:ln w="9525">
            <a:solidFill>
              <a:srgbClr val="1B1D19"/>
            </a:solidFill>
          </a:ln>
        </p:spPr>
        <p:txBody>
          <a:bodyPr wrap="square" rtlCol="0" anchor="ctr"/>
          <a:lstStyle/>
          <a:p>
            <a:pPr indent="0" marL="0">
              <a:buNone/>
            </a:pPr>
            <a:endParaRPr lang="en-US" dirty="0"/>
          </a:p>
        </p:txBody>
      </p:sp>
      <p:sp>
        <p:nvSpPr>
          <p:cNvPr id="12" name="Text 8"/>
          <p:cNvSpPr/>
          <p:nvPr/>
        </p:nvSpPr>
        <p:spPr>
          <a:xfrm>
            <a:off x="4180136" y="4215557"/>
            <a:ext cx="630597"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2 · ADJUST</a:t>
            </a:r>
            <a:endParaRPr lang="en-US" sz="900" dirty="0"/>
          </a:p>
        </p:txBody>
      </p:sp>
      <p:sp>
        <p:nvSpPr>
          <p:cNvPr id="13" name="Text 9"/>
          <p:cNvSpPr/>
          <p:nvPr/>
        </p:nvSpPr>
        <p:spPr>
          <a:xfrm>
            <a:off x="3638538" y="4491186"/>
            <a:ext cx="1701427" cy="158651"/>
          </a:xfrm>
          <a:prstGeom prst="rect">
            <a:avLst/>
          </a:prstGeom>
          <a:noFill/>
          <a:ln/>
        </p:spPr>
        <p:txBody>
          <a:bodyPr wrap="square" lIns="0" tIns="0" rIns="0" bIns="0" rtlCol="0" anchor="t"/>
          <a:lstStyle/>
          <a:p>
            <a:pPr algn="ctr" indent="0" marL="0">
              <a:lnSpc>
                <a:spcPts val="1250"/>
              </a:lnSpc>
              <a:spcBef>
                <a:spcPts val="500"/>
              </a:spcBef>
              <a:buNone/>
            </a:pPr>
            <a:r>
              <a:rPr lang="en-US" sz="1000" dirty="0">
                <a:solidFill>
                  <a:srgbClr val="667066"/>
                </a:solidFill>
                <a:latin typeface="Arial" pitchFamily="34" charset="0"/>
                <a:ea typeface="Arial" pitchFamily="34" charset="-122"/>
                <a:cs typeface="Arial" pitchFamily="34" charset="-120"/>
              </a:rPr>
              <a:t>Your report anchors the score</a:t>
            </a:r>
            <a:endParaRPr lang="en-US" sz="1000" dirty="0"/>
          </a:p>
        </p:txBody>
      </p:sp>
      <p:sp>
        <p:nvSpPr>
          <p:cNvPr id="14" name="Text 10"/>
          <p:cNvSpPr/>
          <p:nvPr/>
        </p:nvSpPr>
        <p:spPr>
          <a:xfrm>
            <a:off x="6457652" y="1640830"/>
            <a:ext cx="1676400" cy="2412950"/>
          </a:xfrm>
          <a:prstGeom prst="roundRect">
            <a:avLst>
              <a:gd name="adj" fmla="val 10606"/>
            </a:avLst>
          </a:prstGeom>
          <a:solidFill>
            <a:srgbClr val="B9D7F2"/>
          </a:solidFill>
          <a:ln w="19050">
            <a:solidFill>
              <a:srgbClr val="30342E"/>
            </a:solidFill>
          </a:ln>
        </p:spPr>
        <p:txBody>
          <a:bodyPr wrap="square" rtlCol="0" anchor="ctr"/>
          <a:lstStyle/>
          <a:p>
            <a:pPr indent="0" marL="0">
              <a:buNone/>
            </a:pPr>
            <a:endParaRPr lang="en-US" dirty="0"/>
          </a:p>
        </p:txBody>
      </p:sp>
      <p:pic>
        <p:nvPicPr>
          <p:cNvPr id="15" name="Image 2" descr="/Users/edwinj/Edwin/second-brain/01-projects/UNSWHac/pitch/assets/akeso-nutrition.jpg">    </p:cNvPr>
          <p:cNvPicPr>
            <a:picLocks noChangeAspect="1"/>
          </p:cNvPicPr>
          <p:nvPr/>
        </p:nvPicPr>
        <p:blipFill>
          <a:blip r:embed="rId3"/>
          <a:stretch>
            <a:fillRect/>
          </a:stretch>
        </p:blipFill>
        <p:spPr>
          <a:xfrm>
            <a:off x="6540103" y="1723281"/>
            <a:ext cx="1524000" cy="2260550"/>
          </a:xfrm>
          <a:prstGeom prst="rect">
            <a:avLst/>
          </a:prstGeom>
        </p:spPr>
      </p:pic>
      <p:sp>
        <p:nvSpPr>
          <p:cNvPr id="16" name="Text 11"/>
          <p:cNvSpPr/>
          <p:nvPr/>
        </p:nvSpPr>
        <p:spPr>
          <a:xfrm>
            <a:off x="6692652" y="4142631"/>
            <a:ext cx="1206401" cy="285155"/>
          </a:xfrm>
          <a:prstGeom prst="roundRect">
            <a:avLst>
              <a:gd name="adj" fmla="val 4449264"/>
            </a:avLst>
          </a:prstGeom>
          <a:solidFill>
            <a:srgbClr val="B9D7F2"/>
          </a:solidFill>
          <a:ln w="9525">
            <a:solidFill>
              <a:srgbClr val="1B1D19"/>
            </a:solidFill>
          </a:ln>
        </p:spPr>
        <p:txBody>
          <a:bodyPr wrap="square" rtlCol="0" anchor="ctr"/>
          <a:lstStyle/>
          <a:p>
            <a:pPr indent="0" marL="0">
              <a:buNone/>
            </a:pPr>
            <a:endParaRPr lang="en-US" dirty="0"/>
          </a:p>
        </p:txBody>
      </p:sp>
      <p:sp>
        <p:nvSpPr>
          <p:cNvPr id="17" name="Text 12"/>
          <p:cNvSpPr/>
          <p:nvPr/>
        </p:nvSpPr>
        <p:spPr>
          <a:xfrm>
            <a:off x="6829127" y="4215557"/>
            <a:ext cx="952119"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3 · TAKE ACTION</a:t>
            </a:r>
            <a:endParaRPr lang="en-US" sz="900" dirty="0"/>
          </a:p>
        </p:txBody>
      </p:sp>
      <p:sp>
        <p:nvSpPr>
          <p:cNvPr id="18" name="Text 13"/>
          <p:cNvSpPr/>
          <p:nvPr/>
        </p:nvSpPr>
        <p:spPr>
          <a:xfrm>
            <a:off x="6548973" y="4491186"/>
            <a:ext cx="1493758" cy="158651"/>
          </a:xfrm>
          <a:prstGeom prst="rect">
            <a:avLst/>
          </a:prstGeom>
          <a:noFill/>
          <a:ln/>
        </p:spPr>
        <p:txBody>
          <a:bodyPr wrap="square" lIns="0" tIns="0" rIns="0" bIns="0" rtlCol="0" anchor="t"/>
          <a:lstStyle/>
          <a:p>
            <a:pPr algn="ctr" indent="0" marL="0">
              <a:lnSpc>
                <a:spcPts val="1250"/>
              </a:lnSpc>
              <a:spcBef>
                <a:spcPts val="500"/>
              </a:spcBef>
              <a:buNone/>
            </a:pPr>
            <a:r>
              <a:rPr lang="en-US" sz="1000" dirty="0">
                <a:solidFill>
                  <a:srgbClr val="667066"/>
                </a:solidFill>
                <a:latin typeface="Arial" pitchFamily="34" charset="0"/>
                <a:ea typeface="Arial" pitchFamily="34" charset="-122"/>
                <a:cs typeface="Arial" pitchFamily="34" charset="-120"/>
              </a:rPr>
              <a:t>Meals + routines for today</a:t>
            </a:r>
            <a:endParaRPr lang="en-US" sz="1000" dirty="0"/>
          </a:p>
        </p:txBody>
      </p:sp>
      <p:sp>
        <p:nvSpPr>
          <p:cNvPr id="19" name="Text 14"/>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20" name="Text 15"/>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05</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04 · PERSONALISED, NOT MEDICALISED</a:t>
            </a:r>
            <a:endParaRPr lang="en-US" sz="850" dirty="0"/>
          </a:p>
        </p:txBody>
      </p:sp>
      <p:sp>
        <p:nvSpPr>
          <p:cNvPr id="3" name="Text 1"/>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NOT A DIAGNOSIS.</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USEFUL SIGNAL.</a:t>
            </a:r>
            <a:endParaRPr lang="en-US" sz="3600" dirty="0"/>
          </a:p>
        </p:txBody>
      </p:sp>
      <p:sp>
        <p:nvSpPr>
          <p:cNvPr id="4" name="Text 2"/>
          <p:cNvSpPr/>
          <p:nvPr/>
        </p:nvSpPr>
        <p:spPr>
          <a:xfrm>
            <a:off x="381000" y="1691580"/>
            <a:ext cx="2844701" cy="3124200"/>
          </a:xfrm>
          <a:prstGeom prst="roundRect">
            <a:avLst>
              <a:gd name="adj" fmla="val 6250"/>
            </a:avLst>
          </a:prstGeom>
          <a:solidFill>
            <a:srgbClr val="72B56E"/>
          </a:solidFill>
          <a:ln w="19050">
            <a:solidFill>
              <a:srgbClr val="30342E"/>
            </a:solidFill>
          </a:ln>
        </p:spPr>
        <p:txBody>
          <a:bodyPr wrap="square" rtlCol="0" anchor="ctr"/>
          <a:lstStyle/>
          <a:p>
            <a:pPr indent="0" marL="0">
              <a:buNone/>
            </a:pPr>
            <a:endParaRPr lang="en-US" dirty="0"/>
          </a:p>
        </p:txBody>
      </p:sp>
      <p:pic>
        <p:nvPicPr>
          <p:cNvPr id="5" name="Image 0" descr="/Users/edwinj/Edwin/second-brain/01-projects/UNSWHac/pitch/assets/akeso-nutrition.jpg">    </p:cNvPr>
          <p:cNvPicPr>
            <a:picLocks noChangeAspect="1"/>
          </p:cNvPicPr>
          <p:nvPr/>
        </p:nvPicPr>
        <p:blipFill>
          <a:blip r:embed="rId1"/>
          <a:stretch>
            <a:fillRect/>
          </a:stretch>
        </p:blipFill>
        <p:spPr>
          <a:xfrm>
            <a:off x="488900" y="1799481"/>
            <a:ext cx="2641550" cy="2920901"/>
          </a:xfrm>
          <a:prstGeom prst="rect">
            <a:avLst/>
          </a:prstGeom>
        </p:spPr>
      </p:pic>
      <p:sp>
        <p:nvSpPr>
          <p:cNvPr id="6" name="Text 3"/>
          <p:cNvSpPr/>
          <p:nvPr/>
        </p:nvSpPr>
        <p:spPr>
          <a:xfrm>
            <a:off x="3454301" y="1691580"/>
            <a:ext cx="5079950" cy="736550"/>
          </a:xfrm>
          <a:prstGeom prst="roundRect">
            <a:avLst>
              <a:gd name="adj" fmla="val 24140"/>
            </a:avLst>
          </a:prstGeom>
          <a:solidFill>
            <a:srgbClr val="FFFFFF"/>
          </a:solidFill>
          <a:ln w="19050">
            <a:solidFill>
              <a:srgbClr val="30342E"/>
            </a:solidFill>
          </a:ln>
        </p:spPr>
        <p:txBody>
          <a:bodyPr wrap="square" rtlCol="0" anchor="ctr"/>
          <a:lstStyle/>
          <a:p>
            <a:pPr indent="0" marL="0">
              <a:buNone/>
            </a:pPr>
            <a:endParaRPr lang="en-US" dirty="0"/>
          </a:p>
        </p:txBody>
      </p:sp>
      <p:sp>
        <p:nvSpPr>
          <p:cNvPr id="7" name="Text 4"/>
          <p:cNvSpPr/>
          <p:nvPr/>
        </p:nvSpPr>
        <p:spPr>
          <a:xfrm>
            <a:off x="3625751" y="1863030"/>
            <a:ext cx="393650" cy="393650"/>
          </a:xfrm>
          <a:prstGeom prst="roundRect">
            <a:avLst>
              <a:gd name="adj" fmla="val 232288"/>
            </a:avLst>
          </a:prstGeom>
          <a:solidFill>
            <a:srgbClr val="F49C86"/>
          </a:solidFill>
          <a:ln/>
        </p:spPr>
        <p:txBody>
          <a:bodyPr wrap="square" rtlCol="0" anchor="ctr"/>
          <a:lstStyle/>
          <a:p>
            <a:pPr indent="0" marL="0">
              <a:buNone/>
            </a:pPr>
            <a:endParaRPr lang="en-US" dirty="0"/>
          </a:p>
        </p:txBody>
      </p:sp>
      <p:sp>
        <p:nvSpPr>
          <p:cNvPr id="8" name="Text 5"/>
          <p:cNvSpPr/>
          <p:nvPr/>
        </p:nvSpPr>
        <p:spPr>
          <a:xfrm>
            <a:off x="3776662" y="1959173"/>
            <a:ext cx="93663" cy="201216"/>
          </a:xfrm>
          <a:prstGeom prst="rect">
            <a:avLst/>
          </a:prstGeom>
          <a:noFill/>
          <a:ln/>
        </p:spPr>
        <p:txBody>
          <a:bodyPr wrap="square" lIns="0" tIns="0" rIns="0" bIns="0" rtlCol="0" anchor="t"/>
          <a:lstStyle/>
          <a:p>
            <a:pPr algn="l" indent="0" marL="0">
              <a:lnSpc>
                <a:spcPts val="1586"/>
              </a:lnSpc>
              <a:buNone/>
            </a:pPr>
            <a:r>
              <a:rPr lang="en-US" sz="1300" b="1" dirty="0">
                <a:solidFill>
                  <a:srgbClr val="1B1D19"/>
                </a:solidFill>
                <a:latin typeface="Arial" pitchFamily="34" charset="0"/>
                <a:ea typeface="Arial" pitchFamily="34" charset="-122"/>
                <a:cs typeface="Arial" pitchFamily="34" charset="-120"/>
              </a:rPr>
              <a:t>1</a:t>
            </a:r>
            <a:endParaRPr lang="en-US" sz="1300" dirty="0"/>
          </a:p>
        </p:txBody>
      </p:sp>
      <p:sp>
        <p:nvSpPr>
          <p:cNvPr id="9" name="Text 6"/>
          <p:cNvSpPr/>
          <p:nvPr/>
        </p:nvSpPr>
        <p:spPr>
          <a:xfrm>
            <a:off x="4171801" y="1875681"/>
            <a:ext cx="2994499"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Repeated food pattern</a:t>
            </a:r>
            <a:endParaRPr lang="en-US" sz="1500" dirty="0"/>
          </a:p>
        </p:txBody>
      </p:sp>
      <p:sp>
        <p:nvSpPr>
          <p:cNvPr id="10" name="Text 7"/>
          <p:cNvSpPr/>
          <p:nvPr/>
        </p:nvSpPr>
        <p:spPr>
          <a:xfrm>
            <a:off x="4171801" y="2085231"/>
            <a:ext cx="2994499" cy="158651"/>
          </a:xfrm>
          <a:prstGeom prst="rect">
            <a:avLst/>
          </a:prstGeom>
          <a:noFill/>
          <a:ln/>
        </p:spPr>
        <p:txBody>
          <a:bodyPr wrap="square" lIns="0" tIns="0" rIns="0" bIns="0" rtlCol="0" anchor="t"/>
          <a:lstStyle/>
          <a:p>
            <a:pPr algn="l" indent="0" marL="0">
              <a:lnSpc>
                <a:spcPts val="1250"/>
              </a:lnSpc>
              <a:buNone/>
            </a:pPr>
            <a:r>
              <a:rPr lang="en-US" sz="1000" dirty="0">
                <a:solidFill>
                  <a:srgbClr val="667066"/>
                </a:solidFill>
                <a:latin typeface="Arial" pitchFamily="34" charset="0"/>
                <a:ea typeface="Arial" pitchFamily="34" charset="-122"/>
                <a:cs typeface="Arial" pitchFamily="34" charset="-120"/>
              </a:rPr>
              <a:t>Very few iron-rich foods logged across several days.</a:t>
            </a:r>
            <a:endParaRPr lang="en-US" sz="1000" dirty="0"/>
          </a:p>
        </p:txBody>
      </p:sp>
      <p:sp>
        <p:nvSpPr>
          <p:cNvPr id="11" name="Text 8"/>
          <p:cNvSpPr/>
          <p:nvPr/>
        </p:nvSpPr>
        <p:spPr>
          <a:xfrm>
            <a:off x="3454301" y="2542431"/>
            <a:ext cx="5079950" cy="736550"/>
          </a:xfrm>
          <a:prstGeom prst="roundRect">
            <a:avLst>
              <a:gd name="adj" fmla="val 24140"/>
            </a:avLst>
          </a:prstGeom>
          <a:solidFill>
            <a:srgbClr val="F6EA7B"/>
          </a:solidFill>
          <a:ln w="19050">
            <a:solidFill>
              <a:srgbClr val="30342E"/>
            </a:solidFill>
          </a:ln>
        </p:spPr>
        <p:txBody>
          <a:bodyPr wrap="square" rtlCol="0" anchor="ctr"/>
          <a:lstStyle/>
          <a:p>
            <a:pPr indent="0" marL="0">
              <a:buNone/>
            </a:pPr>
            <a:endParaRPr lang="en-US" dirty="0"/>
          </a:p>
        </p:txBody>
      </p:sp>
      <p:sp>
        <p:nvSpPr>
          <p:cNvPr id="12" name="Text 9"/>
          <p:cNvSpPr/>
          <p:nvPr/>
        </p:nvSpPr>
        <p:spPr>
          <a:xfrm>
            <a:off x="3625751" y="2713881"/>
            <a:ext cx="393650" cy="393650"/>
          </a:xfrm>
          <a:prstGeom prst="roundRect">
            <a:avLst>
              <a:gd name="adj" fmla="val 232288"/>
            </a:avLst>
          </a:prstGeom>
          <a:solidFill>
            <a:srgbClr val="C8F23D"/>
          </a:solidFill>
          <a:ln/>
        </p:spPr>
        <p:txBody>
          <a:bodyPr wrap="square" rtlCol="0" anchor="ctr"/>
          <a:lstStyle/>
          <a:p>
            <a:pPr indent="0" marL="0">
              <a:buNone/>
            </a:pPr>
            <a:endParaRPr lang="en-US" dirty="0"/>
          </a:p>
        </p:txBody>
      </p:sp>
      <p:sp>
        <p:nvSpPr>
          <p:cNvPr id="13" name="Text 10"/>
          <p:cNvSpPr/>
          <p:nvPr/>
        </p:nvSpPr>
        <p:spPr>
          <a:xfrm>
            <a:off x="3776662" y="2810024"/>
            <a:ext cx="93663" cy="201216"/>
          </a:xfrm>
          <a:prstGeom prst="rect">
            <a:avLst/>
          </a:prstGeom>
          <a:noFill/>
          <a:ln/>
        </p:spPr>
        <p:txBody>
          <a:bodyPr wrap="square" lIns="0" tIns="0" rIns="0" bIns="0" rtlCol="0" anchor="t"/>
          <a:lstStyle/>
          <a:p>
            <a:pPr algn="l" indent="0" marL="0">
              <a:lnSpc>
                <a:spcPts val="1586"/>
              </a:lnSpc>
              <a:buNone/>
            </a:pPr>
            <a:r>
              <a:rPr lang="en-US" sz="1300" b="1" dirty="0">
                <a:solidFill>
                  <a:srgbClr val="1B1D19"/>
                </a:solidFill>
                <a:latin typeface="Arial" pitchFamily="34" charset="0"/>
                <a:ea typeface="Arial" pitchFamily="34" charset="-122"/>
                <a:cs typeface="Arial" pitchFamily="34" charset="-120"/>
              </a:rPr>
              <a:t>2</a:t>
            </a:r>
            <a:endParaRPr lang="en-US" sz="1300" dirty="0"/>
          </a:p>
        </p:txBody>
      </p:sp>
      <p:sp>
        <p:nvSpPr>
          <p:cNvPr id="14" name="Text 11"/>
          <p:cNvSpPr/>
          <p:nvPr/>
        </p:nvSpPr>
        <p:spPr>
          <a:xfrm>
            <a:off x="4171801" y="2726531"/>
            <a:ext cx="2579921"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Explain, without diagnosing</a:t>
            </a:r>
            <a:endParaRPr lang="en-US" sz="1500" dirty="0"/>
          </a:p>
        </p:txBody>
      </p:sp>
      <p:sp>
        <p:nvSpPr>
          <p:cNvPr id="15" name="Text 12"/>
          <p:cNvSpPr/>
          <p:nvPr/>
        </p:nvSpPr>
        <p:spPr>
          <a:xfrm>
            <a:off x="4171801" y="2936081"/>
            <a:ext cx="2579921" cy="158651"/>
          </a:xfrm>
          <a:prstGeom prst="rect">
            <a:avLst/>
          </a:prstGeom>
          <a:noFill/>
          <a:ln/>
        </p:spPr>
        <p:txBody>
          <a:bodyPr wrap="square" lIns="0" tIns="0" rIns="0" bIns="0" rtlCol="0" anchor="t"/>
          <a:lstStyle/>
          <a:p>
            <a:pPr algn="l" indent="0" marL="0">
              <a:lnSpc>
                <a:spcPts val="1250"/>
              </a:lnSpc>
              <a:buNone/>
            </a:pPr>
            <a:r>
              <a:rPr lang="en-US" sz="1000" dirty="0">
                <a:solidFill>
                  <a:srgbClr val="667066"/>
                </a:solidFill>
                <a:latin typeface="Arial" pitchFamily="34" charset="0"/>
                <a:ea typeface="Arial" pitchFamily="34" charset="-122"/>
                <a:cs typeface="Arial" pitchFamily="34" charset="-120"/>
              </a:rPr>
              <a:t>“This pattern may be worth addressing.”</a:t>
            </a:r>
            <a:endParaRPr lang="en-US" sz="1000" dirty="0"/>
          </a:p>
        </p:txBody>
      </p:sp>
      <p:sp>
        <p:nvSpPr>
          <p:cNvPr id="16" name="Text 13"/>
          <p:cNvSpPr/>
          <p:nvPr/>
        </p:nvSpPr>
        <p:spPr>
          <a:xfrm>
            <a:off x="3454301" y="3393281"/>
            <a:ext cx="5079950" cy="736550"/>
          </a:xfrm>
          <a:prstGeom prst="roundRect">
            <a:avLst>
              <a:gd name="adj" fmla="val 24140"/>
            </a:avLst>
          </a:prstGeom>
          <a:solidFill>
            <a:srgbClr val="B9D7F2"/>
          </a:solidFill>
          <a:ln w="19050">
            <a:solidFill>
              <a:srgbClr val="30342E"/>
            </a:solidFill>
          </a:ln>
        </p:spPr>
        <p:txBody>
          <a:bodyPr wrap="square" rtlCol="0" anchor="ctr"/>
          <a:lstStyle/>
          <a:p>
            <a:pPr indent="0" marL="0">
              <a:buNone/>
            </a:pPr>
            <a:endParaRPr lang="en-US" dirty="0"/>
          </a:p>
        </p:txBody>
      </p:sp>
      <p:sp>
        <p:nvSpPr>
          <p:cNvPr id="17" name="Text 14"/>
          <p:cNvSpPr/>
          <p:nvPr/>
        </p:nvSpPr>
        <p:spPr>
          <a:xfrm>
            <a:off x="3625751" y="3564731"/>
            <a:ext cx="393650" cy="393650"/>
          </a:xfrm>
          <a:prstGeom prst="roundRect">
            <a:avLst>
              <a:gd name="adj" fmla="val 232288"/>
            </a:avLst>
          </a:prstGeom>
          <a:solidFill>
            <a:srgbClr val="72B56E"/>
          </a:solidFill>
          <a:ln/>
        </p:spPr>
        <p:txBody>
          <a:bodyPr wrap="square" rtlCol="0" anchor="ctr"/>
          <a:lstStyle/>
          <a:p>
            <a:pPr indent="0" marL="0">
              <a:buNone/>
            </a:pPr>
            <a:endParaRPr lang="en-US" dirty="0"/>
          </a:p>
        </p:txBody>
      </p:sp>
      <p:sp>
        <p:nvSpPr>
          <p:cNvPr id="18" name="Text 15"/>
          <p:cNvSpPr/>
          <p:nvPr/>
        </p:nvSpPr>
        <p:spPr>
          <a:xfrm>
            <a:off x="3776662" y="3660874"/>
            <a:ext cx="93663" cy="201216"/>
          </a:xfrm>
          <a:prstGeom prst="rect">
            <a:avLst/>
          </a:prstGeom>
          <a:noFill/>
          <a:ln/>
        </p:spPr>
        <p:txBody>
          <a:bodyPr wrap="square" lIns="0" tIns="0" rIns="0" bIns="0" rtlCol="0" anchor="t"/>
          <a:lstStyle/>
          <a:p>
            <a:pPr algn="l" indent="0" marL="0">
              <a:lnSpc>
                <a:spcPts val="1586"/>
              </a:lnSpc>
              <a:buNone/>
            </a:pPr>
            <a:r>
              <a:rPr lang="en-US" sz="1300" b="1" dirty="0">
                <a:solidFill>
                  <a:srgbClr val="1B1D19"/>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4171801" y="3577382"/>
            <a:ext cx="3294617"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One realistic next action</a:t>
            </a:r>
            <a:endParaRPr lang="en-US" sz="1500" dirty="0"/>
          </a:p>
        </p:txBody>
      </p:sp>
      <p:sp>
        <p:nvSpPr>
          <p:cNvPr id="20" name="Text 17"/>
          <p:cNvSpPr/>
          <p:nvPr/>
        </p:nvSpPr>
        <p:spPr>
          <a:xfrm>
            <a:off x="4171801" y="3786932"/>
            <a:ext cx="3294617" cy="158651"/>
          </a:xfrm>
          <a:prstGeom prst="rect">
            <a:avLst/>
          </a:prstGeom>
          <a:noFill/>
          <a:ln/>
        </p:spPr>
        <p:txBody>
          <a:bodyPr wrap="square" lIns="0" tIns="0" rIns="0" bIns="0" rtlCol="0" anchor="t"/>
          <a:lstStyle/>
          <a:p>
            <a:pPr algn="l" indent="0" marL="0">
              <a:lnSpc>
                <a:spcPts val="1250"/>
              </a:lnSpc>
              <a:buNone/>
            </a:pPr>
            <a:r>
              <a:rPr lang="en-US" sz="1000" dirty="0">
                <a:solidFill>
                  <a:srgbClr val="667066"/>
                </a:solidFill>
                <a:latin typeface="Arial" pitchFamily="34" charset="0"/>
                <a:ea typeface="Arial" pitchFamily="34" charset="-122"/>
                <a:cs typeface="Arial" pitchFamily="34" charset="-120"/>
              </a:rPr>
              <a:t>Spinach, eggs or salmon — using what is already nearby.</a:t>
            </a:r>
            <a:endParaRPr lang="en-US" sz="1000" dirty="0"/>
          </a:p>
        </p:txBody>
      </p:sp>
      <p:sp>
        <p:nvSpPr>
          <p:cNvPr id="21" name="Text 18"/>
          <p:cNvSpPr/>
          <p:nvPr/>
        </p:nvSpPr>
        <p:spPr>
          <a:xfrm>
            <a:off x="3454301" y="4282232"/>
            <a:ext cx="5181549" cy="114300"/>
          </a:xfrm>
          <a:prstGeom prst="rect">
            <a:avLst/>
          </a:prstGeom>
          <a:noFill/>
          <a:ln/>
        </p:spPr>
        <p:txBody>
          <a:bodyPr wrap="square" lIns="0" tIns="0" rIns="0" bIns="0" rtlCol="0" anchor="t"/>
          <a:lstStyle/>
          <a:p>
            <a:pPr algn="l" indent="0" marL="0">
              <a:lnSpc>
                <a:spcPts val="900"/>
              </a:lnSpc>
              <a:spcBef>
                <a:spcPts val="300"/>
              </a:spcBef>
              <a:buNone/>
            </a:pPr>
            <a:r>
              <a:rPr lang="en-US" sz="750" dirty="0">
                <a:solidFill>
                  <a:srgbClr val="667066"/>
                </a:solidFill>
                <a:latin typeface="Arial" pitchFamily="34" charset="0"/>
                <a:ea typeface="Arial" pitchFamily="34" charset="-122"/>
                <a:cs typeface="Arial" pitchFamily="34" charset="-120"/>
              </a:rPr>
              <a:t>Persistent dizziness or fatigue should be discussed with a qualified health professional.</a:t>
            </a:r>
            <a:endParaRPr lang="en-US" sz="750" dirty="0"/>
          </a:p>
        </p:txBody>
      </p:sp>
      <p:sp>
        <p:nvSpPr>
          <p:cNvPr id="22" name="Text 19"/>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23" name="Text 20"/>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06</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6EA7B"/>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05 · MEASURABLE TIME SAVED</a:t>
            </a:r>
            <a:endParaRPr lang="en-US" sz="850" dirty="0"/>
          </a:p>
        </p:txBody>
      </p:sp>
      <p:sp>
        <p:nvSpPr>
          <p:cNvPr id="4" name="Text 2"/>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FROM SCATTERED DECISIONS</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TO ONE GUIDED ROUTINE.</a:t>
            </a:r>
            <a:endParaRPr lang="en-US" sz="3600" dirty="0"/>
          </a:p>
        </p:txBody>
      </p:sp>
      <p:sp>
        <p:nvSpPr>
          <p:cNvPr id="5" name="Text 3"/>
          <p:cNvSpPr/>
          <p:nvPr/>
        </p:nvSpPr>
        <p:spPr>
          <a:xfrm>
            <a:off x="381000" y="1678930"/>
            <a:ext cx="3873401" cy="2006501"/>
          </a:xfrm>
          <a:prstGeom prst="roundRect">
            <a:avLst>
              <a:gd name="adj" fmla="val 8861"/>
            </a:avLst>
          </a:prstGeom>
          <a:solidFill>
            <a:srgbClr val="FFFFFF"/>
          </a:solidFill>
          <a:ln w="19050">
            <a:solidFill>
              <a:srgbClr val="30342E"/>
            </a:solidFill>
          </a:ln>
        </p:spPr>
        <p:txBody>
          <a:bodyPr wrap="square" rtlCol="0" anchor="ctr"/>
          <a:lstStyle/>
          <a:p>
            <a:pPr indent="0" marL="0">
              <a:buNone/>
            </a:pPr>
            <a:endParaRPr lang="en-US" dirty="0"/>
          </a:p>
        </p:txBody>
      </p:sp>
      <p:sp>
        <p:nvSpPr>
          <p:cNvPr id="6" name="Text 4"/>
          <p:cNvSpPr/>
          <p:nvPr/>
        </p:nvSpPr>
        <p:spPr>
          <a:xfrm>
            <a:off x="628650" y="1875681"/>
            <a:ext cx="3445663"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BEFORE · MANUAL</a:t>
            </a:r>
            <a:endParaRPr lang="en-US" sz="850" dirty="0"/>
          </a:p>
        </p:txBody>
      </p:sp>
      <p:sp>
        <p:nvSpPr>
          <p:cNvPr id="7" name="Text 5"/>
          <p:cNvSpPr/>
          <p:nvPr/>
        </p:nvSpPr>
        <p:spPr>
          <a:xfrm>
            <a:off x="628650" y="2108746"/>
            <a:ext cx="3445663" cy="558850"/>
          </a:xfrm>
          <a:prstGeom prst="rect">
            <a:avLst/>
          </a:prstGeom>
          <a:noFill/>
          <a:ln/>
        </p:spPr>
        <p:txBody>
          <a:bodyPr wrap="square" lIns="0" tIns="0" rIns="0" bIns="0" rtlCol="0" anchor="t"/>
          <a:lstStyle/>
          <a:p>
            <a:pPr algn="l" indent="0" marL="0">
              <a:lnSpc>
                <a:spcPts val="4400"/>
              </a:lnSpc>
              <a:buNone/>
            </a:pPr>
            <a:r>
              <a:rPr lang="en-US" sz="4400" b="1" dirty="0">
                <a:solidFill>
                  <a:srgbClr val="1B1D19"/>
                </a:solidFill>
                <a:latin typeface="Georgia" pitchFamily="34" charset="0"/>
                <a:ea typeface="Georgia" pitchFamily="34" charset="-122"/>
                <a:cs typeface="Georgia" pitchFamily="34" charset="-120"/>
              </a:rPr>
              <a:t>12:00</a:t>
            </a:r>
            <a:endParaRPr lang="en-US" sz="4400" dirty="0"/>
          </a:p>
        </p:txBody>
      </p:sp>
      <p:sp>
        <p:nvSpPr>
          <p:cNvPr id="8" name="Text 6"/>
          <p:cNvSpPr/>
          <p:nvPr/>
        </p:nvSpPr>
        <p:spPr>
          <a:xfrm>
            <a:off x="628650" y="3330029"/>
            <a:ext cx="3445663" cy="158651"/>
          </a:xfrm>
          <a:prstGeom prst="rect">
            <a:avLst/>
          </a:prstGeom>
          <a:noFill/>
          <a:ln/>
        </p:spPr>
        <p:txBody>
          <a:bodyPr wrap="square" lIns="0" tIns="0" rIns="0" bIns="0" rtlCol="0" anchor="t"/>
          <a:lstStyle/>
          <a:p>
            <a:pPr algn="l" indent="0" marL="0">
              <a:lnSpc>
                <a:spcPts val="1250"/>
              </a:lnSpc>
              <a:buNone/>
            </a:pPr>
            <a:r>
              <a:rPr lang="en-US" sz="1000" dirty="0">
                <a:solidFill>
                  <a:srgbClr val="667066"/>
                </a:solidFill>
                <a:latin typeface="Arial" pitchFamily="34" charset="0"/>
                <a:ea typeface="Arial" pitchFamily="34" charset="-122"/>
                <a:cs typeface="Arial" pitchFamily="34" charset="-120"/>
              </a:rPr>
              <a:t>Calendar + task triage + meal decision + time blocking</a:t>
            </a:r>
            <a:endParaRPr lang="en-US" sz="1000" dirty="0"/>
          </a:p>
        </p:txBody>
      </p:sp>
      <p:sp>
        <p:nvSpPr>
          <p:cNvPr id="9" name="Text 7"/>
          <p:cNvSpPr/>
          <p:nvPr/>
        </p:nvSpPr>
        <p:spPr>
          <a:xfrm>
            <a:off x="4483001" y="1678930"/>
            <a:ext cx="3873401" cy="2006501"/>
          </a:xfrm>
          <a:prstGeom prst="roundRect">
            <a:avLst>
              <a:gd name="adj" fmla="val 8861"/>
            </a:avLst>
          </a:prstGeom>
          <a:solidFill>
            <a:srgbClr val="1B1D19"/>
          </a:solidFill>
          <a:ln w="47625">
            <a:solidFill>
              <a:srgbClr val="C8F23D"/>
            </a:solidFill>
          </a:ln>
        </p:spPr>
        <p:txBody>
          <a:bodyPr wrap="square" rtlCol="0" anchor="ctr"/>
          <a:lstStyle/>
          <a:p>
            <a:pPr indent="0" marL="0">
              <a:buNone/>
            </a:pPr>
            <a:endParaRPr lang="en-US" dirty="0"/>
          </a:p>
        </p:txBody>
      </p:sp>
      <p:sp>
        <p:nvSpPr>
          <p:cNvPr id="10" name="Text 8"/>
          <p:cNvSpPr/>
          <p:nvPr/>
        </p:nvSpPr>
        <p:spPr>
          <a:xfrm>
            <a:off x="4759226" y="1904256"/>
            <a:ext cx="338737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C8F23D"/>
                </a:solidFill>
                <a:latin typeface="Arial" pitchFamily="34" charset="0"/>
                <a:ea typeface="Arial" pitchFamily="34" charset="-122"/>
                <a:cs typeface="Arial" pitchFamily="34" charset="-120"/>
              </a:rPr>
              <a:t>WITH AKESO</a:t>
            </a:r>
            <a:endParaRPr lang="en-US" sz="850" dirty="0"/>
          </a:p>
        </p:txBody>
      </p:sp>
      <p:sp>
        <p:nvSpPr>
          <p:cNvPr id="11" name="Text 9"/>
          <p:cNvSpPr/>
          <p:nvPr/>
        </p:nvSpPr>
        <p:spPr>
          <a:xfrm>
            <a:off x="4759226" y="2137321"/>
            <a:ext cx="3387370" cy="558850"/>
          </a:xfrm>
          <a:prstGeom prst="rect">
            <a:avLst/>
          </a:prstGeom>
          <a:noFill/>
          <a:ln/>
        </p:spPr>
        <p:txBody>
          <a:bodyPr wrap="square" lIns="0" tIns="0" rIns="0" bIns="0" rtlCol="0" anchor="t"/>
          <a:lstStyle/>
          <a:p>
            <a:pPr algn="l" indent="0" marL="0">
              <a:lnSpc>
                <a:spcPts val="4400"/>
              </a:lnSpc>
              <a:buNone/>
            </a:pPr>
            <a:r>
              <a:rPr lang="en-US" sz="4400" b="1" dirty="0">
                <a:solidFill>
                  <a:srgbClr val="C8F23D"/>
                </a:solidFill>
                <a:latin typeface="Georgia" pitchFamily="34" charset="0"/>
                <a:ea typeface="Georgia" pitchFamily="34" charset="-122"/>
                <a:cs typeface="Georgia" pitchFamily="34" charset="-120"/>
              </a:rPr>
              <a:t>0:25</a:t>
            </a:r>
            <a:endParaRPr lang="en-US" sz="4400" dirty="0"/>
          </a:p>
        </p:txBody>
      </p:sp>
      <p:sp>
        <p:nvSpPr>
          <p:cNvPr id="12" name="Text 10"/>
          <p:cNvSpPr/>
          <p:nvPr/>
        </p:nvSpPr>
        <p:spPr>
          <a:xfrm>
            <a:off x="4759226" y="3142804"/>
            <a:ext cx="3387370" cy="317302"/>
          </a:xfrm>
          <a:prstGeom prst="rect">
            <a:avLst/>
          </a:prstGeom>
          <a:noFill/>
          <a:ln/>
        </p:spPr>
        <p:txBody>
          <a:bodyPr wrap="square" lIns="0" tIns="0" rIns="0" bIns="0" rtlCol="0" anchor="t"/>
          <a:lstStyle/>
          <a:p>
            <a:pPr algn="l" indent="0" marL="0">
              <a:lnSpc>
                <a:spcPts val="1250"/>
              </a:lnSpc>
              <a:buNone/>
            </a:pPr>
            <a:r>
              <a:rPr lang="en-US" sz="1000" dirty="0">
                <a:solidFill>
                  <a:srgbClr val="DDE1D8"/>
                </a:solidFill>
                <a:latin typeface="Arial" pitchFamily="34" charset="0"/>
                <a:ea typeface="Arial" pitchFamily="34" charset="-122"/>
                <a:cs typeface="Arial" pitchFamily="34" charset="-120"/>
              </a:rPr>
              <a:t>One check-in → energy insight → meal + routine suggestion</a:t>
            </a:r>
            <a:endParaRPr lang="en-US" sz="1000" dirty="0"/>
          </a:p>
        </p:txBody>
      </p:sp>
      <p:sp>
        <p:nvSpPr>
          <p:cNvPr id="13" name="Text 11"/>
          <p:cNvSpPr/>
          <p:nvPr/>
        </p:nvSpPr>
        <p:spPr>
          <a:xfrm>
            <a:off x="381000" y="3825032"/>
            <a:ext cx="4635401" cy="347067"/>
          </a:xfrm>
          <a:prstGeom prst="roundRect">
            <a:avLst>
              <a:gd name="adj" fmla="val 3655577"/>
            </a:avLst>
          </a:prstGeom>
          <a:solidFill>
            <a:srgbClr val="72B56E"/>
          </a:solidFill>
          <a:ln w="9525">
            <a:solidFill>
              <a:srgbClr val="1B1D19"/>
            </a:solidFill>
          </a:ln>
        </p:spPr>
        <p:txBody>
          <a:bodyPr wrap="square" rtlCol="0" anchor="ctr"/>
          <a:lstStyle/>
          <a:p>
            <a:pPr indent="0" marL="0">
              <a:buNone/>
            </a:pPr>
            <a:endParaRPr lang="en-US" dirty="0"/>
          </a:p>
        </p:txBody>
      </p:sp>
      <p:sp>
        <p:nvSpPr>
          <p:cNvPr id="14" name="Text 12"/>
          <p:cNvSpPr/>
          <p:nvPr/>
        </p:nvSpPr>
        <p:spPr>
          <a:xfrm>
            <a:off x="1446461" y="3897957"/>
            <a:ext cx="2554569" cy="201216"/>
          </a:xfrm>
          <a:prstGeom prst="rect">
            <a:avLst/>
          </a:prstGeom>
          <a:noFill/>
          <a:ln/>
        </p:spPr>
        <p:txBody>
          <a:bodyPr wrap="square" lIns="0" tIns="0" rIns="0" bIns="0" rtlCol="0" anchor="t"/>
          <a:lstStyle/>
          <a:p>
            <a:pPr algn="l" indent="0" marL="0">
              <a:lnSpc>
                <a:spcPts val="1586"/>
              </a:lnSpc>
              <a:buNone/>
            </a:pPr>
            <a:r>
              <a:rPr lang="en-US" sz="1300" b="1" dirty="0">
                <a:solidFill>
                  <a:srgbClr val="1B1D19"/>
                </a:solidFill>
                <a:latin typeface="Arial" pitchFamily="34" charset="0"/>
                <a:ea typeface="Arial" pitchFamily="34" charset="-122"/>
                <a:cs typeface="Arial" pitchFamily="34" charset="-120"/>
              </a:rPr>
              <a:t>11 MIN 35 SEC SAVED PER DAY</a:t>
            </a:r>
            <a:endParaRPr lang="en-US" sz="1300" dirty="0"/>
          </a:p>
        </p:txBody>
      </p:sp>
      <p:sp>
        <p:nvSpPr>
          <p:cNvPr id="15" name="Text 13"/>
          <p:cNvSpPr/>
          <p:nvPr/>
        </p:nvSpPr>
        <p:spPr>
          <a:xfrm>
            <a:off x="381000" y="4235500"/>
            <a:ext cx="8549640" cy="114300"/>
          </a:xfrm>
          <a:prstGeom prst="rect">
            <a:avLst/>
          </a:prstGeom>
          <a:noFill/>
          <a:ln/>
        </p:spPr>
        <p:txBody>
          <a:bodyPr wrap="square" lIns="0" tIns="0" rIns="0" bIns="0" rtlCol="0" anchor="t"/>
          <a:lstStyle/>
          <a:p>
            <a:pPr algn="l" indent="0" marL="0">
              <a:lnSpc>
                <a:spcPts val="900"/>
              </a:lnSpc>
              <a:spcBef>
                <a:spcPts val="500"/>
              </a:spcBef>
              <a:buNone/>
            </a:pPr>
            <a:r>
              <a:rPr lang="en-US" sz="750" dirty="0">
                <a:solidFill>
                  <a:srgbClr val="667066"/>
                </a:solidFill>
                <a:latin typeface="Arial" pitchFamily="34" charset="0"/>
                <a:ea typeface="Arial" pitchFamily="34" charset="-122"/>
                <a:cs typeface="Arial" pitchFamily="34" charset="-120"/>
              </a:rPr>
              <a:t>Measured demo workflow · validate with a wider user trial.</a:t>
            </a:r>
            <a:endParaRPr lang="en-US" sz="750" dirty="0"/>
          </a:p>
        </p:txBody>
      </p:sp>
      <p:sp>
        <p:nvSpPr>
          <p:cNvPr id="16" name="Text 14"/>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17" name="Text 15"/>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07</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1B1D19"/>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C8F23D"/>
                </a:solidFill>
                <a:latin typeface="Arial" pitchFamily="34" charset="0"/>
                <a:ea typeface="Arial" pitchFamily="34" charset="-122"/>
                <a:cs typeface="Arial" pitchFamily="34" charset="-120"/>
              </a:rPr>
              <a:t>06 · TECHNICAL EXECUTION</a:t>
            </a:r>
            <a:endParaRPr lang="en-US" sz="850" dirty="0"/>
          </a:p>
        </p:txBody>
      </p:sp>
      <p:sp>
        <p:nvSpPr>
          <p:cNvPr id="4" name="Text 2"/>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F5F2E8"/>
                </a:solidFill>
                <a:latin typeface="Georgia" pitchFamily="34" charset="0"/>
                <a:ea typeface="Georgia" pitchFamily="34" charset="-122"/>
                <a:cs typeface="Georgia" pitchFamily="34" charset="-120"/>
              </a:rPr>
              <a:t>BUILT TO EXPLAIN.</a:t>
            </a:r>
            <a:endParaRPr lang="en-US" sz="3600" dirty="0"/>
          </a:p>
          <a:p>
            <a:pPr algn="l" indent="0" marL="0">
              <a:lnSpc>
                <a:spcPts val="3744"/>
              </a:lnSpc>
              <a:buNone/>
            </a:pPr>
            <a:r>
              <a:rPr lang="en-US" sz="3600" dirty="0">
                <a:solidFill>
                  <a:srgbClr val="F5F2E8"/>
                </a:solidFill>
                <a:latin typeface="Georgia" pitchFamily="34" charset="0"/>
                <a:ea typeface="Georgia" pitchFamily="34" charset="-122"/>
                <a:cs typeface="Georgia" pitchFamily="34" charset="-120"/>
              </a:rPr>
              <a:t>NOT TO PRETEND.</a:t>
            </a:r>
            <a:endParaRPr lang="en-US" sz="3600" dirty="0"/>
          </a:p>
        </p:txBody>
      </p:sp>
      <p:sp>
        <p:nvSpPr>
          <p:cNvPr id="5" name="Text 3"/>
          <p:cNvSpPr/>
          <p:nvPr/>
        </p:nvSpPr>
        <p:spPr>
          <a:xfrm>
            <a:off x="381000" y="1717030"/>
            <a:ext cx="1638300" cy="1096566"/>
          </a:xfrm>
          <a:prstGeom prst="roundRect">
            <a:avLst>
              <a:gd name="adj" fmla="val 16214"/>
            </a:avLst>
          </a:prstGeom>
          <a:solidFill>
            <a:srgbClr val="72B56E"/>
          </a:solidFill>
          <a:ln w="19050">
            <a:solidFill>
              <a:srgbClr val="30342E"/>
            </a:solidFill>
          </a:ln>
        </p:spPr>
        <p:txBody>
          <a:bodyPr wrap="square" rtlCol="0" anchor="ctr"/>
          <a:lstStyle/>
          <a:p>
            <a:pPr indent="0" marL="0">
              <a:buNone/>
            </a:pPr>
            <a:endParaRPr lang="en-US" dirty="0"/>
          </a:p>
        </p:txBody>
      </p:sp>
      <p:sp>
        <p:nvSpPr>
          <p:cNvPr id="6" name="Text 4"/>
          <p:cNvSpPr/>
          <p:nvPr/>
        </p:nvSpPr>
        <p:spPr>
          <a:xfrm>
            <a:off x="590550" y="1926580"/>
            <a:ext cx="1243584"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1B1D19"/>
                </a:solidFill>
                <a:latin typeface="Arial" pitchFamily="34" charset="0"/>
                <a:ea typeface="Arial" pitchFamily="34" charset="-122"/>
                <a:cs typeface="Arial" pitchFamily="34" charset="-120"/>
              </a:rPr>
              <a:t>CLIENT</a:t>
            </a:r>
            <a:endParaRPr lang="en-US" sz="850" dirty="0"/>
          </a:p>
        </p:txBody>
      </p:sp>
      <p:sp>
        <p:nvSpPr>
          <p:cNvPr id="7" name="Text 5"/>
          <p:cNvSpPr/>
          <p:nvPr/>
        </p:nvSpPr>
        <p:spPr>
          <a:xfrm>
            <a:off x="590550" y="2159645"/>
            <a:ext cx="1243584"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Expo App</a:t>
            </a:r>
            <a:endParaRPr lang="en-US" sz="1500" dirty="0"/>
          </a:p>
        </p:txBody>
      </p:sp>
      <p:sp>
        <p:nvSpPr>
          <p:cNvPr id="8" name="Text 6"/>
          <p:cNvSpPr/>
          <p:nvPr/>
        </p:nvSpPr>
        <p:spPr>
          <a:xfrm>
            <a:off x="590550" y="2445395"/>
            <a:ext cx="1243584"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1B1D19"/>
                </a:solidFill>
                <a:latin typeface="Arial" pitchFamily="34" charset="0"/>
                <a:ea typeface="Arial" pitchFamily="34" charset="-122"/>
                <a:cs typeface="Arial" pitchFamily="34" charset="-120"/>
              </a:rPr>
              <a:t>Fast daily interaction</a:t>
            </a:r>
            <a:endParaRPr lang="en-US" sz="1000" dirty="0"/>
          </a:p>
        </p:txBody>
      </p:sp>
      <p:sp>
        <p:nvSpPr>
          <p:cNvPr id="9" name="Text 7"/>
          <p:cNvSpPr/>
          <p:nvPr/>
        </p:nvSpPr>
        <p:spPr>
          <a:xfrm>
            <a:off x="2168652" y="2079427"/>
            <a:ext cx="310896" cy="371773"/>
          </a:xfrm>
          <a:prstGeom prst="rect">
            <a:avLst/>
          </a:prstGeom>
          <a:noFill/>
          <a:ln/>
        </p:spPr>
        <p:txBody>
          <a:bodyPr wrap="square" lIns="0" tIns="0" rIns="0" bIns="0" rtlCol="0" anchor="t"/>
          <a:lstStyle/>
          <a:p>
            <a:pPr algn="ctr" indent="0" marL="0">
              <a:lnSpc>
                <a:spcPts val="2928"/>
              </a:lnSpc>
              <a:buNone/>
            </a:pPr>
            <a:r>
              <a:rPr lang="en-US" sz="2400" dirty="0">
                <a:solidFill>
                  <a:srgbClr val="C8F23D"/>
                </a:solidFill>
                <a:latin typeface="Arial" pitchFamily="34" charset="0"/>
                <a:ea typeface="Arial" pitchFamily="34" charset="-122"/>
                <a:cs typeface="Arial" pitchFamily="34" charset="-120"/>
              </a:rPr>
              <a:t>→</a:t>
            </a:r>
            <a:endParaRPr lang="en-US" sz="2400" dirty="0"/>
          </a:p>
        </p:txBody>
      </p:sp>
      <p:sp>
        <p:nvSpPr>
          <p:cNvPr id="10" name="Text 8"/>
          <p:cNvSpPr/>
          <p:nvPr/>
        </p:nvSpPr>
        <p:spPr>
          <a:xfrm>
            <a:off x="2628900" y="1717030"/>
            <a:ext cx="1638300" cy="1096566"/>
          </a:xfrm>
          <a:prstGeom prst="roundRect">
            <a:avLst>
              <a:gd name="adj" fmla="val 16214"/>
            </a:avLst>
          </a:prstGeom>
          <a:solidFill>
            <a:srgbClr val="F6EA7B"/>
          </a:solidFill>
          <a:ln w="19050">
            <a:solidFill>
              <a:srgbClr val="30342E"/>
            </a:solidFill>
          </a:ln>
        </p:spPr>
        <p:txBody>
          <a:bodyPr wrap="square" rtlCol="0" anchor="ctr"/>
          <a:lstStyle/>
          <a:p>
            <a:pPr indent="0" marL="0">
              <a:buNone/>
            </a:pPr>
            <a:endParaRPr lang="en-US" dirty="0"/>
          </a:p>
        </p:txBody>
      </p:sp>
      <p:sp>
        <p:nvSpPr>
          <p:cNvPr id="11" name="Text 9"/>
          <p:cNvSpPr/>
          <p:nvPr/>
        </p:nvSpPr>
        <p:spPr>
          <a:xfrm>
            <a:off x="2838450" y="1926580"/>
            <a:ext cx="1243584"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1B1D19"/>
                </a:solidFill>
                <a:latin typeface="Arial" pitchFamily="34" charset="0"/>
                <a:ea typeface="Arial" pitchFamily="34" charset="-122"/>
                <a:cs typeface="Arial" pitchFamily="34" charset="-120"/>
              </a:rPr>
              <a:t>API</a:t>
            </a:r>
            <a:endParaRPr lang="en-US" sz="850" dirty="0"/>
          </a:p>
        </p:txBody>
      </p:sp>
      <p:sp>
        <p:nvSpPr>
          <p:cNvPr id="12" name="Text 10"/>
          <p:cNvSpPr/>
          <p:nvPr/>
        </p:nvSpPr>
        <p:spPr>
          <a:xfrm>
            <a:off x="2838450" y="2159645"/>
            <a:ext cx="1243584"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Express</a:t>
            </a:r>
            <a:endParaRPr lang="en-US" sz="1500" dirty="0"/>
          </a:p>
        </p:txBody>
      </p:sp>
      <p:sp>
        <p:nvSpPr>
          <p:cNvPr id="13" name="Text 11"/>
          <p:cNvSpPr/>
          <p:nvPr/>
        </p:nvSpPr>
        <p:spPr>
          <a:xfrm>
            <a:off x="2838450" y="2445395"/>
            <a:ext cx="1243584"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1B1D19"/>
                </a:solidFill>
                <a:latin typeface="Arial" pitchFamily="34" charset="0"/>
                <a:ea typeface="Arial" pitchFamily="34" charset="-122"/>
                <a:cs typeface="Arial" pitchFamily="34" charset="-120"/>
              </a:rPr>
              <a:t>Validated contracts</a:t>
            </a:r>
            <a:endParaRPr lang="en-US" sz="1000" dirty="0"/>
          </a:p>
        </p:txBody>
      </p:sp>
      <p:sp>
        <p:nvSpPr>
          <p:cNvPr id="14" name="Text 12"/>
          <p:cNvSpPr/>
          <p:nvPr/>
        </p:nvSpPr>
        <p:spPr>
          <a:xfrm>
            <a:off x="4416552" y="2079427"/>
            <a:ext cx="310896" cy="371773"/>
          </a:xfrm>
          <a:prstGeom prst="rect">
            <a:avLst/>
          </a:prstGeom>
          <a:noFill/>
          <a:ln/>
        </p:spPr>
        <p:txBody>
          <a:bodyPr wrap="square" lIns="0" tIns="0" rIns="0" bIns="0" rtlCol="0" anchor="t"/>
          <a:lstStyle/>
          <a:p>
            <a:pPr algn="ctr" indent="0" marL="0">
              <a:lnSpc>
                <a:spcPts val="2928"/>
              </a:lnSpc>
              <a:buNone/>
            </a:pPr>
            <a:r>
              <a:rPr lang="en-US" sz="2400" dirty="0">
                <a:solidFill>
                  <a:srgbClr val="C8F23D"/>
                </a:solidFill>
                <a:latin typeface="Arial" pitchFamily="34" charset="0"/>
                <a:ea typeface="Arial" pitchFamily="34" charset="-122"/>
                <a:cs typeface="Arial" pitchFamily="34" charset="-120"/>
              </a:rPr>
              <a:t>→</a:t>
            </a:r>
            <a:endParaRPr lang="en-US" sz="2400" dirty="0"/>
          </a:p>
        </p:txBody>
      </p:sp>
      <p:sp>
        <p:nvSpPr>
          <p:cNvPr id="15" name="Text 13"/>
          <p:cNvSpPr/>
          <p:nvPr/>
        </p:nvSpPr>
        <p:spPr>
          <a:xfrm>
            <a:off x="4876800" y="1717030"/>
            <a:ext cx="1638300" cy="1096566"/>
          </a:xfrm>
          <a:prstGeom prst="roundRect">
            <a:avLst>
              <a:gd name="adj" fmla="val 16214"/>
            </a:avLst>
          </a:prstGeom>
          <a:solidFill>
            <a:srgbClr val="B9D7F2"/>
          </a:solidFill>
          <a:ln w="19050">
            <a:solidFill>
              <a:srgbClr val="30342E"/>
            </a:solidFill>
          </a:ln>
        </p:spPr>
        <p:txBody>
          <a:bodyPr wrap="square" rtlCol="0" anchor="ctr"/>
          <a:lstStyle/>
          <a:p>
            <a:pPr indent="0" marL="0">
              <a:buNone/>
            </a:pPr>
            <a:endParaRPr lang="en-US" dirty="0"/>
          </a:p>
        </p:txBody>
      </p:sp>
      <p:sp>
        <p:nvSpPr>
          <p:cNvPr id="16" name="Text 14"/>
          <p:cNvSpPr/>
          <p:nvPr/>
        </p:nvSpPr>
        <p:spPr>
          <a:xfrm>
            <a:off x="5086350" y="1926580"/>
            <a:ext cx="1243584"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1B1D19"/>
                </a:solidFill>
                <a:latin typeface="Arial" pitchFamily="34" charset="0"/>
                <a:ea typeface="Arial" pitchFamily="34" charset="-122"/>
                <a:cs typeface="Arial" pitchFamily="34" charset="-120"/>
              </a:rPr>
              <a:t>DATA</a:t>
            </a:r>
            <a:endParaRPr lang="en-US" sz="850" dirty="0"/>
          </a:p>
        </p:txBody>
      </p:sp>
      <p:sp>
        <p:nvSpPr>
          <p:cNvPr id="17" name="Text 15"/>
          <p:cNvSpPr/>
          <p:nvPr/>
        </p:nvSpPr>
        <p:spPr>
          <a:xfrm>
            <a:off x="5086350" y="2159645"/>
            <a:ext cx="1243584"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Supabase</a:t>
            </a:r>
            <a:endParaRPr lang="en-US" sz="1500" dirty="0"/>
          </a:p>
        </p:txBody>
      </p:sp>
      <p:sp>
        <p:nvSpPr>
          <p:cNvPr id="18" name="Text 16"/>
          <p:cNvSpPr/>
          <p:nvPr/>
        </p:nvSpPr>
        <p:spPr>
          <a:xfrm>
            <a:off x="5086350" y="2445395"/>
            <a:ext cx="1243584"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1B1D19"/>
                </a:solidFill>
                <a:latin typeface="Arial" pitchFamily="34" charset="0"/>
                <a:ea typeface="Arial" pitchFamily="34" charset="-122"/>
                <a:cs typeface="Arial" pitchFamily="34" charset="-120"/>
              </a:rPr>
              <a:t>Longitudinal patterns</a:t>
            </a:r>
            <a:endParaRPr lang="en-US" sz="1000" dirty="0"/>
          </a:p>
        </p:txBody>
      </p:sp>
      <p:sp>
        <p:nvSpPr>
          <p:cNvPr id="19" name="Text 17"/>
          <p:cNvSpPr/>
          <p:nvPr/>
        </p:nvSpPr>
        <p:spPr>
          <a:xfrm>
            <a:off x="6664452" y="2079427"/>
            <a:ext cx="310896" cy="371773"/>
          </a:xfrm>
          <a:prstGeom prst="rect">
            <a:avLst/>
          </a:prstGeom>
          <a:noFill/>
          <a:ln/>
        </p:spPr>
        <p:txBody>
          <a:bodyPr wrap="square" lIns="0" tIns="0" rIns="0" bIns="0" rtlCol="0" anchor="t"/>
          <a:lstStyle/>
          <a:p>
            <a:pPr algn="ctr" indent="0" marL="0">
              <a:lnSpc>
                <a:spcPts val="2928"/>
              </a:lnSpc>
              <a:buNone/>
            </a:pPr>
            <a:r>
              <a:rPr lang="en-US" sz="2400" dirty="0">
                <a:solidFill>
                  <a:srgbClr val="C8F23D"/>
                </a:solidFill>
                <a:latin typeface="Arial" pitchFamily="34" charset="0"/>
                <a:ea typeface="Arial" pitchFamily="34" charset="-122"/>
                <a:cs typeface="Arial" pitchFamily="34" charset="-120"/>
              </a:rPr>
              <a:t>→</a:t>
            </a:r>
            <a:endParaRPr lang="en-US" sz="2400" dirty="0"/>
          </a:p>
        </p:txBody>
      </p:sp>
      <p:sp>
        <p:nvSpPr>
          <p:cNvPr id="20" name="Text 18"/>
          <p:cNvSpPr/>
          <p:nvPr/>
        </p:nvSpPr>
        <p:spPr>
          <a:xfrm>
            <a:off x="7124700" y="1717030"/>
            <a:ext cx="1638300" cy="1096566"/>
          </a:xfrm>
          <a:prstGeom prst="roundRect">
            <a:avLst>
              <a:gd name="adj" fmla="val 16214"/>
            </a:avLst>
          </a:prstGeom>
          <a:solidFill>
            <a:srgbClr val="F49C86"/>
          </a:solidFill>
          <a:ln w="19050">
            <a:solidFill>
              <a:srgbClr val="30342E"/>
            </a:solidFill>
          </a:ln>
        </p:spPr>
        <p:txBody>
          <a:bodyPr wrap="square" rtlCol="0" anchor="ctr"/>
          <a:lstStyle/>
          <a:p>
            <a:pPr indent="0" marL="0">
              <a:buNone/>
            </a:pPr>
            <a:endParaRPr lang="en-US" dirty="0"/>
          </a:p>
        </p:txBody>
      </p:sp>
      <p:sp>
        <p:nvSpPr>
          <p:cNvPr id="21" name="Text 19"/>
          <p:cNvSpPr/>
          <p:nvPr/>
        </p:nvSpPr>
        <p:spPr>
          <a:xfrm>
            <a:off x="7334250" y="1926580"/>
            <a:ext cx="1243584"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1B1D19"/>
                </a:solidFill>
                <a:latin typeface="Arial" pitchFamily="34" charset="0"/>
                <a:ea typeface="Arial" pitchFamily="34" charset="-122"/>
                <a:cs typeface="Arial" pitchFamily="34" charset="-120"/>
              </a:rPr>
              <a:t>GUIDANCE</a:t>
            </a:r>
            <a:endParaRPr lang="en-US" sz="850" dirty="0"/>
          </a:p>
        </p:txBody>
      </p:sp>
      <p:sp>
        <p:nvSpPr>
          <p:cNvPr id="22" name="Text 20"/>
          <p:cNvSpPr/>
          <p:nvPr/>
        </p:nvSpPr>
        <p:spPr>
          <a:xfrm>
            <a:off x="7334250" y="2159645"/>
            <a:ext cx="1243584"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Validated AI</a:t>
            </a:r>
            <a:endParaRPr lang="en-US" sz="1500" dirty="0"/>
          </a:p>
        </p:txBody>
      </p:sp>
      <p:sp>
        <p:nvSpPr>
          <p:cNvPr id="23" name="Text 21"/>
          <p:cNvSpPr/>
          <p:nvPr/>
        </p:nvSpPr>
        <p:spPr>
          <a:xfrm>
            <a:off x="7334250" y="2445395"/>
            <a:ext cx="1243584"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1B1D19"/>
                </a:solidFill>
                <a:latin typeface="Arial" pitchFamily="34" charset="0"/>
                <a:ea typeface="Arial" pitchFamily="34" charset="-122"/>
                <a:cs typeface="Arial" pitchFamily="34" charset="-120"/>
              </a:rPr>
              <a:t>Explains, not scores</a:t>
            </a:r>
            <a:endParaRPr lang="en-US" sz="1000" dirty="0"/>
          </a:p>
        </p:txBody>
      </p:sp>
      <p:sp>
        <p:nvSpPr>
          <p:cNvPr id="24" name="Text 22"/>
          <p:cNvSpPr/>
          <p:nvPr/>
        </p:nvSpPr>
        <p:spPr>
          <a:xfrm>
            <a:off x="381000" y="3016746"/>
            <a:ext cx="1632049" cy="285155"/>
          </a:xfrm>
          <a:prstGeom prst="roundRect">
            <a:avLst>
              <a:gd name="adj" fmla="val 4449264"/>
            </a:avLst>
          </a:prstGeom>
          <a:solidFill>
            <a:srgbClr val="C8F23D"/>
          </a:solidFill>
          <a:ln w="9525">
            <a:solidFill>
              <a:srgbClr val="1B1D19"/>
            </a:solidFill>
          </a:ln>
        </p:spPr>
        <p:txBody>
          <a:bodyPr wrap="square" rtlCol="0" anchor="ctr"/>
          <a:lstStyle/>
          <a:p>
            <a:pPr indent="0" marL="0">
              <a:buNone/>
            </a:pPr>
            <a:endParaRPr lang="en-US" dirty="0"/>
          </a:p>
        </p:txBody>
      </p:sp>
      <p:sp>
        <p:nvSpPr>
          <p:cNvPr id="25" name="Text 23"/>
          <p:cNvSpPr/>
          <p:nvPr/>
        </p:nvSpPr>
        <p:spPr>
          <a:xfrm>
            <a:off x="517475" y="3089672"/>
            <a:ext cx="1386280"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DETERMINISTIC ENGINE</a:t>
            </a:r>
            <a:endParaRPr lang="en-US" sz="900" dirty="0"/>
          </a:p>
        </p:txBody>
      </p:sp>
      <p:sp>
        <p:nvSpPr>
          <p:cNvPr id="26" name="Text 24"/>
          <p:cNvSpPr/>
          <p:nvPr/>
        </p:nvSpPr>
        <p:spPr>
          <a:xfrm>
            <a:off x="2165449" y="3016746"/>
            <a:ext cx="1945035" cy="285155"/>
          </a:xfrm>
          <a:prstGeom prst="roundRect">
            <a:avLst>
              <a:gd name="adj" fmla="val 4449264"/>
            </a:avLst>
          </a:prstGeom>
          <a:solidFill>
            <a:srgbClr val="FFFFFF"/>
          </a:solidFill>
          <a:ln w="9525">
            <a:solidFill>
              <a:srgbClr val="1B1D19"/>
            </a:solidFill>
          </a:ln>
        </p:spPr>
        <p:txBody>
          <a:bodyPr wrap="square" rtlCol="0" anchor="ctr"/>
          <a:lstStyle/>
          <a:p>
            <a:pPr indent="0" marL="0">
              <a:buNone/>
            </a:pPr>
            <a:endParaRPr lang="en-US" dirty="0"/>
          </a:p>
        </p:txBody>
      </p:sp>
      <p:sp>
        <p:nvSpPr>
          <p:cNvPr id="27" name="Text 25"/>
          <p:cNvSpPr/>
          <p:nvPr/>
        </p:nvSpPr>
        <p:spPr>
          <a:xfrm>
            <a:off x="2301925" y="3089672"/>
            <a:ext cx="1705526"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SCHEMA-VALIDATED OUTPUT</a:t>
            </a:r>
            <a:endParaRPr lang="en-US" sz="900" dirty="0"/>
          </a:p>
        </p:txBody>
      </p:sp>
      <p:sp>
        <p:nvSpPr>
          <p:cNvPr id="28" name="Text 26"/>
          <p:cNvSpPr/>
          <p:nvPr/>
        </p:nvSpPr>
        <p:spPr>
          <a:xfrm>
            <a:off x="4262884" y="3016746"/>
            <a:ext cx="1627733" cy="285155"/>
          </a:xfrm>
          <a:prstGeom prst="roundRect">
            <a:avLst>
              <a:gd name="adj" fmla="val 4449264"/>
            </a:avLst>
          </a:prstGeom>
          <a:solidFill>
            <a:srgbClr val="72B56E"/>
          </a:solidFill>
          <a:ln w="9525">
            <a:solidFill>
              <a:srgbClr val="1B1D19"/>
            </a:solidFill>
          </a:ln>
        </p:spPr>
        <p:txBody>
          <a:bodyPr wrap="square" rtlCol="0" anchor="ctr"/>
          <a:lstStyle/>
          <a:p>
            <a:pPr indent="0" marL="0">
              <a:buNone/>
            </a:pPr>
            <a:endParaRPr lang="en-US" dirty="0"/>
          </a:p>
        </p:txBody>
      </p:sp>
      <p:sp>
        <p:nvSpPr>
          <p:cNvPr id="29" name="Text 27"/>
          <p:cNvSpPr/>
          <p:nvPr/>
        </p:nvSpPr>
        <p:spPr>
          <a:xfrm>
            <a:off x="4399359" y="3089672"/>
            <a:ext cx="1381878"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NOT A MEDICAL DEVICE</a:t>
            </a:r>
            <a:endParaRPr lang="en-US" sz="900" dirty="0"/>
          </a:p>
        </p:txBody>
      </p:sp>
      <p:sp>
        <p:nvSpPr>
          <p:cNvPr id="30" name="Text 28"/>
          <p:cNvSpPr/>
          <p:nvPr/>
        </p:nvSpPr>
        <p:spPr>
          <a:xfrm>
            <a:off x="381000" y="3492401"/>
            <a:ext cx="8382000" cy="475952"/>
          </a:xfrm>
          <a:prstGeom prst="roundRect">
            <a:avLst>
              <a:gd name="adj" fmla="val 37357"/>
            </a:avLst>
          </a:prstGeom>
          <a:solidFill>
            <a:srgbClr val="30342E"/>
          </a:solidFill>
          <a:ln w="19050">
            <a:solidFill>
              <a:srgbClr val="596057"/>
            </a:solidFill>
          </a:ln>
        </p:spPr>
        <p:txBody>
          <a:bodyPr wrap="square" rtlCol="0" anchor="ctr"/>
          <a:lstStyle/>
          <a:p>
            <a:pPr indent="0" marL="0">
              <a:buNone/>
            </a:pPr>
            <a:endParaRPr lang="en-US" dirty="0"/>
          </a:p>
        </p:txBody>
      </p:sp>
      <p:sp>
        <p:nvSpPr>
          <p:cNvPr id="31" name="Text 29"/>
          <p:cNvSpPr/>
          <p:nvPr/>
        </p:nvSpPr>
        <p:spPr>
          <a:xfrm>
            <a:off x="590550" y="3651052"/>
            <a:ext cx="8122158" cy="158651"/>
          </a:xfrm>
          <a:prstGeom prst="rect">
            <a:avLst/>
          </a:prstGeom>
          <a:noFill/>
          <a:ln/>
        </p:spPr>
        <p:txBody>
          <a:bodyPr wrap="square" lIns="0" tIns="0" rIns="0" bIns="0" rtlCol="0" anchor="t"/>
          <a:lstStyle/>
          <a:p>
            <a:pPr algn="l" indent="0" marL="0">
              <a:lnSpc>
                <a:spcPts val="1250"/>
              </a:lnSpc>
              <a:buNone/>
            </a:pPr>
            <a:r>
              <a:rPr lang="en-US" sz="1000" b="1" dirty="0">
                <a:solidFill>
                  <a:srgbClr val="F5F2E8"/>
                </a:solidFill>
                <a:latin typeface="Arial" pitchFamily="34" charset="0"/>
                <a:ea typeface="Arial" pitchFamily="34" charset="-122"/>
                <a:cs typeface="Arial" pitchFamily="34" charset="-120"/>
              </a:rPr>
              <a:t>Core challenge:</a:t>
            </a:r>
            <a:pPr algn="l" indent="0" marL="0">
              <a:lnSpc>
                <a:spcPts val="1250"/>
              </a:lnSpc>
              <a:buNone/>
            </a:pPr>
            <a:r>
              <a:rPr lang="en-US" sz="1000" dirty="0">
                <a:solidFill>
                  <a:srgbClr val="F5F2E8"/>
                </a:solidFill>
                <a:latin typeface="Arial" pitchFamily="34" charset="0"/>
                <a:ea typeface="Arial" pitchFamily="34" charset="-122"/>
                <a:cs typeface="Arial" pitchFamily="34" charset="-120"/>
              </a:rPr>
              <a:t> turning noisy lifestyle signals into useful guidance without overstating certainty.</a:t>
            </a:r>
            <a:endParaRPr lang="en-US" sz="1000" dirty="0"/>
          </a:p>
        </p:txBody>
      </p:sp>
      <p:sp>
        <p:nvSpPr>
          <p:cNvPr id="32" name="Text 30"/>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AEB5AA"/>
                </a:solidFill>
                <a:latin typeface="Arial" pitchFamily="34" charset="0"/>
                <a:ea typeface="Arial" pitchFamily="34" charset="-122"/>
                <a:cs typeface="Arial" pitchFamily="34" charset="-120"/>
              </a:rPr>
              <a:t>AKESO · ICON × LYRA HACKATHON 2026</a:t>
            </a:r>
            <a:endParaRPr lang="en-US" sz="750" dirty="0"/>
          </a:p>
        </p:txBody>
      </p:sp>
      <p:sp>
        <p:nvSpPr>
          <p:cNvPr id="33" name="Text 31"/>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AEB5AA"/>
                </a:solidFill>
                <a:latin typeface="Arial" pitchFamily="34" charset="0"/>
                <a:ea typeface="Arial" pitchFamily="34" charset="-122"/>
                <a:cs typeface="Arial" pitchFamily="34" charset="-120"/>
              </a:rPr>
              <a:t>08</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07 · THE TEAM</a:t>
            </a:r>
            <a:endParaRPr lang="en-US" sz="850" dirty="0"/>
          </a:p>
        </p:txBody>
      </p:sp>
      <p:sp>
        <p:nvSpPr>
          <p:cNvPr id="3" name="Text 1"/>
          <p:cNvSpPr/>
          <p:nvPr/>
        </p:nvSpPr>
        <p:spPr>
          <a:xfrm>
            <a:off x="381000" y="563166"/>
            <a:ext cx="5802734"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FOUR BUILDERS.</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ONE ENERGY SYSTEM.</a:t>
            </a:r>
            <a:endParaRPr lang="en-US" sz="3600" dirty="0"/>
          </a:p>
        </p:txBody>
      </p:sp>
      <p:sp>
        <p:nvSpPr>
          <p:cNvPr id="4" name="Text 2"/>
          <p:cNvSpPr/>
          <p:nvPr/>
        </p:nvSpPr>
        <p:spPr>
          <a:xfrm>
            <a:off x="6301791" y="1145828"/>
            <a:ext cx="2461209" cy="368052"/>
          </a:xfrm>
          <a:prstGeom prst="rect">
            <a:avLst/>
          </a:prstGeom>
          <a:noFill/>
          <a:ln/>
        </p:spPr>
        <p:txBody>
          <a:bodyPr wrap="square" lIns="0" tIns="0" rIns="0" bIns="50800" rtlCol="0" anchor="t"/>
          <a:lstStyle/>
          <a:p>
            <a:pPr algn="r" indent="0" marL="0">
              <a:lnSpc>
                <a:spcPts val="1250"/>
              </a:lnSpc>
              <a:buNone/>
            </a:pPr>
            <a:r>
              <a:rPr lang="en-US" sz="1000" dirty="0">
                <a:solidFill>
                  <a:srgbClr val="667066"/>
                </a:solidFill>
                <a:latin typeface="Arial" pitchFamily="34" charset="0"/>
                <a:ea typeface="Arial" pitchFamily="34" charset="-122"/>
                <a:cs typeface="Arial" pitchFamily="34" charset="-120"/>
              </a:rPr>
              <a:t>Full-stack · algorithms · architecture · marketing</a:t>
            </a:r>
            <a:endParaRPr lang="en-US" sz="1000" dirty="0"/>
          </a:p>
        </p:txBody>
      </p:sp>
      <p:sp>
        <p:nvSpPr>
          <p:cNvPr id="5" name="Text 3"/>
          <p:cNvSpPr/>
          <p:nvPr/>
        </p:nvSpPr>
        <p:spPr>
          <a:xfrm>
            <a:off x="1606600" y="1615380"/>
            <a:ext cx="5930801" cy="3416201"/>
          </a:xfrm>
          <a:prstGeom prst="roundRect">
            <a:avLst>
              <a:gd name="adj" fmla="val 5205"/>
            </a:avLst>
          </a:prstGeom>
          <a:solidFill>
            <a:srgbClr val="FFFFFF"/>
          </a:solidFill>
          <a:ln w="19050">
            <a:solidFill>
              <a:srgbClr val="30342E"/>
            </a:solidFill>
          </a:ln>
        </p:spPr>
        <p:txBody>
          <a:bodyPr wrap="square" rtlCol="0" anchor="ctr"/>
          <a:lstStyle/>
          <a:p>
            <a:pPr indent="0" marL="0">
              <a:buNone/>
            </a:pPr>
            <a:endParaRPr lang="en-US" dirty="0"/>
          </a:p>
        </p:txBody>
      </p:sp>
      <p:pic>
        <p:nvPicPr>
          <p:cNvPr id="6" name="Image 0" descr="/Users/edwinj/Edwin/second-brain/01-projects/UNSWHac/pitch/team-introduction-pixel-art-v5-distinct-faces.png">    </p:cNvPr>
          <p:cNvPicPr>
            <a:picLocks noChangeAspect="1"/>
          </p:cNvPicPr>
          <p:nvPr/>
        </p:nvPicPr>
        <p:blipFill>
          <a:blip r:embed="rId1"/>
          <a:stretch>
            <a:fillRect/>
          </a:stretch>
        </p:blipFill>
        <p:spPr>
          <a:xfrm>
            <a:off x="1701850" y="1710630"/>
            <a:ext cx="5740301" cy="3225701"/>
          </a:xfrm>
          <a:prstGeom prst="rect">
            <a:avLst/>
          </a:prstGeom>
        </p:spPr>
      </p:pic>
      <p:sp>
        <p:nvSpPr>
          <p:cNvPr id="7" name="Text 4"/>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8" name="Text 5"/>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09</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72B56E"/>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08 · WHAT’S NEXT</a:t>
            </a:r>
            <a:endParaRPr lang="en-US" sz="850" dirty="0"/>
          </a:p>
        </p:txBody>
      </p:sp>
      <p:sp>
        <p:nvSpPr>
          <p:cNvPr id="4" name="Text 2"/>
          <p:cNvSpPr/>
          <p:nvPr/>
        </p:nvSpPr>
        <p:spPr>
          <a:xfrm>
            <a:off x="381000" y="845641"/>
            <a:ext cx="5682505" cy="1743521"/>
          </a:xfrm>
          <a:prstGeom prst="rect">
            <a:avLst/>
          </a:prstGeom>
          <a:noFill/>
          <a:ln/>
        </p:spPr>
        <p:txBody>
          <a:bodyPr wrap="square" lIns="0" tIns="0" rIns="0" bIns="0" rtlCol="0" anchor="t"/>
          <a:lstStyle/>
          <a:p>
            <a:pPr algn="l" indent="0" marL="0">
              <a:lnSpc>
                <a:spcPts val="4576"/>
              </a:lnSpc>
              <a:buNone/>
            </a:pPr>
            <a:r>
              <a:rPr lang="en-US" sz="4400" dirty="0">
                <a:solidFill>
                  <a:srgbClr val="1B1D19"/>
                </a:solidFill>
                <a:latin typeface="Georgia" pitchFamily="34" charset="0"/>
                <a:ea typeface="Georgia" pitchFamily="34" charset="-122"/>
                <a:cs typeface="Georgia" pitchFamily="34" charset="-120"/>
              </a:rPr>
              <a:t>UNDERSTAND</a:t>
            </a:r>
            <a:endParaRPr lang="en-US" sz="4400" dirty="0"/>
          </a:p>
          <a:p>
            <a:pPr algn="l" indent="0" marL="0">
              <a:lnSpc>
                <a:spcPts val="4576"/>
              </a:lnSpc>
              <a:buNone/>
            </a:pPr>
            <a:r>
              <a:rPr lang="en-US" sz="4400" dirty="0">
                <a:solidFill>
                  <a:srgbClr val="1B1D19"/>
                </a:solidFill>
                <a:latin typeface="Georgia" pitchFamily="34" charset="0"/>
                <a:ea typeface="Georgia" pitchFamily="34" charset="-122"/>
                <a:cs typeface="Georgia" pitchFamily="34" charset="-120"/>
              </a:rPr>
              <a:t>YOUR ENERGY.</a:t>
            </a:r>
            <a:endParaRPr lang="en-US" sz="4400" dirty="0"/>
          </a:p>
          <a:p>
            <a:pPr algn="l" indent="0" marL="0">
              <a:lnSpc>
                <a:spcPts val="4576"/>
              </a:lnSpc>
              <a:buNone/>
            </a:pPr>
            <a:r>
              <a:rPr lang="en-US" sz="4400" dirty="0">
                <a:solidFill>
                  <a:srgbClr val="1B1D19"/>
                </a:solidFill>
                <a:latin typeface="Georgia" pitchFamily="34" charset="0"/>
                <a:ea typeface="Georgia" pitchFamily="34" charset="-122"/>
                <a:cs typeface="Georgia" pitchFamily="34" charset="-120"/>
              </a:rPr>
              <a:t>FEED IT BETTER.</a:t>
            </a:r>
            <a:endParaRPr lang="en-US" sz="4400" dirty="0"/>
          </a:p>
        </p:txBody>
      </p:sp>
      <p:sp>
        <p:nvSpPr>
          <p:cNvPr id="5" name="Text 3"/>
          <p:cNvSpPr/>
          <p:nvPr/>
        </p:nvSpPr>
        <p:spPr>
          <a:xfrm>
            <a:off x="381000" y="2792313"/>
            <a:ext cx="5311039" cy="464641"/>
          </a:xfrm>
          <a:prstGeom prst="rect">
            <a:avLst/>
          </a:prstGeom>
          <a:noFill/>
          <a:ln/>
        </p:spPr>
        <p:txBody>
          <a:bodyPr wrap="square" lIns="0" tIns="0" rIns="0" bIns="0" rtlCol="0" anchor="t"/>
          <a:lstStyle/>
          <a:p>
            <a:pPr algn="l" indent="0" marL="0">
              <a:lnSpc>
                <a:spcPts val="1830"/>
              </a:lnSpc>
              <a:spcBef>
                <a:spcPts val="1600"/>
              </a:spcBef>
              <a:buNone/>
            </a:pPr>
            <a:r>
              <a:rPr lang="en-US" sz="1500" b="1" dirty="0">
                <a:solidFill>
                  <a:srgbClr val="1B1D19"/>
                </a:solidFill>
                <a:latin typeface="Arial" pitchFamily="34" charset="0"/>
                <a:ea typeface="Arial" pitchFamily="34" charset="-122"/>
                <a:cs typeface="Arial" pitchFamily="34" charset="-120"/>
              </a:rPr>
              <a:t>A more accessible path to personalised energy and nutrition guidance.</a:t>
            </a:r>
            <a:endParaRPr lang="en-US" sz="1500" dirty="0"/>
          </a:p>
        </p:txBody>
      </p:sp>
      <p:sp>
        <p:nvSpPr>
          <p:cNvPr id="6" name="Text 4"/>
          <p:cNvSpPr/>
          <p:nvPr/>
        </p:nvSpPr>
        <p:spPr>
          <a:xfrm>
            <a:off x="381000" y="3485555"/>
            <a:ext cx="1663601" cy="285155"/>
          </a:xfrm>
          <a:prstGeom prst="roundRect">
            <a:avLst>
              <a:gd name="adj" fmla="val 4449264"/>
            </a:avLst>
          </a:prstGeom>
          <a:solidFill>
            <a:srgbClr val="F49C86"/>
          </a:solidFill>
          <a:ln w="9525">
            <a:solidFill>
              <a:srgbClr val="1B1D19"/>
            </a:solidFill>
          </a:ln>
        </p:spPr>
        <p:txBody>
          <a:bodyPr wrap="square" rtlCol="0" anchor="ctr"/>
          <a:lstStyle/>
          <a:p>
            <a:pPr indent="0" marL="0">
              <a:buNone/>
            </a:pPr>
            <a:endParaRPr lang="en-US" dirty="0"/>
          </a:p>
        </p:txBody>
      </p:sp>
      <p:sp>
        <p:nvSpPr>
          <p:cNvPr id="7" name="Text 5"/>
          <p:cNvSpPr/>
          <p:nvPr/>
        </p:nvSpPr>
        <p:spPr>
          <a:xfrm>
            <a:off x="517475" y="3558480"/>
            <a:ext cx="1418463"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NEXT · EMOTION COACH</a:t>
            </a:r>
            <a:endParaRPr lang="en-US" sz="900" dirty="0"/>
          </a:p>
        </p:txBody>
      </p:sp>
      <p:sp>
        <p:nvSpPr>
          <p:cNvPr id="8" name="Text 6"/>
          <p:cNvSpPr/>
          <p:nvPr/>
        </p:nvSpPr>
        <p:spPr>
          <a:xfrm>
            <a:off x="2146102" y="3485555"/>
            <a:ext cx="1610767" cy="285155"/>
          </a:xfrm>
          <a:prstGeom prst="roundRect">
            <a:avLst>
              <a:gd name="adj" fmla="val 4449264"/>
            </a:avLst>
          </a:prstGeom>
          <a:solidFill>
            <a:srgbClr val="FFFFFF"/>
          </a:solidFill>
          <a:ln w="9525">
            <a:solidFill>
              <a:srgbClr val="1B1D19"/>
            </a:solidFill>
          </a:ln>
        </p:spPr>
        <p:txBody>
          <a:bodyPr wrap="square" rtlCol="0" anchor="ctr"/>
          <a:lstStyle/>
          <a:p>
            <a:pPr indent="0" marL="0">
              <a:buNone/>
            </a:pPr>
            <a:endParaRPr lang="en-US" dirty="0"/>
          </a:p>
        </p:txBody>
      </p:sp>
      <p:sp>
        <p:nvSpPr>
          <p:cNvPr id="9" name="Text 7"/>
          <p:cNvSpPr/>
          <p:nvPr/>
        </p:nvSpPr>
        <p:spPr>
          <a:xfrm>
            <a:off x="2282577" y="3558480"/>
            <a:ext cx="1364572"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PHOTO FOOD LOGGING</a:t>
            </a:r>
            <a:endParaRPr lang="en-US" sz="900" dirty="0"/>
          </a:p>
        </p:txBody>
      </p:sp>
      <p:sp>
        <p:nvSpPr>
          <p:cNvPr id="10" name="Text 8"/>
          <p:cNvSpPr/>
          <p:nvPr/>
        </p:nvSpPr>
        <p:spPr>
          <a:xfrm>
            <a:off x="3858369" y="3485555"/>
            <a:ext cx="1380232" cy="285155"/>
          </a:xfrm>
          <a:prstGeom prst="roundRect">
            <a:avLst>
              <a:gd name="adj" fmla="val 4449264"/>
            </a:avLst>
          </a:prstGeom>
          <a:solidFill>
            <a:srgbClr val="F6EA7B"/>
          </a:solidFill>
          <a:ln w="9525">
            <a:solidFill>
              <a:srgbClr val="1B1D19"/>
            </a:solidFill>
          </a:ln>
        </p:spPr>
        <p:txBody>
          <a:bodyPr wrap="square" rtlCol="0" anchor="ctr"/>
          <a:lstStyle/>
          <a:p>
            <a:pPr indent="0" marL="0">
              <a:buNone/>
            </a:pPr>
            <a:endParaRPr lang="en-US" dirty="0"/>
          </a:p>
        </p:txBody>
      </p:sp>
      <p:sp>
        <p:nvSpPr>
          <p:cNvPr id="11" name="Text 9"/>
          <p:cNvSpPr/>
          <p:nvPr/>
        </p:nvSpPr>
        <p:spPr>
          <a:xfrm>
            <a:off x="3994845" y="3558480"/>
            <a:ext cx="1129427"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WEEKLY PATTERNS</a:t>
            </a:r>
            <a:endParaRPr lang="en-US" sz="900" dirty="0"/>
          </a:p>
        </p:txBody>
      </p:sp>
      <p:sp>
        <p:nvSpPr>
          <p:cNvPr id="12" name="Text 10"/>
          <p:cNvSpPr/>
          <p:nvPr/>
        </p:nvSpPr>
        <p:spPr>
          <a:xfrm>
            <a:off x="381000" y="3872210"/>
            <a:ext cx="1009650" cy="285155"/>
          </a:xfrm>
          <a:prstGeom prst="roundRect">
            <a:avLst>
              <a:gd name="adj" fmla="val 4449264"/>
            </a:avLst>
          </a:prstGeom>
          <a:solidFill>
            <a:srgbClr val="B9D7F2"/>
          </a:solidFill>
          <a:ln w="9525">
            <a:solidFill>
              <a:srgbClr val="1B1D19"/>
            </a:solidFill>
          </a:ln>
        </p:spPr>
        <p:txBody>
          <a:bodyPr wrap="square" rtlCol="0" anchor="ctr"/>
          <a:lstStyle/>
          <a:p>
            <a:pPr indent="0" marL="0">
              <a:buNone/>
            </a:pPr>
            <a:endParaRPr lang="en-US" dirty="0"/>
          </a:p>
        </p:txBody>
      </p:sp>
      <p:sp>
        <p:nvSpPr>
          <p:cNvPr id="13" name="Text 11"/>
          <p:cNvSpPr/>
          <p:nvPr/>
        </p:nvSpPr>
        <p:spPr>
          <a:xfrm>
            <a:off x="517475" y="3945136"/>
            <a:ext cx="751433"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WEARABLES</a:t>
            </a:r>
            <a:endParaRPr lang="en-US" sz="900" dirty="0"/>
          </a:p>
        </p:txBody>
      </p:sp>
      <p:sp>
        <p:nvSpPr>
          <p:cNvPr id="14" name="Text 12"/>
          <p:cNvSpPr/>
          <p:nvPr/>
        </p:nvSpPr>
        <p:spPr>
          <a:xfrm>
            <a:off x="1492151" y="3872210"/>
            <a:ext cx="2013198" cy="285155"/>
          </a:xfrm>
          <a:prstGeom prst="roundRect">
            <a:avLst>
              <a:gd name="adj" fmla="val 4449264"/>
            </a:avLst>
          </a:prstGeom>
          <a:solidFill>
            <a:srgbClr val="C8F23D"/>
          </a:solidFill>
          <a:ln w="9525">
            <a:solidFill>
              <a:srgbClr val="1B1D19"/>
            </a:solidFill>
          </a:ln>
        </p:spPr>
        <p:txBody>
          <a:bodyPr wrap="square" rtlCol="0" anchor="ctr"/>
          <a:lstStyle/>
          <a:p>
            <a:pPr indent="0" marL="0">
              <a:buNone/>
            </a:pPr>
            <a:endParaRPr lang="en-US" dirty="0"/>
          </a:p>
        </p:txBody>
      </p:sp>
      <p:sp>
        <p:nvSpPr>
          <p:cNvPr id="15" name="Text 13"/>
          <p:cNvSpPr/>
          <p:nvPr/>
        </p:nvSpPr>
        <p:spPr>
          <a:xfrm>
            <a:off x="1628626" y="3945136"/>
            <a:ext cx="1775052"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EXPERT-REVIEWED GUIDANCE</a:t>
            </a:r>
            <a:endParaRPr lang="en-US" sz="900" dirty="0"/>
          </a:p>
        </p:txBody>
      </p:sp>
      <p:sp>
        <p:nvSpPr>
          <p:cNvPr id="16" name="Text 14"/>
          <p:cNvSpPr/>
          <p:nvPr/>
        </p:nvSpPr>
        <p:spPr>
          <a:xfrm>
            <a:off x="381000" y="4411266"/>
            <a:ext cx="5682505" cy="170408"/>
          </a:xfrm>
          <a:prstGeom prst="rect">
            <a:avLst/>
          </a:prstGeom>
          <a:noFill/>
          <a:ln/>
        </p:spPr>
        <p:txBody>
          <a:bodyPr wrap="square" lIns="0" tIns="0" rIns="0" bIns="0" rtlCol="0" anchor="t"/>
          <a:lstStyle/>
          <a:p>
            <a:pPr algn="l" indent="0" marL="0">
              <a:lnSpc>
                <a:spcPts val="1342"/>
              </a:lnSpc>
              <a:spcBef>
                <a:spcPts val="2000"/>
              </a:spcBef>
              <a:buNone/>
            </a:pPr>
            <a:r>
              <a:rPr lang="en-US" sz="1100" b="1" dirty="0">
                <a:solidFill>
                  <a:srgbClr val="1B1D19"/>
                </a:solidFill>
                <a:latin typeface="Arial" pitchFamily="34" charset="0"/>
                <a:ea typeface="Arial" pitchFamily="34" charset="-122"/>
                <a:cs typeface="Arial" pitchFamily="34" charset="-120"/>
              </a:rPr>
              <a:t>github.com/EdwinjJ1/akeso</a:t>
            </a:r>
            <a:endParaRPr lang="en-US" sz="1100" dirty="0"/>
          </a:p>
        </p:txBody>
      </p:sp>
      <p:sp>
        <p:nvSpPr>
          <p:cNvPr id="17" name="Text 15"/>
          <p:cNvSpPr/>
          <p:nvPr/>
        </p:nvSpPr>
        <p:spPr>
          <a:xfrm>
            <a:off x="6383834" y="1157883"/>
            <a:ext cx="2379166" cy="3111401"/>
          </a:xfrm>
          <a:prstGeom prst="roundRect">
            <a:avLst>
              <a:gd name="adj" fmla="val 16014"/>
            </a:avLst>
          </a:prstGeom>
          <a:solidFill>
            <a:srgbClr val="1B1D19"/>
          </a:solidFill>
          <a:ln w="19050">
            <a:solidFill>
              <a:srgbClr val="1B1D19"/>
            </a:solidFill>
          </a:ln>
        </p:spPr>
        <p:txBody>
          <a:bodyPr wrap="square" rtlCol="0" anchor="ctr"/>
          <a:lstStyle/>
          <a:p>
            <a:pPr indent="0" marL="0">
              <a:buNone/>
            </a:pPr>
            <a:endParaRPr lang="en-US" dirty="0"/>
          </a:p>
        </p:txBody>
      </p:sp>
      <p:pic>
        <p:nvPicPr>
          <p:cNvPr id="18" name="Image 0" descr="/Users/edwinj/Edwin/second-brain/01-projects/UNSWHac/pitch/assets/mascot-celebrate.png">    </p:cNvPr>
          <p:cNvPicPr>
            <a:picLocks noChangeAspect="1"/>
          </p:cNvPicPr>
          <p:nvPr/>
        </p:nvPicPr>
        <p:blipFill>
          <a:blip r:embed="rId1"/>
          <a:stretch>
            <a:fillRect/>
          </a:stretch>
        </p:blipFill>
        <p:spPr>
          <a:xfrm>
            <a:off x="6239917" y="1583234"/>
            <a:ext cx="2667000" cy="2667000"/>
          </a:xfrm>
          <a:prstGeom prst="rect">
            <a:avLst/>
          </a:prstGeom>
        </p:spPr>
      </p:pic>
      <p:sp>
        <p:nvSpPr>
          <p:cNvPr id="19" name="Text 16"/>
          <p:cNvSpPr/>
          <p:nvPr/>
        </p:nvSpPr>
        <p:spPr>
          <a:xfrm>
            <a:off x="381000" y="4925913"/>
            <a:ext cx="2214679" cy="116086"/>
          </a:xfrm>
          <a:prstGeom prst="rect">
            <a:avLst/>
          </a:prstGeom>
          <a:noFill/>
          <a:ln/>
        </p:spPr>
        <p:txBody>
          <a:bodyPr wrap="square" lIns="0" tIns="0" rIns="0" bIns="0" rtlCol="0" anchor="t"/>
          <a:lstStyle/>
          <a:p>
            <a:pPr algn="l" indent="0" marL="0">
              <a:lnSpc>
                <a:spcPts val="915"/>
              </a:lnSpc>
              <a:buNone/>
            </a:pPr>
            <a:r>
              <a:rPr lang="en-US" sz="750" b="1" dirty="0">
                <a:solidFill>
                  <a:srgbClr val="1B1D19"/>
                </a:solidFill>
                <a:latin typeface="Arial" pitchFamily="34" charset="0"/>
                <a:ea typeface="Arial" pitchFamily="34" charset="-122"/>
                <a:cs typeface="Arial" pitchFamily="34" charset="-120"/>
              </a:rPr>
              <a:t>AKESO · LESS GRIND. BETTER TIMING.</a:t>
            </a:r>
            <a:endParaRPr lang="en-US" sz="750" dirty="0"/>
          </a:p>
        </p:txBody>
      </p:sp>
      <p:sp>
        <p:nvSpPr>
          <p:cNvPr id="20" name="Text 17"/>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1B1D19"/>
                </a:solidFill>
                <a:latin typeface="Arial" pitchFamily="34" charset="0"/>
                <a:ea typeface="Arial" pitchFamily="34" charset="-122"/>
                <a:cs typeface="Arial" pitchFamily="34" charset="-120"/>
              </a:rPr>
              <a:t>10</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ICON UNSW × Lyra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Akeso — Understand Your Energy. Feed It Better.</dc:title>
  <dc:subject>Akeso personal energy and nutrition coach pitch</dc:subject>
  <dc:creator>Akeso Team</dc:creator>
  <cp:lastModifiedBy>Akeso Team</cp:lastModifiedBy>
  <cp:revision>1</cp:revision>
  <dcterms:created xsi:type="dcterms:W3CDTF">2026-07-24T10:14:23Z</dcterms:created>
  <dcterms:modified xsi:type="dcterms:W3CDTF">2026-07-24T10:14:23Z</dcterms:modified>
</cp:coreProperties>
</file>
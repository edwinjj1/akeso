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2078ddfb4640ff" /><Relationship Type="http://schemas.openxmlformats.org/officeDocument/2006/relationships/extended-properties" Target="/docProps/app.xml" Id="R691e0f05723e487f" /><Relationship Type="http://schemas.openxmlformats.org/officeDocument/2006/relationships/officeDocument" Target="/ppt/presentation.xml" Id="R861d156573c54506" /></Relationships>
</file>

<file path=ppt/presentation.xml><?xml version="1.0" encoding="utf-8"?>
<p:presentation xmlns:p="http://schemas.openxmlformats.org/presentationml/2006/main">
  <p:sldMasterIdLst>
    <p:sldMasterId xmlns:r="http://schemas.openxmlformats.org/officeDocument/2006/relationships" id="2147483648" r:id="R0e8f993a43fe4c86"/>
  </p:sldMasterIdLst>
  <p:notesMasterIdLst>
    <p:notesMasterId xmlns:r="http://schemas.openxmlformats.org/officeDocument/2006/relationships" r:id="Rdfaf17e41d2e45d4"/>
  </p:notesMasterIdLst>
  <p:sldIdLst>
    <p:sldId xmlns:r="http://schemas.openxmlformats.org/officeDocument/2006/relationships" id="256" r:id="R19743be632a94770"/>
    <p:sldId xmlns:r="http://schemas.openxmlformats.org/officeDocument/2006/relationships" id="257" r:id="R39e71e5e21c44b00"/>
    <p:sldId xmlns:r="http://schemas.openxmlformats.org/officeDocument/2006/relationships" id="258" r:id="R1f0d7e6731bb4cc3"/>
    <p:sldId xmlns:r="http://schemas.openxmlformats.org/officeDocument/2006/relationships" id="259" r:id="Rb274ea02dcfb4775"/>
    <p:sldId xmlns:r="http://schemas.openxmlformats.org/officeDocument/2006/relationships" id="260" r:id="Rbd86648f58f4424e"/>
    <p:sldId xmlns:r="http://schemas.openxmlformats.org/officeDocument/2006/relationships" id="261" r:id="R43c3871acc6e46b0"/>
    <p:sldId xmlns:r="http://schemas.openxmlformats.org/officeDocument/2006/relationships" id="262" r:id="R162088333b6a4c2c"/>
    <p:sldId xmlns:r="http://schemas.openxmlformats.org/officeDocument/2006/relationships" id="263" r:id="Raf26490ff19943bb"/>
    <p:sldId xmlns:r="http://schemas.openxmlformats.org/officeDocument/2006/relationships" id="264" r:id="R3d3436af4d9946af"/>
    <p:sldId xmlns:r="http://schemas.openxmlformats.org/officeDocument/2006/relationships" id="265" r:id="Rcf7e5c59209c434a"/>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25b096a959f444b" /><Relationship Type="http://schemas.openxmlformats.org/officeDocument/2006/relationships/slideMaster" Target="/ppt/slideMasters/slideMaster1.xml" Id="R0e8f993a43fe4c86" /><Relationship Type="http://schemas.openxmlformats.org/officeDocument/2006/relationships/notesMaster" Target="/ppt/notesMasters/notesMaster1.xml" Id="Rdfaf17e41d2e45d4" /><Relationship Type="http://schemas.openxmlformats.org/officeDocument/2006/relationships/presProps" Target="/ppt/presProps.xml" Id="R56177a9914b44d89" /><Relationship Type="http://schemas.openxmlformats.org/officeDocument/2006/relationships/viewProps" Target="/ppt/viewProps.xml" Id="R067ab0c74768497c" /><Relationship Type="http://schemas.openxmlformats.org/officeDocument/2006/relationships/tableStyles" Target="/ppt/tableStyles.xml" Id="Rbbbdaa57e69e4486" /><Relationship Type="http://schemas.openxmlformats.org/officeDocument/2006/relationships/slide" Target="/ppt/slides/slide1.xml" Id="R19743be632a94770" /><Relationship Type="http://schemas.openxmlformats.org/officeDocument/2006/relationships/slide" Target="/ppt/slides/slide2.xml" Id="R39e71e5e21c44b00" /><Relationship Type="http://schemas.openxmlformats.org/officeDocument/2006/relationships/slide" Target="/ppt/slides/slide3.xml" Id="R1f0d7e6731bb4cc3" /><Relationship Type="http://schemas.openxmlformats.org/officeDocument/2006/relationships/slide" Target="/ppt/slides/slide4.xml" Id="Rb274ea02dcfb4775" /><Relationship Type="http://schemas.openxmlformats.org/officeDocument/2006/relationships/slide" Target="/ppt/slides/slide5.xml" Id="Rbd86648f58f4424e" /><Relationship Type="http://schemas.openxmlformats.org/officeDocument/2006/relationships/slide" Target="/ppt/slides/slide6.xml" Id="R43c3871acc6e46b0" /><Relationship Type="http://schemas.openxmlformats.org/officeDocument/2006/relationships/slide" Target="/ppt/slides/slide7.xml" Id="R162088333b6a4c2c" /><Relationship Type="http://schemas.openxmlformats.org/officeDocument/2006/relationships/slide" Target="/ppt/slides/slide8.xml" Id="Raf26490ff19943bb" /><Relationship Type="http://schemas.openxmlformats.org/officeDocument/2006/relationships/slide" Target="/ppt/slides/slide9.xml" Id="R3d3436af4d9946af" /><Relationship Type="http://schemas.openxmlformats.org/officeDocument/2006/relationships/slide" Target="/ppt/slides/slide10.xml" Id="Rcf7e5c59209c43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5000a525d24c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98c58ebb94dc4" /><Relationship Type="http://schemas.openxmlformats.org/officeDocument/2006/relationships/notesMaster" Target="/ppt/notesMasters/notesMaster1.xml" Id="R3fba954c7f6841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d7ee30bc0c4062" /><Relationship Type="http://schemas.openxmlformats.org/officeDocument/2006/relationships/notesMaster" Target="/ppt/notesMasters/notesMaster1.xml" Id="Rdefd6326da3f48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21b8c452e1412e" /><Relationship Type="http://schemas.openxmlformats.org/officeDocument/2006/relationships/notesMaster" Target="/ppt/notesMasters/notesMaster1.xml" Id="R7478cbf6154e42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499413c964426b" /><Relationship Type="http://schemas.openxmlformats.org/officeDocument/2006/relationships/notesMaster" Target="/ppt/notesMasters/notesMaster1.xml" Id="R73269d1f8db141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8e76e75afd4c84" /><Relationship Type="http://schemas.openxmlformats.org/officeDocument/2006/relationships/notesMaster" Target="/ppt/notesMasters/notesMaster1.xml" Id="R1f21f9cb31c248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8a61c1e1ac419a" /><Relationship Type="http://schemas.openxmlformats.org/officeDocument/2006/relationships/notesMaster" Target="/ppt/notesMasters/notesMaster1.xml" Id="R28d2a6ad6bba41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d048853cea4b92" /><Relationship Type="http://schemas.openxmlformats.org/officeDocument/2006/relationships/notesMaster" Target="/ppt/notesMasters/notesMaster1.xml" Id="Rb4e4032dc57c4c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e699fdb8c344fc" /><Relationship Type="http://schemas.openxmlformats.org/officeDocument/2006/relationships/notesMaster" Target="/ppt/notesMasters/notesMaster1.xml" Id="R3795d33aec5646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6a6cef6a1c4238" /><Relationship Type="http://schemas.openxmlformats.org/officeDocument/2006/relationships/notesMaster" Target="/ppt/notesMasters/notesMaster1.xml" Id="R6dc8d3af403b42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a9a8901cb848f6" /><Relationship Type="http://schemas.openxmlformats.org/officeDocument/2006/relationships/notesMaster" Target="/ppt/notesMasters/notesMaster1.xml" Id="Rc8dd3ca4fd1647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believe most teams here have built an app, a website, or a tool to help people save time. Akeso does that too. But our bigger goal is to give people back time they already have, yet cannot use. A free hour is not useful if you have no energy, focus, or emotional capacity to act. Akeso is an explainable energy and nutrition coach that turns plans into action.</a:t>
            </a:r>
          </a:p>
          <a:p xmlns:a="http://schemas.openxmlformats.org/drawingml/2006/main">
            <a:r>
              <a:t/>
            </a:r>
          </a:p>
          <a:p xmlns:a="http://schemas.openxmlformats.org/drawingml/2006/main">
            <a:r>
              <a:t>[Sources]</a:t>
            </a:r>
          </a:p>
          <a:p xmlns:a="http://schemas.openxmlformats.org/drawingml/2006/main">
            <a:r>
              <a:t>- Internal project overview: README.md</a:t>
            </a:r>
          </a:p>
          <a:p xmlns:a="http://schemas.openxmlformats.org/drawingml/2006/main">
            <a:r>
              <a:t>- Product screenshots and mascot inherited from the team-provided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These memes exaggerate two extremes: your body feels like an alarm, or suddenly everything feels easy. We are not claiming to measure cortisol. The serious question underneath the joke is this: why can the same person have a plan on both days, but only have the energy to execute it on one of them?</a:t>
            </a:r>
          </a:p>
          <a:p xmlns:a="http://schemas.openxmlformats.org/drawingml/2006/main">
            <a:r>
              <a:t/>
            </a:r>
          </a:p>
          <a:p xmlns:a="http://schemas.openxmlformats.org/drawingml/2006/main">
            <a:r>
              <a:t>[Sources]</a:t>
            </a:r>
          </a:p>
          <a:p xmlns:a="http://schemas.openxmlformats.org/drawingml/2006/main">
            <a:r>
              <a:t>- Meme images inherited from the team-provided source deck; original public URLs were not recorded.</a:t>
            </a:r>
          </a:p>
          <a:p xmlns:a="http://schemas.openxmlformats.org/drawingml/2006/main">
            <a:r>
              <a:t>- Medical boundary: README.md and docs/API_CONTRACT.md.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Most people do not have a planning problem. They already know what they want to do. The hard part is execution. Imagine a student with five hours blocked out for work. Those five hours exist on the calendar. But after five hours of sleep, poor nutrition, dehydration, or a stressful morning, how many of those hours are genuinely usable? We cannot add hours to the clock. We can work on the gap between time available and capacity to act.</a:t>
            </a:r>
          </a:p>
          <a:p xmlns:a="http://schemas.openxmlformats.org/drawingml/2006/main">
            <a:r>
              <a:t/>
            </a:r>
          </a:p>
          <a:p xmlns:a="http://schemas.openxmlformats.org/drawingml/2006/main">
            <a:r>
              <a:t>[Sources]</a:t>
            </a:r>
          </a:p>
          <a:p xmlns:a="http://schemas.openxmlformats.org/drawingml/2006/main">
            <a:r>
              <a:t>- Illustrative scenario; no measured productivity outcome is claimed.</a:t>
            </a:r>
          </a:p>
          <a:p xmlns:a="http://schemas.openxmlformats.org/drawingml/2006/main">
            <a:r>
              <a:t>- Product framing: README.md and docs/superpowers/specs/2026-07-22-demo-video-script-design.md.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That is why tired does not mean lazy. Low energy is the visible outcome, but the signals around it are scattered. Food, sleep, hydration, stress, and mood can all shape the day someone experiences. Most productivity tools only see the task, so they treat every hour as identical. Akeso starts with the person who has to perform the task.</a:t>
            </a:r>
          </a:p>
          <a:p xmlns:a="http://schemas.openxmlformats.org/drawingml/2006/main">
            <a:r>
              <a:t/>
            </a:r>
          </a:p>
          <a:p xmlns:a="http://schemas.openxmlformats.org/drawingml/2006/main">
            <a:r>
              <a:t>[Sources]</a:t>
            </a:r>
          </a:p>
          <a:p xmlns:a="http://schemas.openxmlformats.org/drawingml/2006/main">
            <a:r>
              <a:t>- Product framing: README.md.</a:t>
            </a:r>
          </a:p>
          <a:p xmlns:a="http://schemas.openxmlformats.org/drawingml/2006/main">
            <a:r>
              <a:t>- Current and planned signal boundaries: docs/API_CONTRACT.md and docs/superpowers/specs/2026-07-22-demo-video-script-design.md.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Our solution is a personal energy and nutrition coach. In the MVP, Akeso connects a short daily check-in with an explainable energy picture, an energy-aware plan, and food guidance grounded in what the user actually has. It does not ask people to push harder. It helps them choose work, meals, and recovery that fit the day they actually have.</a:t>
            </a:r>
          </a:p>
          <a:p xmlns:a="http://schemas.openxmlformats.org/drawingml/2006/main">
            <a:r>
              <a:t/>
            </a:r>
          </a:p>
          <a:p xmlns:a="http://schemas.openxmlformats.org/drawingml/2006/main">
            <a:r>
              <a:t>[Sources]</a:t>
            </a:r>
          </a:p>
          <a:p xmlns:a="http://schemas.openxmlformats.org/drawingml/2006/main">
            <a:r>
              <a:t>- Current product flow: README.md.</a:t>
            </a:r>
          </a:p>
          <a:p xmlns:a="http://schemas.openxmlformats.org/drawingml/2006/main">
            <a:r>
              <a:t>- Energy, plan, and nutrition contracts: docs/API_CONTRACT.md.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experience has three steps. First, the user checks in with a few signals. Second, they calibrate the result. This is not a mysterious black-box score: the user’s reported energy anchors the deterministic score. If the result does not reflect how they feel, they update the check-in and Akeso recalculates it. Third, Akeso turns that state into a realistic next action—such as moving demanding work to a stronger window, or suggesting a meal from ingredients already available.</a:t>
            </a:r>
          </a:p>
          <a:p xmlns:a="http://schemas.openxmlformats.org/drawingml/2006/main">
            <a:r>
              <a:t/>
            </a:r>
          </a:p>
          <a:p xmlns:a="http://schemas.openxmlformats.org/drawingml/2006/main">
            <a:r>
              <a:t>[Sources]</a:t>
            </a:r>
          </a:p>
          <a:p xmlns:a="http://schemas.openxmlformats.org/drawingml/2006/main">
            <a:r>
              <a:t>- Scoring definition and user-reported energy mapping: docs/API_CONTRACT.md.</a:t>
            </a:r>
          </a:p>
          <a:p xmlns:a="http://schemas.openxmlformats.org/drawingml/2006/main">
            <a:r>
              <a:t>- Rolling check-in recalculation flow: docs/superpowers/specs/2026-07-21-rolling-checkin-design.md.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Personalised does not mean medicalised. Akeso does not diagnose iron deficiency from a meal log. It can identify a repeated pattern, explain it cautiously, suggest one realistic food option, and recommend professional advice when symptoms persist. The goal is useful guidance without pretending to be a doctor.</a:t>
            </a:r>
          </a:p>
          <a:p xmlns:a="http://schemas.openxmlformats.org/drawingml/2006/main">
            <a:r>
              <a:t/>
            </a:r>
          </a:p>
          <a:p xmlns:a="http://schemas.openxmlformats.org/drawingml/2006/main">
            <a:r>
              <a:t>[Sources]</a:t>
            </a:r>
          </a:p>
          <a:p xmlns:a="http://schemas.openxmlformats.org/drawingml/2006/main">
            <a:r>
              <a:t>- Safety and dietary-guidance rules: docs/API_CONTRACT.md.</a:t>
            </a:r>
          </a:p>
          <a:p xmlns:a="http://schemas.openxmlformats.org/drawingml/2006/main">
            <a:r>
              <a:t>- Product boundary: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Akeso gives time back in two ways. First, it removes daily decision friction. In our measured demo workflow, checking the calendar, ranking tasks, deciding what to eat, and building a plan took twelve minutes. Akeso reached the first useful recommendation in twenty-five seconds: eleven minutes and thirty-five seconds saved. That is one rehearsed workflow, not a population study, so wider user testing is our next validation step. Second, better timing helps people make more of the hours they already have.</a:t>
            </a:r>
          </a:p>
          <a:p xmlns:a="http://schemas.openxmlformats.org/drawingml/2006/main">
            <a:r>
              <a:t/>
            </a:r>
          </a:p>
          <a:p xmlns:a="http://schemas.openxmlformats.org/drawingml/2006/main">
            <a:r>
              <a:t>[Sources]</a:t>
            </a:r>
          </a:p>
          <a:p xmlns:a="http://schemas.openxmlformats.org/drawingml/2006/main">
            <a:r>
              <a:t>- Measured team demo workflow: docs/superpowers/specs/2026-07-22-demo-video-script-design.md.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Under the hood, the Expo app talks to an Express API backed by Supabase. Deterministic TypeScript services calculate the authoritative energy result and plan. AI can explain schema-validated guidance, but it does not invent the score. That separation is important: the same input produces a consistent result, and uncertainty is communicated instead of hidden.</a:t>
            </a:r>
          </a:p>
          <a:p xmlns:a="http://schemas.openxmlformats.org/drawingml/2006/main">
            <a:r>
              <a:t/>
            </a:r>
          </a:p>
          <a:p xmlns:a="http://schemas.openxmlformats.org/drawingml/2006/main">
            <a:r>
              <a:t>[Sources]</a:t>
            </a:r>
          </a:p>
          <a:p xmlns:a="http://schemas.openxmlformats.org/drawingml/2006/main">
            <a:r>
              <a:t>- Architecture overview: README.md.</a:t>
            </a:r>
          </a:p>
          <a:p xmlns:a="http://schemas.openxmlformats.org/drawingml/2006/main">
            <a:r>
              <a:t>- API and scoring contracts: docs/API_CONTRACT.md.</a:t>
            </a:r>
          </a:p>
          <a:p xmlns:a="http://schemas.openxmlformats.org/drawingml/2006/main">
            <a:r>
              <a:t>- Demo architecture narration: docs/superpowers/specs/2026-07-22-demo-video-script-design.md.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Today, Akeso connects daily energy, planning, and nutrition. Next, we want to deepen the picture with an emotion coach, faster food logging, wearables, weekly patterns, and expert-reviewed guidance. Most tools save a few minutes. Akeso aims to do something deeper: help people reclaim the hours they are currently unable to use. We do not ask people to grind harder. We help them understand their energy and use it at the right time. Akeso: less grind, better timing.</a:t>
            </a:r>
          </a:p>
          <a:p xmlns:a="http://schemas.openxmlformats.org/drawingml/2006/main">
            <a:r>
              <a:t/>
            </a:r>
          </a:p>
          <a:p xmlns:a="http://schemas.openxmlformats.org/drawingml/2006/main">
            <a:r>
              <a:t>[Sources]</a:t>
            </a:r>
          </a:p>
          <a:p xmlns:a="http://schemas.openxmlformats.org/drawingml/2006/main">
            <a:r>
              <a:t>- Current product and roadmap framing: README.md and the team-provided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f6d4bb85e34d2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7884825da44925" /><Relationship Type="http://schemas.openxmlformats.org/officeDocument/2006/relationships/slideLayout" Target="/ppt/slideLayouts/slideLayout1.xml" Id="Rf6e989d63e174b0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e989d63e174b0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ece357c7654c2d" /><Relationship Type="http://schemas.openxmlformats.org/officeDocument/2006/relationships/image" Target="/ppt/media/image.png" Id="Rfe8d424ed15f4f54" /><Relationship Type="http://schemas.openxmlformats.org/officeDocument/2006/relationships/notesSlide" Target="/ppt/notesSlides/notesSlide1.xml" Id="R04876c01a9e345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9dde41368b4a6b" /><Relationship Type="http://schemas.openxmlformats.org/officeDocument/2006/relationships/image" Target="/ppt/media/image.jpeg" Id="Re9dc408a04dc4de5" /><Relationship Type="http://schemas.openxmlformats.org/officeDocument/2006/relationships/image" Target="/ppt/media/image2.jpeg" Id="R63f6e86349b74d2f" /><Relationship Type="http://schemas.openxmlformats.org/officeDocument/2006/relationships/notesSlide" Target="/ppt/notesSlides/notesSlide2.xml" Id="R7fc7ff2e12a841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37477621584bc8" /><Relationship Type="http://schemas.openxmlformats.org/officeDocument/2006/relationships/notesSlide" Target="/ppt/notesSlides/notesSlide3.xml" Id="R875ac133f0af41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f52b8630824288" /><Relationship Type="http://schemas.openxmlformats.org/officeDocument/2006/relationships/image" Target="/ppt/media/image2.png" Id="Re94881a30e174657" /><Relationship Type="http://schemas.openxmlformats.org/officeDocument/2006/relationships/notesSlide" Target="/ppt/notesSlides/notesSlide4.xml" Id="R95c0846d0c9540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b56198c2a04d76" /><Relationship Type="http://schemas.openxmlformats.org/officeDocument/2006/relationships/image" Target="/ppt/media/image3.jpeg" Id="Rdf429f19bbb248d9" /><Relationship Type="http://schemas.openxmlformats.org/officeDocument/2006/relationships/notesSlide" Target="/ppt/notesSlides/notesSlide5.xml" Id="R8bd65d1dd9cf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209dda5d284dff" /><Relationship Type="http://schemas.openxmlformats.org/officeDocument/2006/relationships/image" Target="/ppt/media/image4.jpeg" Id="R7a5093abb63b4a80" /><Relationship Type="http://schemas.openxmlformats.org/officeDocument/2006/relationships/image" Target="/ppt/media/image5.jpeg" Id="Ra268c34a23464e41" /><Relationship Type="http://schemas.openxmlformats.org/officeDocument/2006/relationships/image" Target="/ppt/media/image6.jpeg" Id="R87435390a7d4437b" /><Relationship Type="http://schemas.openxmlformats.org/officeDocument/2006/relationships/notesSlide" Target="/ppt/notesSlides/notesSlide6.xml" Id="R1aa012dcaade44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0fd6aa736c4d6a" /><Relationship Type="http://schemas.openxmlformats.org/officeDocument/2006/relationships/image" Target="/ppt/media/image7.jpeg" Id="R48f280d70fee4028" /><Relationship Type="http://schemas.openxmlformats.org/officeDocument/2006/relationships/notesSlide" Target="/ppt/notesSlides/notesSlide7.xml" Id="Reeafdfc7c48d4c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0c0f19a10f4b8d" /><Relationship Type="http://schemas.openxmlformats.org/officeDocument/2006/relationships/notesSlide" Target="/ppt/notesSlides/notesSlide8.xml" Id="R1a19ccaa9a4f47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e580755cab4ec5" /><Relationship Type="http://schemas.openxmlformats.org/officeDocument/2006/relationships/notesSlide" Target="/ppt/notesSlides/notesSlide9.xml" Id="R384f501f9a4c44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05e980488c4e77" /><Relationship Type="http://schemas.openxmlformats.org/officeDocument/2006/relationships/image" Target="/ppt/media/image.png" Id="R29357d49415c49ca" /><Relationship Type="http://schemas.openxmlformats.org/officeDocument/2006/relationships/notesSlide" Target="/ppt/notesSlides/notesSlide10.xml" Id="R200b445383584de8" /></Relationships>
</file>

<file path=ppt/slides/slide1.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ACD5E7-8C50-4258-BEFC-FB11C0F5671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72B56E"/>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355BC5FC-4AD8-4F3B-8BE9-5C3030860DB2}"/>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AKESO · ICON × LYRA 2026</a:t>
            </a:r>
          </a:p>
        </p:txBody>
      </p:sp>
      <p:sp>
        <p:nvSpPr>
          <p:cNvPr id="4" name="Text 2">
            <a:extLst xmlns:a="http://schemas.openxmlformats.org/drawingml/2006/main">
              <a:ext uri="{FF2B5EF4-FFF2-40B4-BE49-F238E27FC236}">
                <a16:creationId xmlns:a16="http://schemas.microsoft.com/office/drawing/2014/main" id="{64DA351D-25BC-453D-92BB-B524A6BEE722}"/>
              </a:ext>
            </a:extLst>
          </p:cNvPr>
          <p:cNvSpPr>
            <a:spLocks xmlns:a="http://schemas.openxmlformats.org/drawingml/2006/main" noGrp="1"/>
          </p:cNvSpPr>
          <p:nvPr/>
        </p:nvSpPr>
        <p:spPr>
          <a:xfrm xmlns:a="http://schemas.openxmlformats.org/drawingml/2006/main">
            <a:off x="381000" y="801439"/>
            <a:ext cx="5682505" cy="175557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608"/>
              </a:lnSpc>
              <a:buNone/>
            </a:pPr>
            <a:r>
              <a:rPr sz="4800">
                <a:solidFill>
                  <a:srgbClr val="1B1D19"/>
                </a:solidFill>
                <a:latin typeface="Impact"/>
                <a:ea typeface="Impact"/>
                <a:cs typeface="Impact"/>
              </a:rPr>
              <a:t>RECLAIM</a:t>
            </a:r>
          </a:p>
          <a:p xmlns:a="http://schemas.openxmlformats.org/drawingml/2006/main">
            <a:pPr marL="0" indent="0" algn="l">
              <a:lnSpc>
                <a:spcPts val="4608"/>
              </a:lnSpc>
              <a:buNone/>
            </a:pPr>
            <a:r>
              <a:rPr sz="4800">
                <a:solidFill>
                  <a:srgbClr val="1B1D19"/>
                </a:solidFill>
                <a:latin typeface="Impact"/>
                <a:ea typeface="Impact"/>
                <a:cs typeface="Impact"/>
              </a:rPr>
              <a:t>YOUR USABLE</a:t>
            </a:r>
          </a:p>
          <a:p xmlns:a="http://schemas.openxmlformats.org/drawingml/2006/main">
            <a:pPr marL="0" indent="0" algn="l">
              <a:lnSpc>
                <a:spcPts val="4608"/>
              </a:lnSpc>
              <a:buNone/>
            </a:pPr>
            <a:r>
              <a:rPr sz="4800">
                <a:solidFill>
                  <a:srgbClr val="1B1D19"/>
                </a:solidFill>
                <a:latin typeface="Impact"/>
                <a:ea typeface="Impact"/>
                <a:cs typeface="Impact"/>
              </a:rPr>
              <a:t>TIME.</a:t>
            </a:r>
          </a:p>
        </p:txBody>
      </p:sp>
      <p:sp>
        <p:nvSpPr>
          <p:cNvPr id="5" name="Text 3">
            <a:extLst xmlns:a="http://schemas.openxmlformats.org/drawingml/2006/main">
              <a:ext uri="{FF2B5EF4-FFF2-40B4-BE49-F238E27FC236}">
                <a16:creationId xmlns:a16="http://schemas.microsoft.com/office/drawing/2014/main" id="{DF5693A6-C2B6-4B1E-AD96-9C90B2D7BDDE}"/>
              </a:ext>
            </a:extLst>
          </p:cNvPr>
          <p:cNvSpPr>
            <a:spLocks xmlns:a="http://schemas.openxmlformats.org/drawingml/2006/main" noGrp="1"/>
          </p:cNvSpPr>
          <p:nvPr/>
        </p:nvSpPr>
        <p:spPr>
          <a:xfrm xmlns:a="http://schemas.openxmlformats.org/drawingml/2006/main">
            <a:off x="381000" y="2785616"/>
            <a:ext cx="5311039" cy="464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30"/>
              </a:lnSpc>
              <a:spcBef>
                <a:spcPts val="1800"/>
              </a:spcBef>
              <a:buNone/>
            </a:pPr>
            <a:r>
              <a:rPr sz="1500" b="1">
                <a:solidFill>
                  <a:srgbClr val="1B1D19"/>
                </a:solidFill>
                <a:latin typeface="Arial"/>
                <a:ea typeface="Arial"/>
                <a:cs typeface="Arial"/>
              </a:rPr>
              <a:t>An explainable energy + nutrition coach that turns plans into action.</a:t>
            </a:r>
          </a:p>
        </p:txBody>
      </p:sp>
      <p:sp>
        <p:nvSpPr>
          <p:cNvPr id="6" name="Text 4">
            <a:extLst xmlns:a="http://schemas.openxmlformats.org/drawingml/2006/main">
              <a:ext uri="{FF2B5EF4-FFF2-40B4-BE49-F238E27FC236}">
                <a16:creationId xmlns:a16="http://schemas.microsoft.com/office/drawing/2014/main" id="{2D4AEF21-465C-4BB1-B7B6-13D82ABD487F}"/>
              </a:ext>
            </a:extLst>
          </p:cNvPr>
          <p:cNvSpPr>
            <a:spLocks xmlns:a="http://schemas.openxmlformats.org/drawingml/2006/main" noGrp="1"/>
          </p:cNvSpPr>
          <p:nvPr/>
        </p:nvSpPr>
        <p:spPr>
          <a:xfrm xmlns:a="http://schemas.openxmlformats.org/drawingml/2006/main">
            <a:off x="381000" y="3504158"/>
            <a:ext cx="1663601" cy="285155"/>
          </a:xfrm>
          <a:prstGeom xmlns:a="http://schemas.openxmlformats.org/drawingml/2006/main" prst="roundRect">
            <a:avLst>
              <a:gd name="adj" fmla="val 4449264"/>
            </a:avLst>
          </a:prstGeom>
          <a:solidFill xmlns:a="http://schemas.openxmlformats.org/drawingml/2006/main">
            <a:srgbClr val="F49C86"/>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7" name="Text 5">
            <a:extLst xmlns:a="http://schemas.openxmlformats.org/drawingml/2006/main">
              <a:ext uri="{FF2B5EF4-FFF2-40B4-BE49-F238E27FC236}">
                <a16:creationId xmlns:a16="http://schemas.microsoft.com/office/drawing/2014/main" id="{841DF23F-4998-47E1-95B9-2588C90EB0C3}"/>
              </a:ext>
            </a:extLst>
          </p:cNvPr>
          <p:cNvSpPr>
            <a:spLocks xmlns:a="http://schemas.openxmlformats.org/drawingml/2006/main" noGrp="1"/>
          </p:cNvSpPr>
          <p:nvPr/>
        </p:nvSpPr>
        <p:spPr>
          <a:xfrm xmlns:a="http://schemas.openxmlformats.org/drawingml/2006/main">
            <a:off x="517475" y="3577084"/>
            <a:ext cx="1418463"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ENERGY</a:t>
            </a:r>
          </a:p>
        </p:txBody>
      </p:sp>
      <p:sp>
        <p:nvSpPr>
          <p:cNvPr id="8" name="Text 6">
            <a:extLst xmlns:a="http://schemas.openxmlformats.org/drawingml/2006/main">
              <a:ext uri="{FF2B5EF4-FFF2-40B4-BE49-F238E27FC236}">
                <a16:creationId xmlns:a16="http://schemas.microsoft.com/office/drawing/2014/main" id="{87C19DFF-DBFD-4C97-8994-69FF41CC37F1}"/>
              </a:ext>
            </a:extLst>
          </p:cNvPr>
          <p:cNvSpPr>
            <a:spLocks xmlns:a="http://schemas.openxmlformats.org/drawingml/2006/main" noGrp="1"/>
          </p:cNvSpPr>
          <p:nvPr/>
        </p:nvSpPr>
        <p:spPr>
          <a:xfrm xmlns:a="http://schemas.openxmlformats.org/drawingml/2006/main">
            <a:off x="2146102" y="3504158"/>
            <a:ext cx="1610767" cy="285155"/>
          </a:xfrm>
          <a:prstGeom xmlns:a="http://schemas.openxmlformats.org/drawingml/2006/main" prst="roundRect">
            <a:avLst>
              <a:gd name="adj" fmla="val 4449264"/>
            </a:avLst>
          </a:prstGeom>
          <a:solidFill xmlns:a="http://schemas.openxmlformats.org/drawingml/2006/main">
            <a:srgbClr val="FFFFFF"/>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9" name="Text 7">
            <a:extLst xmlns:a="http://schemas.openxmlformats.org/drawingml/2006/main">
              <a:ext uri="{FF2B5EF4-FFF2-40B4-BE49-F238E27FC236}">
                <a16:creationId xmlns:a16="http://schemas.microsoft.com/office/drawing/2014/main" id="{5FC36850-4D29-4984-BD57-D1D3ED4E3B73}"/>
              </a:ext>
            </a:extLst>
          </p:cNvPr>
          <p:cNvSpPr>
            <a:spLocks xmlns:a="http://schemas.openxmlformats.org/drawingml/2006/main" noGrp="1"/>
          </p:cNvSpPr>
          <p:nvPr/>
        </p:nvSpPr>
        <p:spPr>
          <a:xfrm xmlns:a="http://schemas.openxmlformats.org/drawingml/2006/main">
            <a:off x="2282577" y="3577084"/>
            <a:ext cx="136457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NUTRITION</a:t>
            </a:r>
          </a:p>
        </p:txBody>
      </p:sp>
      <p:sp>
        <p:nvSpPr>
          <p:cNvPr id="10" name="Text 8">
            <a:extLst xmlns:a="http://schemas.openxmlformats.org/drawingml/2006/main">
              <a:ext uri="{FF2B5EF4-FFF2-40B4-BE49-F238E27FC236}">
                <a16:creationId xmlns:a16="http://schemas.microsoft.com/office/drawing/2014/main" id="{96729248-3016-49B8-9FF4-B8C852801D1D}"/>
              </a:ext>
            </a:extLst>
          </p:cNvPr>
          <p:cNvSpPr>
            <a:spLocks xmlns:a="http://schemas.openxmlformats.org/drawingml/2006/main" noGrp="1"/>
          </p:cNvSpPr>
          <p:nvPr/>
        </p:nvSpPr>
        <p:spPr>
          <a:xfrm xmlns:a="http://schemas.openxmlformats.org/drawingml/2006/main">
            <a:off x="3858369" y="3504158"/>
            <a:ext cx="1380232" cy="285155"/>
          </a:xfrm>
          <a:prstGeom xmlns:a="http://schemas.openxmlformats.org/drawingml/2006/main" prst="roundRect">
            <a:avLst>
              <a:gd name="adj" fmla="val 4449264"/>
            </a:avLst>
          </a:prstGeom>
          <a:solidFill xmlns:a="http://schemas.openxmlformats.org/drawingml/2006/main">
            <a:srgbClr val="F6EA7B"/>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1" name="Text 9">
            <a:extLst xmlns:a="http://schemas.openxmlformats.org/drawingml/2006/main">
              <a:ext uri="{FF2B5EF4-FFF2-40B4-BE49-F238E27FC236}">
                <a16:creationId xmlns:a16="http://schemas.microsoft.com/office/drawing/2014/main" id="{C453832B-8482-4BCF-A1D6-E85568718448}"/>
              </a:ext>
            </a:extLst>
          </p:cNvPr>
          <p:cNvSpPr>
            <a:spLocks xmlns:a="http://schemas.openxmlformats.org/drawingml/2006/main" noGrp="1"/>
          </p:cNvSpPr>
          <p:nvPr/>
        </p:nvSpPr>
        <p:spPr>
          <a:xfrm xmlns:a="http://schemas.openxmlformats.org/drawingml/2006/main">
            <a:off x="3994845" y="3577084"/>
            <a:ext cx="1129427"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PLANNING</a:t>
            </a:r>
          </a:p>
        </p:txBody>
      </p:sp>
      <p:sp>
        <p:nvSpPr>
          <p:cNvPr id="12" name="Text 10">
            <a:extLst xmlns:a="http://schemas.openxmlformats.org/drawingml/2006/main">
              <a:ext uri="{FF2B5EF4-FFF2-40B4-BE49-F238E27FC236}">
                <a16:creationId xmlns:a16="http://schemas.microsoft.com/office/drawing/2014/main" id="{E3460ED9-1004-46B7-8B0F-F0017561E214}"/>
              </a:ext>
            </a:extLst>
          </p:cNvPr>
          <p:cNvSpPr>
            <a:spLocks xmlns:a="http://schemas.openxmlformats.org/drawingml/2006/main" noGrp="1"/>
          </p:cNvSpPr>
          <p:nvPr/>
        </p:nvSpPr>
        <p:spPr>
          <a:xfrm xmlns:a="http://schemas.openxmlformats.org/drawingml/2006/main">
            <a:off x="381000" y="3890814"/>
            <a:ext cx="1009650" cy="285155"/>
          </a:xfrm>
          <a:prstGeom xmlns:a="http://schemas.openxmlformats.org/drawingml/2006/main" prst="roundRect">
            <a:avLst>
              <a:gd name="adj" fmla="val 4449264"/>
            </a:avLst>
          </a:prstGeom>
          <a:solidFill xmlns:a="http://schemas.openxmlformats.org/drawingml/2006/main">
            <a:srgbClr val="B9D7F2"/>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3" name="Text 11">
            <a:extLst xmlns:a="http://schemas.openxmlformats.org/drawingml/2006/main">
              <a:ext uri="{FF2B5EF4-FFF2-40B4-BE49-F238E27FC236}">
                <a16:creationId xmlns:a16="http://schemas.microsoft.com/office/drawing/2014/main" id="{19561A43-2D36-4E1D-8D8C-74A34F1183BF}"/>
              </a:ext>
            </a:extLst>
          </p:cNvPr>
          <p:cNvSpPr>
            <a:spLocks xmlns:a="http://schemas.openxmlformats.org/drawingml/2006/main" noGrp="1"/>
          </p:cNvSpPr>
          <p:nvPr/>
        </p:nvSpPr>
        <p:spPr>
          <a:xfrm xmlns:a="http://schemas.openxmlformats.org/drawingml/2006/main">
            <a:off x="517475" y="3963739"/>
            <a:ext cx="751433"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EXPLAINED</a:t>
            </a:r>
          </a:p>
        </p:txBody>
      </p:sp>
      <p:sp>
        <p:nvSpPr>
          <p:cNvPr id="14" name="Text 12">
            <a:extLst xmlns:a="http://schemas.openxmlformats.org/drawingml/2006/main">
              <a:ext uri="{FF2B5EF4-FFF2-40B4-BE49-F238E27FC236}">
                <a16:creationId xmlns:a16="http://schemas.microsoft.com/office/drawing/2014/main" id="{3DCC3C80-B70B-4257-8212-DF9CC08D41C9}"/>
              </a:ext>
            </a:extLst>
          </p:cNvPr>
          <p:cNvSpPr>
            <a:spLocks xmlns:a="http://schemas.openxmlformats.org/drawingml/2006/main" noGrp="1"/>
          </p:cNvSpPr>
          <p:nvPr/>
        </p:nvSpPr>
        <p:spPr>
          <a:xfrm xmlns:a="http://schemas.openxmlformats.org/drawingml/2006/main">
            <a:off x="1492151" y="3890814"/>
            <a:ext cx="2013198" cy="285155"/>
          </a:xfrm>
          <a:prstGeom xmlns:a="http://schemas.openxmlformats.org/drawingml/2006/main" prst="roundRect">
            <a:avLst>
              <a:gd name="adj" fmla="val 4449264"/>
            </a:avLst>
          </a:prstGeom>
          <a:solidFill xmlns:a="http://schemas.openxmlformats.org/drawingml/2006/main">
            <a:srgbClr val="C8F23D"/>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5" name="Text 13">
            <a:extLst xmlns:a="http://schemas.openxmlformats.org/drawingml/2006/main">
              <a:ext uri="{FF2B5EF4-FFF2-40B4-BE49-F238E27FC236}">
                <a16:creationId xmlns:a16="http://schemas.microsoft.com/office/drawing/2014/main" id="{16B5B314-7D15-4C86-9DFC-4E4C5B18BF07}"/>
              </a:ext>
            </a:extLst>
          </p:cNvPr>
          <p:cNvSpPr>
            <a:spLocks xmlns:a="http://schemas.openxmlformats.org/drawingml/2006/main" noGrp="1"/>
          </p:cNvSpPr>
          <p:nvPr/>
        </p:nvSpPr>
        <p:spPr>
          <a:xfrm xmlns:a="http://schemas.openxmlformats.org/drawingml/2006/main">
            <a:off x="1628626" y="3963739"/>
            <a:ext cx="177505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BUILT FOR STUDENTS</a:t>
            </a:r>
          </a:p>
        </p:txBody>
      </p:sp>
      <p:sp>
        <p:nvSpPr>
          <p:cNvPr id="16" name="Text 14">
            <a:extLst xmlns:a="http://schemas.openxmlformats.org/drawingml/2006/main">
              <a:ext uri="{FF2B5EF4-FFF2-40B4-BE49-F238E27FC236}">
                <a16:creationId xmlns:a16="http://schemas.microsoft.com/office/drawing/2014/main" id="{361107B9-83C6-4E30-97E1-A9BDA82C10B5}"/>
              </a:ext>
            </a:extLst>
          </p:cNvPr>
          <p:cNvSpPr>
            <a:spLocks xmlns:a="http://schemas.openxmlformats.org/drawingml/2006/main" noGrp="1"/>
          </p:cNvSpPr>
          <p:nvPr/>
        </p:nvSpPr>
        <p:spPr>
          <a:xfrm xmlns:a="http://schemas.openxmlformats.org/drawingml/2006/main">
            <a:off x="381000" y="4455319"/>
            <a:ext cx="5682505" cy="1704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42"/>
              </a:lnSpc>
              <a:spcBef>
                <a:spcPts val="2200"/>
              </a:spcBef>
              <a:buNone/>
            </a:pPr>
            <a:r>
              <a:rPr sz="1100" b="1">
                <a:solidFill>
                  <a:srgbClr val="1B1D19"/>
                </a:solidFill>
                <a:latin typeface="Arial"/>
                <a:ea typeface="Arial"/>
                <a:cs typeface="Arial"/>
              </a:rPr>
              <a:t>github.com/EdwinjJ1/akeso</a:t>
            </a:r>
          </a:p>
        </p:txBody>
      </p:sp>
      <p:sp>
        <p:nvSpPr>
          <p:cNvPr id="17" name="Text 15">
            <a:extLst xmlns:a="http://schemas.openxmlformats.org/drawingml/2006/main">
              <a:ext uri="{FF2B5EF4-FFF2-40B4-BE49-F238E27FC236}">
                <a16:creationId xmlns:a16="http://schemas.microsoft.com/office/drawing/2014/main" id="{687A336E-4614-4C61-A40E-7B9237932D64}"/>
              </a:ext>
            </a:extLst>
          </p:cNvPr>
          <p:cNvSpPr>
            <a:spLocks xmlns:a="http://schemas.openxmlformats.org/drawingml/2006/main" noGrp="1"/>
          </p:cNvSpPr>
          <p:nvPr/>
        </p:nvSpPr>
        <p:spPr>
          <a:xfrm xmlns:a="http://schemas.openxmlformats.org/drawingml/2006/main">
            <a:off x="6383834" y="1157883"/>
            <a:ext cx="2379166" cy="3111401"/>
          </a:xfrm>
          <a:prstGeom xmlns:a="http://schemas.openxmlformats.org/drawingml/2006/main" prst="roundRect">
            <a:avLst>
              <a:gd name="adj" fmla="val 16014"/>
            </a:avLst>
          </a:prstGeom>
          <a:solidFill xmlns:a="http://schemas.openxmlformats.org/drawingml/2006/main">
            <a:srgbClr val="1B1D19"/>
          </a:solidFill>
          <a:ln xmlns:a="http://schemas.openxmlformats.org/drawingml/2006/main" w="19050">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fe8d424ed15f4f54"/>
          <a:stretch xmlns:a="http://schemas.openxmlformats.org/drawingml/2006/main">
            <a:fillRect l="0" t="0" r="0" b="0"/>
          </a:stretch>
        </p:blipFill>
        <p:spPr>
          <a:xfrm xmlns:a="http://schemas.openxmlformats.org/drawingml/2006/main">
            <a:off x="6239917" y="1583234"/>
            <a:ext cx="2667000" cy="2667000"/>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20488771-D6A5-40F9-B28B-805D5607CAB7}"/>
              </a:ext>
            </a:extLst>
          </p:cNvPr>
          <p:cNvSpPr>
            <a:spLocks xmlns:a="http://schemas.openxmlformats.org/drawingml/2006/main" noGrp="1"/>
          </p:cNvSpPr>
          <p:nvPr/>
        </p:nvSpPr>
        <p:spPr>
          <a:xfrm xmlns:a="http://schemas.openxmlformats.org/drawingml/2006/main">
            <a:off x="381000" y="4925913"/>
            <a:ext cx="2214679"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1B1D19"/>
                </a:solidFill>
                <a:latin typeface="Arial"/>
                <a:ea typeface="Arial"/>
                <a:cs typeface="Arial"/>
              </a:rPr>
              <a:t>AKESO · LESS GRIND. BETTER TIMING.</a:t>
            </a:r>
          </a:p>
        </p:txBody>
      </p:sp>
      <p:sp>
        <p:nvSpPr>
          <p:cNvPr id="20" name="Text 17">
            <a:extLst xmlns:a="http://schemas.openxmlformats.org/drawingml/2006/main">
              <a:ext uri="{FF2B5EF4-FFF2-40B4-BE49-F238E27FC236}">
                <a16:creationId xmlns:a16="http://schemas.microsoft.com/office/drawing/2014/main" id="{FDC499F8-B89D-4670-BF4F-EB7547293875}"/>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1B1D19"/>
                </a:solidFill>
                <a:latin typeface="Arial"/>
                <a:ea typeface="Arial"/>
                <a:cs typeface="Arial"/>
              </a:rPr>
              <a:t>00</a:t>
            </a:r>
          </a:p>
        </p:txBody>
      </p:sp>
    </p:spTree>
    <p:extLst>
      <p:ext uri="{BB962C8B-B14F-4D97-AF65-F5344CB8AC3E}">
        <p14:creationId xmlns:p14="http://schemas.microsoft.com/office/powerpoint/2010/main" val="1457731347"/>
      </p:ext>
    </p:extLst>
  </p:cSld>
</p:sld>
</file>

<file path=ppt/slides/slide2.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6A5A5D-E05E-4B52-BF3B-3BDDDC23CBBA}"/>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THE PROBLEM, IN TWO MEMES</a:t>
            </a:r>
          </a:p>
        </p:txBody>
      </p:sp>
      <p:sp>
        <p:nvSpPr>
          <p:cNvPr id="3" name="Text 1">
            <a:extLst xmlns:a="http://schemas.openxmlformats.org/drawingml/2006/main">
              <a:ext uri="{FF2B5EF4-FFF2-40B4-BE49-F238E27FC236}">
                <a16:creationId xmlns:a16="http://schemas.microsoft.com/office/drawing/2014/main" id="{5288295C-A708-4C98-9A8C-F0ED377380B7}"/>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YOUR ENERGY IS TRYING</a:t>
            </a:r>
          </a:p>
          <a:p xmlns:a="http://schemas.openxmlformats.org/drawingml/2006/main">
            <a:pPr marL="0" indent="0" algn="l">
              <a:lnSpc>
                <a:spcPts val="3648"/>
              </a:lnSpc>
              <a:buNone/>
            </a:pPr>
            <a:r>
              <a:rPr sz="3800">
                <a:solidFill>
                  <a:srgbClr val="1B1D19"/>
                </a:solidFill>
                <a:latin typeface="Impact"/>
                <a:ea typeface="Impact"/>
                <a:cs typeface="Impact"/>
              </a:rPr>
              <a:t>TO TELL YOU SOMETHING.</a:t>
            </a:r>
          </a:p>
        </p:txBody>
      </p:sp>
      <p:sp>
        <p:nvSpPr>
          <p:cNvPr id="4" name="Text 2">
            <a:extLst xmlns:a="http://schemas.openxmlformats.org/drawingml/2006/main">
              <a:ext uri="{FF2B5EF4-FFF2-40B4-BE49-F238E27FC236}">
                <a16:creationId xmlns:a16="http://schemas.microsoft.com/office/drawing/2014/main" id="{73688957-2F57-4CF0-B51B-F8A23E329221}"/>
              </a:ext>
            </a:extLst>
          </p:cNvPr>
          <p:cNvSpPr>
            <a:spLocks xmlns:a="http://schemas.openxmlformats.org/drawingml/2006/main" noGrp="1"/>
          </p:cNvSpPr>
          <p:nvPr/>
        </p:nvSpPr>
        <p:spPr>
          <a:xfrm xmlns:a="http://schemas.openxmlformats.org/drawingml/2006/main">
            <a:off x="381000" y="1692920"/>
            <a:ext cx="4076700" cy="2806601"/>
          </a:xfrm>
          <a:prstGeom xmlns:a="http://schemas.openxmlformats.org/drawingml/2006/main" prst="roundRect">
            <a:avLst>
              <a:gd name="adj" fmla="val 6335"/>
            </a:avLst>
          </a:prstGeom>
          <a:solidFill xmlns:a="http://schemas.openxmlformats.org/drawingml/2006/main">
            <a:srgbClr val="F49C86"/>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e9dc408a04dc4de5"/>
          <a:stretch xmlns:a="http://schemas.openxmlformats.org/drawingml/2006/main">
            <a:fillRect l="0" t="0" r="0" b="0"/>
          </a:stretch>
        </p:blipFill>
        <p:spPr>
          <a:xfrm xmlns:a="http://schemas.openxmlformats.org/drawingml/2006/main">
            <a:off x="501551" y="1813471"/>
            <a:ext cx="3848100" cy="2197001"/>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155B262C-CF4C-4AE8-8FD3-C1D02B1B69B7}"/>
              </a:ext>
            </a:extLst>
          </p:cNvPr>
          <p:cNvSpPr>
            <a:spLocks xmlns:a="http://schemas.openxmlformats.org/drawingml/2006/main" noGrp="1"/>
          </p:cNvSpPr>
          <p:nvPr/>
        </p:nvSpPr>
        <p:spPr>
          <a:xfrm xmlns:a="http://schemas.openxmlformats.org/drawingml/2006/main">
            <a:off x="501551" y="4099322"/>
            <a:ext cx="3912310" cy="15478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20"/>
              </a:lnSpc>
              <a:spcBef>
                <a:spcPts val="700"/>
              </a:spcBef>
              <a:buNone/>
            </a:pPr>
            <a:r>
              <a:rPr sz="1000" b="1">
                <a:solidFill>
                  <a:srgbClr val="1B1D19"/>
                </a:solidFill>
                <a:latin typeface="Arial"/>
                <a:ea typeface="Arial"/>
                <a:cs typeface="Arial"/>
              </a:rPr>
              <a:t>WHEN YOUR BODY FEELS LIKE AN ALARM</a:t>
            </a:r>
          </a:p>
        </p:txBody>
      </p:sp>
      <p:sp>
        <p:nvSpPr>
          <p:cNvPr id="7" name="Text 4">
            <a:extLst xmlns:a="http://schemas.openxmlformats.org/drawingml/2006/main">
              <a:ext uri="{FF2B5EF4-FFF2-40B4-BE49-F238E27FC236}">
                <a16:creationId xmlns:a16="http://schemas.microsoft.com/office/drawing/2014/main" id="{887921E4-C1EF-4067-8484-979606E688F9}"/>
              </a:ext>
            </a:extLst>
          </p:cNvPr>
          <p:cNvSpPr>
            <a:spLocks xmlns:a="http://schemas.openxmlformats.org/drawingml/2006/main" noGrp="1"/>
          </p:cNvSpPr>
          <p:nvPr/>
        </p:nvSpPr>
        <p:spPr>
          <a:xfrm xmlns:a="http://schemas.openxmlformats.org/drawingml/2006/main">
            <a:off x="4686300" y="1692920"/>
            <a:ext cx="4076700" cy="2806601"/>
          </a:xfrm>
          <a:prstGeom xmlns:a="http://schemas.openxmlformats.org/drawingml/2006/main" prst="roundRect">
            <a:avLst>
              <a:gd name="adj" fmla="val 6335"/>
            </a:avLst>
          </a:prstGeom>
          <a:solidFill xmlns:a="http://schemas.openxmlformats.org/drawingml/2006/main">
            <a:srgbClr val="72B56E"/>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63f6e86349b74d2f"/>
          <a:stretch xmlns:a="http://schemas.openxmlformats.org/drawingml/2006/main">
            <a:fillRect l="0" t="0" r="0" b="0"/>
          </a:stretch>
        </p:blipFill>
        <p:spPr>
          <a:xfrm xmlns:a="http://schemas.openxmlformats.org/drawingml/2006/main">
            <a:off x="4806851" y="1813471"/>
            <a:ext cx="3848100" cy="2197001"/>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75B96331-3413-4876-97EF-D2D9E6527EF7}"/>
              </a:ext>
            </a:extLst>
          </p:cNvPr>
          <p:cNvSpPr>
            <a:spLocks xmlns:a="http://schemas.openxmlformats.org/drawingml/2006/main" noGrp="1"/>
          </p:cNvSpPr>
          <p:nvPr/>
        </p:nvSpPr>
        <p:spPr>
          <a:xfrm xmlns:a="http://schemas.openxmlformats.org/drawingml/2006/main">
            <a:off x="4806851" y="4099322"/>
            <a:ext cx="3912310" cy="15478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20"/>
              </a:lnSpc>
              <a:spcBef>
                <a:spcPts val="700"/>
              </a:spcBef>
              <a:buNone/>
            </a:pPr>
            <a:r>
              <a:rPr sz="1000" b="1">
                <a:solidFill>
                  <a:srgbClr val="1B1D19"/>
                </a:solidFill>
                <a:latin typeface="Arial"/>
                <a:ea typeface="Arial"/>
                <a:cs typeface="Arial"/>
              </a:rPr>
              <a:t>WHEN EVERYTHING FINALLY FEELS EASY</a:t>
            </a:r>
          </a:p>
        </p:txBody>
      </p:sp>
      <p:sp>
        <p:nvSpPr>
          <p:cNvPr id="10" name="Text 6">
            <a:extLst xmlns:a="http://schemas.openxmlformats.org/drawingml/2006/main">
              <a:ext uri="{FF2B5EF4-FFF2-40B4-BE49-F238E27FC236}">
                <a16:creationId xmlns:a16="http://schemas.microsoft.com/office/drawing/2014/main" id="{A450D9A4-7A16-4CB1-B50A-D0D81C3585A1}"/>
              </a:ext>
            </a:extLst>
          </p:cNvPr>
          <p:cNvSpPr>
            <a:spLocks xmlns:a="http://schemas.openxmlformats.org/drawingml/2006/main" noGrp="1"/>
          </p:cNvSpPr>
          <p:nvPr/>
        </p:nvSpPr>
        <p:spPr>
          <a:xfrm xmlns:a="http://schemas.openxmlformats.org/drawingml/2006/main">
            <a:off x="381000" y="4613821"/>
            <a:ext cx="854964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0"/>
              </a:lnSpc>
              <a:spcBef>
                <a:spcPts val="900"/>
              </a:spcBef>
              <a:buNone/>
            </a:pPr>
            <a:r>
              <a:rPr sz="750">
                <a:solidFill>
                  <a:srgbClr val="667066"/>
                </a:solidFill>
                <a:latin typeface="Arial"/>
                <a:ea typeface="Arial"/>
                <a:cs typeface="Arial"/>
              </a:rPr>
              <a:t>The memes are the hook — Akeso does not measure or diagnose cortisol.</a:t>
            </a:r>
          </a:p>
        </p:txBody>
      </p:sp>
      <p:sp>
        <p:nvSpPr>
          <p:cNvPr id="11" name="Text 7">
            <a:extLst xmlns:a="http://schemas.openxmlformats.org/drawingml/2006/main">
              <a:ext uri="{FF2B5EF4-FFF2-40B4-BE49-F238E27FC236}">
                <a16:creationId xmlns:a16="http://schemas.microsoft.com/office/drawing/2014/main" id="{28203C57-216F-4646-BA97-C59DF44E53F1}"/>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12" name="Text 8">
            <a:extLst xmlns:a="http://schemas.openxmlformats.org/drawingml/2006/main">
              <a:ext uri="{FF2B5EF4-FFF2-40B4-BE49-F238E27FC236}">
                <a16:creationId xmlns:a16="http://schemas.microsoft.com/office/drawing/2014/main" id="{F681099C-30C9-450A-A8F0-59B61D545294}"/>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01</a:t>
            </a:r>
          </a:p>
        </p:txBody>
      </p:sp>
    </p:spTree>
    <p:extLst>
      <p:ext uri="{BB962C8B-B14F-4D97-AF65-F5344CB8AC3E}">
        <p14:creationId xmlns:p14="http://schemas.microsoft.com/office/powerpoint/2010/main" val="1326157783"/>
      </p:ext>
    </p:extLst>
  </p:cSld>
</p:sld>
</file>

<file path=ppt/slides/slide3.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B32375-7D0D-48BC-8A99-CDC615F1E9C1}"/>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6EA7B"/>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DF892EC3-8704-45C4-A958-06FBE834EA45}"/>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THE EXECUTION GAP</a:t>
            </a:r>
          </a:p>
        </p:txBody>
      </p:sp>
      <p:sp>
        <p:nvSpPr>
          <p:cNvPr id="4" name="Text 2">
            <a:extLst xmlns:a="http://schemas.openxmlformats.org/drawingml/2006/main">
              <a:ext uri="{FF2B5EF4-FFF2-40B4-BE49-F238E27FC236}">
                <a16:creationId xmlns:a16="http://schemas.microsoft.com/office/drawing/2014/main" id="{A28F8A73-B293-4035-A0F4-A04720CA8B3A}"/>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TIME AVAILABLE</a:t>
            </a:r>
          </a:p>
          <a:p xmlns:a="http://schemas.openxmlformats.org/drawingml/2006/main">
            <a:pPr marL="0" indent="0" algn="l">
              <a:lnSpc>
                <a:spcPts val="3648"/>
              </a:lnSpc>
              <a:buNone/>
            </a:pPr>
            <a:r>
              <a:rPr sz="3800">
                <a:solidFill>
                  <a:srgbClr val="1B1D19"/>
                </a:solidFill>
                <a:latin typeface="Impact"/>
                <a:ea typeface="Impact"/>
                <a:cs typeface="Impact"/>
              </a:rPr>
              <a:t>ISN’T ALWAYS TIME USABLE.</a:t>
            </a:r>
          </a:p>
        </p:txBody>
      </p:sp>
      <p:sp>
        <p:nvSpPr>
          <p:cNvPr id="5" name="Text 3">
            <a:extLst xmlns:a="http://schemas.openxmlformats.org/drawingml/2006/main">
              <a:ext uri="{FF2B5EF4-FFF2-40B4-BE49-F238E27FC236}">
                <a16:creationId xmlns:a16="http://schemas.microsoft.com/office/drawing/2014/main" id="{4817B57E-7575-4F21-9EEE-DEB47E372E83}"/>
              </a:ext>
            </a:extLst>
          </p:cNvPr>
          <p:cNvSpPr>
            <a:spLocks xmlns:a="http://schemas.openxmlformats.org/drawingml/2006/main" noGrp="1"/>
          </p:cNvSpPr>
          <p:nvPr/>
        </p:nvSpPr>
        <p:spPr>
          <a:xfrm xmlns:a="http://schemas.openxmlformats.org/drawingml/2006/main">
            <a:off x="381000" y="1692920"/>
            <a:ext cx="3873401" cy="2095500"/>
          </a:xfrm>
          <a:prstGeom xmlns:a="http://schemas.openxmlformats.org/drawingml/2006/main" prst="roundRect">
            <a:avLst>
              <a:gd name="adj" fmla="val 8485"/>
            </a:avLst>
          </a:prstGeom>
          <a:solidFill xmlns:a="http://schemas.openxmlformats.org/drawingml/2006/main">
            <a:srgbClr val="FFFFFF"/>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6" name="Text 4">
            <a:extLst xmlns:a="http://schemas.openxmlformats.org/drawingml/2006/main">
              <a:ext uri="{FF2B5EF4-FFF2-40B4-BE49-F238E27FC236}">
                <a16:creationId xmlns:a16="http://schemas.microsoft.com/office/drawing/2014/main" id="{44FC3967-AA19-490B-9746-87EAE03D9A9E}"/>
              </a:ext>
            </a:extLst>
          </p:cNvPr>
          <p:cNvSpPr>
            <a:spLocks xmlns:a="http://schemas.openxmlformats.org/drawingml/2006/main" noGrp="1"/>
          </p:cNvSpPr>
          <p:nvPr/>
        </p:nvSpPr>
        <p:spPr>
          <a:xfrm xmlns:a="http://schemas.openxmlformats.org/drawingml/2006/main">
            <a:off x="628650" y="1902470"/>
            <a:ext cx="3445663"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PLANNED</a:t>
            </a:r>
          </a:p>
        </p:txBody>
      </p:sp>
      <p:sp>
        <p:nvSpPr>
          <p:cNvPr id="7" name="Text 5">
            <a:extLst xmlns:a="http://schemas.openxmlformats.org/drawingml/2006/main">
              <a:ext uri="{FF2B5EF4-FFF2-40B4-BE49-F238E27FC236}">
                <a16:creationId xmlns:a16="http://schemas.microsoft.com/office/drawing/2014/main" id="{3DD6207D-AFA6-41A6-8760-2D9D967FB9FF}"/>
              </a:ext>
            </a:extLst>
          </p:cNvPr>
          <p:cNvSpPr>
            <a:spLocks xmlns:a="http://schemas.openxmlformats.org/drawingml/2006/main" noGrp="1"/>
          </p:cNvSpPr>
          <p:nvPr/>
        </p:nvSpPr>
        <p:spPr>
          <a:xfrm xmlns:a="http://schemas.openxmlformats.org/drawingml/2006/main">
            <a:off x="628650" y="2135535"/>
            <a:ext cx="3445663" cy="622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900"/>
              </a:lnSpc>
              <a:buNone/>
            </a:pPr>
            <a:r>
              <a:rPr sz="4900">
                <a:solidFill>
                  <a:srgbClr val="1B1D19"/>
                </a:solidFill>
                <a:latin typeface="Impact"/>
                <a:ea typeface="Impact"/>
                <a:cs typeface="Impact"/>
              </a:rPr>
              <a:t>5:00</a:t>
            </a:r>
          </a:p>
        </p:txBody>
      </p:sp>
      <p:sp>
        <p:nvSpPr>
          <p:cNvPr id="8" name="Text 6">
            <a:extLst xmlns:a="http://schemas.openxmlformats.org/drawingml/2006/main">
              <a:ext uri="{FF2B5EF4-FFF2-40B4-BE49-F238E27FC236}">
                <a16:creationId xmlns:a16="http://schemas.microsoft.com/office/drawing/2014/main" id="{05B82503-CF89-4924-BC48-89E0C698A486}"/>
              </a:ext>
            </a:extLst>
          </p:cNvPr>
          <p:cNvSpPr>
            <a:spLocks xmlns:a="http://schemas.openxmlformats.org/drawingml/2006/main" noGrp="1"/>
          </p:cNvSpPr>
          <p:nvPr/>
        </p:nvSpPr>
        <p:spPr>
          <a:xfrm xmlns:a="http://schemas.openxmlformats.org/drawingml/2006/main">
            <a:off x="628650" y="3420219"/>
            <a:ext cx="3445663"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667066"/>
                </a:solidFill>
                <a:latin typeface="Arial"/>
                <a:ea typeface="Arial"/>
                <a:cs typeface="Arial"/>
              </a:rPr>
              <a:t>The plan exists. The hours are on the calendar.</a:t>
            </a:r>
          </a:p>
        </p:txBody>
      </p:sp>
      <p:sp>
        <p:nvSpPr>
          <p:cNvPr id="9" name="Text 7">
            <a:extLst xmlns:a="http://schemas.openxmlformats.org/drawingml/2006/main">
              <a:ext uri="{FF2B5EF4-FFF2-40B4-BE49-F238E27FC236}">
                <a16:creationId xmlns:a16="http://schemas.microsoft.com/office/drawing/2014/main" id="{462AF309-1E2B-4A66-A930-C197DFACB5C6}"/>
              </a:ext>
            </a:extLst>
          </p:cNvPr>
          <p:cNvSpPr>
            <a:spLocks xmlns:a="http://schemas.openxmlformats.org/drawingml/2006/main" noGrp="1"/>
          </p:cNvSpPr>
          <p:nvPr/>
        </p:nvSpPr>
        <p:spPr>
          <a:xfrm xmlns:a="http://schemas.openxmlformats.org/drawingml/2006/main">
            <a:off x="4483001" y="1692920"/>
            <a:ext cx="3873401" cy="2095500"/>
          </a:xfrm>
          <a:prstGeom xmlns:a="http://schemas.openxmlformats.org/drawingml/2006/main" prst="roundRect">
            <a:avLst>
              <a:gd name="adj" fmla="val 8485"/>
            </a:avLst>
          </a:prstGeom>
          <a:solidFill xmlns:a="http://schemas.openxmlformats.org/drawingml/2006/main">
            <a:srgbClr val="1B1D19"/>
          </a:solidFill>
          <a:ln xmlns:a="http://schemas.openxmlformats.org/drawingml/2006/main" w="47625">
            <a:solidFill>
              <a:srgbClr val="C8F23D"/>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0" name="Text 8">
            <a:extLst xmlns:a="http://schemas.openxmlformats.org/drawingml/2006/main">
              <a:ext uri="{FF2B5EF4-FFF2-40B4-BE49-F238E27FC236}">
                <a16:creationId xmlns:a16="http://schemas.microsoft.com/office/drawing/2014/main" id="{93925B04-99CD-4377-BE7E-D3D25FF3B35B}"/>
              </a:ext>
            </a:extLst>
          </p:cNvPr>
          <p:cNvSpPr>
            <a:spLocks xmlns:a="http://schemas.openxmlformats.org/drawingml/2006/main" noGrp="1"/>
          </p:cNvSpPr>
          <p:nvPr/>
        </p:nvSpPr>
        <p:spPr>
          <a:xfrm xmlns:a="http://schemas.openxmlformats.org/drawingml/2006/main">
            <a:off x="4759226" y="1931045"/>
            <a:ext cx="338737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C8F23D"/>
                </a:solidFill>
                <a:latin typeface="Arial"/>
                <a:ea typeface="Arial"/>
                <a:cs typeface="Arial"/>
              </a:rPr>
              <a:t>READY TO ACT</a:t>
            </a:r>
          </a:p>
        </p:txBody>
      </p:sp>
      <p:sp>
        <p:nvSpPr>
          <p:cNvPr id="11" name="Text 9">
            <a:extLst xmlns:a="http://schemas.openxmlformats.org/drawingml/2006/main">
              <a:ext uri="{FF2B5EF4-FFF2-40B4-BE49-F238E27FC236}">
                <a16:creationId xmlns:a16="http://schemas.microsoft.com/office/drawing/2014/main" id="{526560E0-F25C-4862-A1C5-B54E8B0C1754}"/>
              </a:ext>
            </a:extLst>
          </p:cNvPr>
          <p:cNvSpPr>
            <a:spLocks xmlns:a="http://schemas.openxmlformats.org/drawingml/2006/main" noGrp="1"/>
          </p:cNvSpPr>
          <p:nvPr/>
        </p:nvSpPr>
        <p:spPr>
          <a:xfrm xmlns:a="http://schemas.openxmlformats.org/drawingml/2006/main">
            <a:off x="4759226" y="2164110"/>
            <a:ext cx="3387370" cy="622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900"/>
              </a:lnSpc>
              <a:buNone/>
            </a:pPr>
            <a:r>
              <a:rPr sz="4900">
                <a:solidFill>
                  <a:srgbClr val="C8F23D"/>
                </a:solidFill>
                <a:latin typeface="Impact"/>
                <a:ea typeface="Impact"/>
                <a:cs typeface="Impact"/>
              </a:rPr>
              <a:t>?</a:t>
            </a:r>
          </a:p>
        </p:txBody>
      </p:sp>
      <p:sp>
        <p:nvSpPr>
          <p:cNvPr id="12" name="Text 10">
            <a:extLst xmlns:a="http://schemas.openxmlformats.org/drawingml/2006/main">
              <a:ext uri="{FF2B5EF4-FFF2-40B4-BE49-F238E27FC236}">
                <a16:creationId xmlns:a16="http://schemas.microsoft.com/office/drawing/2014/main" id="{719840F6-58A1-4534-B4EA-7FB6768F0EE8}"/>
              </a:ext>
            </a:extLst>
          </p:cNvPr>
          <p:cNvSpPr>
            <a:spLocks xmlns:a="http://schemas.openxmlformats.org/drawingml/2006/main" noGrp="1"/>
          </p:cNvSpPr>
          <p:nvPr/>
        </p:nvSpPr>
        <p:spPr>
          <a:xfrm xmlns:a="http://schemas.openxmlformats.org/drawingml/2006/main">
            <a:off x="4759226" y="3232993"/>
            <a:ext cx="3387370" cy="31730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DDE1D8"/>
                </a:solidFill>
                <a:latin typeface="Arial"/>
                <a:ea typeface="Arial"/>
                <a:cs typeface="Arial"/>
              </a:rPr>
              <a:t>Sleep + food + hydration + stress + mood shape what is usable.</a:t>
            </a:r>
          </a:p>
        </p:txBody>
      </p:sp>
      <p:sp>
        <p:nvSpPr>
          <p:cNvPr id="13" name="Text 11">
            <a:extLst xmlns:a="http://schemas.openxmlformats.org/drawingml/2006/main">
              <a:ext uri="{FF2B5EF4-FFF2-40B4-BE49-F238E27FC236}">
                <a16:creationId xmlns:a16="http://schemas.microsoft.com/office/drawing/2014/main" id="{EB4EA7CD-5D61-495D-8540-B23E21F68605}"/>
              </a:ext>
            </a:extLst>
          </p:cNvPr>
          <p:cNvSpPr>
            <a:spLocks xmlns:a="http://schemas.openxmlformats.org/drawingml/2006/main" noGrp="1"/>
          </p:cNvSpPr>
          <p:nvPr/>
        </p:nvSpPr>
        <p:spPr>
          <a:xfrm xmlns:a="http://schemas.openxmlformats.org/drawingml/2006/main">
            <a:off x="381000" y="3940820"/>
            <a:ext cx="4635401" cy="347067"/>
          </a:xfrm>
          <a:prstGeom xmlns:a="http://schemas.openxmlformats.org/drawingml/2006/main" prst="roundRect">
            <a:avLst>
              <a:gd name="adj" fmla="val 3655577"/>
            </a:avLst>
          </a:prstGeom>
          <a:solidFill xmlns:a="http://schemas.openxmlformats.org/drawingml/2006/main">
            <a:srgbClr val="72B56E"/>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4" name="Text 12">
            <a:extLst xmlns:a="http://schemas.openxmlformats.org/drawingml/2006/main">
              <a:ext uri="{FF2B5EF4-FFF2-40B4-BE49-F238E27FC236}">
                <a16:creationId xmlns:a16="http://schemas.microsoft.com/office/drawing/2014/main" id="{A664196E-FD1D-44F1-9F13-21176F435887}"/>
              </a:ext>
            </a:extLst>
          </p:cNvPr>
          <p:cNvSpPr>
            <a:spLocks xmlns:a="http://schemas.openxmlformats.org/drawingml/2006/main" noGrp="1"/>
          </p:cNvSpPr>
          <p:nvPr/>
        </p:nvSpPr>
        <p:spPr>
          <a:xfrm xmlns:a="http://schemas.openxmlformats.org/drawingml/2006/main">
            <a:off x="1465362" y="4013746"/>
            <a:ext cx="2515859" cy="201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86"/>
              </a:lnSpc>
              <a:buNone/>
            </a:pPr>
            <a:r>
              <a:rPr sz="1300" b="1">
                <a:solidFill>
                  <a:srgbClr val="1B1D19"/>
                </a:solidFill>
                <a:latin typeface="Arial"/>
                <a:ea typeface="Arial"/>
                <a:cs typeface="Arial"/>
              </a:rPr>
              <a:t>AKESO WORKS ON THIS GAP</a:t>
            </a:r>
          </a:p>
        </p:txBody>
      </p:sp>
      <p:sp>
        <p:nvSpPr>
          <p:cNvPr id="15" name="Text 13">
            <a:extLst xmlns:a="http://schemas.openxmlformats.org/drawingml/2006/main">
              <a:ext uri="{FF2B5EF4-FFF2-40B4-BE49-F238E27FC236}">
                <a16:creationId xmlns:a16="http://schemas.microsoft.com/office/drawing/2014/main" id="{B79EC943-595C-435C-9298-CCD2CCCBD76D}"/>
              </a:ext>
            </a:extLst>
          </p:cNvPr>
          <p:cNvSpPr>
            <a:spLocks xmlns:a="http://schemas.openxmlformats.org/drawingml/2006/main" noGrp="1"/>
          </p:cNvSpPr>
          <p:nvPr/>
        </p:nvSpPr>
        <p:spPr>
          <a:xfrm xmlns:a="http://schemas.openxmlformats.org/drawingml/2006/main">
            <a:off x="381000" y="4351288"/>
            <a:ext cx="854964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0"/>
              </a:lnSpc>
              <a:spcBef>
                <a:spcPts val="500"/>
              </a:spcBef>
              <a:buNone/>
            </a:pPr>
            <a:r>
              <a:rPr sz="750">
                <a:solidFill>
                  <a:srgbClr val="667066"/>
                </a:solidFill>
                <a:latin typeface="Arial"/>
                <a:ea typeface="Arial"/>
                <a:cs typeface="Arial"/>
              </a:rPr>
              <a:t>Turn invisible blockers into one explainable next action.</a:t>
            </a:r>
          </a:p>
        </p:txBody>
      </p:sp>
      <p:sp>
        <p:nvSpPr>
          <p:cNvPr id="16" name="Text 14">
            <a:extLst xmlns:a="http://schemas.openxmlformats.org/drawingml/2006/main">
              <a:ext uri="{FF2B5EF4-FFF2-40B4-BE49-F238E27FC236}">
                <a16:creationId xmlns:a16="http://schemas.microsoft.com/office/drawing/2014/main" id="{CBBAAEC9-703C-48E5-A6D1-C9BA6D593F16}"/>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17" name="Text 15">
            <a:extLst xmlns:a="http://schemas.openxmlformats.org/drawingml/2006/main">
              <a:ext uri="{FF2B5EF4-FFF2-40B4-BE49-F238E27FC236}">
                <a16:creationId xmlns:a16="http://schemas.microsoft.com/office/drawing/2014/main" id="{C1DFCA27-3106-4B89-9844-55134330F2DE}"/>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02</a:t>
            </a:r>
          </a:p>
        </p:txBody>
      </p:sp>
    </p:spTree>
    <p:extLst>
      <p:ext uri="{BB962C8B-B14F-4D97-AF65-F5344CB8AC3E}">
        <p14:creationId xmlns:p14="http://schemas.microsoft.com/office/powerpoint/2010/main" val="1717376448"/>
      </p:ext>
    </p:extLst>
  </p:cSld>
</p:sld>
</file>

<file path=ppt/slides/slide4.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1ECF10-E746-471E-A0AE-8AF4B69DAC54}"/>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01 · THE REAL PROBLEM</a:t>
            </a:r>
          </a:p>
        </p:txBody>
      </p:sp>
      <p:sp>
        <p:nvSpPr>
          <p:cNvPr id="3" name="Text 1">
            <a:extLst xmlns:a="http://schemas.openxmlformats.org/drawingml/2006/main">
              <a:ext uri="{FF2B5EF4-FFF2-40B4-BE49-F238E27FC236}">
                <a16:creationId xmlns:a16="http://schemas.microsoft.com/office/drawing/2014/main" id="{E197C206-D4C4-4519-A5C8-9B7A8C7CDCDB}"/>
              </a:ext>
            </a:extLst>
          </p:cNvPr>
          <p:cNvSpPr>
            <a:spLocks xmlns:a="http://schemas.openxmlformats.org/drawingml/2006/main" noGrp="1"/>
          </p:cNvSpPr>
          <p:nvPr/>
        </p:nvSpPr>
        <p:spPr>
          <a:xfrm xmlns:a="http://schemas.openxmlformats.org/drawingml/2006/main">
            <a:off x="381000" y="563166"/>
            <a:ext cx="5440680" cy="138990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TIRED</a:t>
            </a:r>
          </a:p>
          <a:p xmlns:a="http://schemas.openxmlformats.org/drawingml/2006/main">
            <a:pPr marL="0" indent="0" algn="l">
              <a:lnSpc>
                <a:spcPts val="3648"/>
              </a:lnSpc>
              <a:buNone/>
            </a:pPr>
            <a:r>
              <a:rPr sz="3800">
                <a:solidFill>
                  <a:srgbClr val="1B1D19"/>
                </a:solidFill>
                <a:latin typeface="Impact"/>
                <a:ea typeface="Impact"/>
                <a:cs typeface="Impact"/>
              </a:rPr>
              <a:t>DOESN’T MEAN</a:t>
            </a:r>
          </a:p>
          <a:p xmlns:a="http://schemas.openxmlformats.org/drawingml/2006/main">
            <a:pPr marL="0" indent="0" algn="l">
              <a:lnSpc>
                <a:spcPts val="3648"/>
              </a:lnSpc>
              <a:buNone/>
            </a:pPr>
            <a:r>
              <a:rPr sz="3800">
                <a:solidFill>
                  <a:srgbClr val="1B1D19"/>
                </a:solidFill>
                <a:latin typeface="Impact"/>
                <a:ea typeface="Impact"/>
                <a:cs typeface="Impact"/>
              </a:rPr>
              <a:t>LAZY.</a:t>
            </a:r>
          </a:p>
        </p:txBody>
      </p:sp>
      <p:sp>
        <p:nvSpPr>
          <p:cNvPr id="4" name="Text 2">
            <a:extLst xmlns:a="http://schemas.openxmlformats.org/drawingml/2006/main">
              <a:ext uri="{FF2B5EF4-FFF2-40B4-BE49-F238E27FC236}">
                <a16:creationId xmlns:a16="http://schemas.microsoft.com/office/drawing/2014/main" id="{27CC2C45-034A-4EF8-8EF5-F6EAA1FA4221}"/>
              </a:ext>
            </a:extLst>
          </p:cNvPr>
          <p:cNvSpPr>
            <a:spLocks xmlns:a="http://schemas.openxmlformats.org/drawingml/2006/main" noGrp="1"/>
          </p:cNvSpPr>
          <p:nvPr/>
        </p:nvSpPr>
        <p:spPr>
          <a:xfrm xmlns:a="http://schemas.openxmlformats.org/drawingml/2006/main">
            <a:off x="381000" y="2156222"/>
            <a:ext cx="5052060" cy="50780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spcBef>
                <a:spcPts val="1600"/>
              </a:spcBef>
              <a:buNone/>
            </a:pPr>
            <a:r>
              <a:rPr sz="1600" b="1">
                <a:solidFill>
                  <a:srgbClr val="1B1D19"/>
                </a:solidFill>
                <a:latin typeface="Arial"/>
                <a:ea typeface="Arial"/>
                <a:cs typeface="Arial"/>
              </a:rPr>
              <a:t>People feel the outcome — low energy — but the connected signals behind it stay scattered.</a:t>
            </a:r>
          </a:p>
        </p:txBody>
      </p:sp>
      <p:sp>
        <p:nvSpPr>
          <p:cNvPr id="5" name="Text 3">
            <a:extLst xmlns:a="http://schemas.openxmlformats.org/drawingml/2006/main">
              <a:ext uri="{FF2B5EF4-FFF2-40B4-BE49-F238E27FC236}">
                <a16:creationId xmlns:a16="http://schemas.microsoft.com/office/drawing/2014/main" id="{ACBFC5D0-B47F-431F-A06A-F846EF86CFBF}"/>
              </a:ext>
            </a:extLst>
          </p:cNvPr>
          <p:cNvSpPr>
            <a:spLocks xmlns:a="http://schemas.openxmlformats.org/drawingml/2006/main" noGrp="1"/>
          </p:cNvSpPr>
          <p:nvPr/>
        </p:nvSpPr>
        <p:spPr>
          <a:xfrm xmlns:a="http://schemas.openxmlformats.org/drawingml/2006/main">
            <a:off x="6350050" y="563166"/>
            <a:ext cx="2412950" cy="2412950"/>
          </a:xfrm>
          <a:prstGeom xmlns:a="http://schemas.openxmlformats.org/drawingml/2006/main" prst="roundRect">
            <a:avLst>
              <a:gd name="adj" fmla="val 37896"/>
            </a:avLst>
          </a:prstGeom>
          <a:solidFill xmlns:a="http://schemas.openxmlformats.org/drawingml/2006/main">
            <a:srgbClr val="F6EA7B"/>
          </a:solidFill>
          <a:ln xmlns:a="http://schemas.openxmlformats.org/drawingml/2006/main" w="19050">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e94881a30e174657"/>
          <a:stretch xmlns:a="http://schemas.openxmlformats.org/drawingml/2006/main">
            <a:fillRect l="0" t="0" r="0" b="0"/>
          </a:stretch>
        </p:blipFill>
        <p:spPr>
          <a:xfrm xmlns:a="http://schemas.openxmlformats.org/drawingml/2006/main">
            <a:off x="6515100" y="728216"/>
            <a:ext cx="2082701" cy="2082701"/>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F5C958B-971D-4BF0-9A19-490EC719623B}"/>
              </a:ext>
            </a:extLst>
          </p:cNvPr>
          <p:cNvSpPr>
            <a:spLocks xmlns:a="http://schemas.openxmlformats.org/drawingml/2006/main" noGrp="1"/>
          </p:cNvSpPr>
          <p:nvPr/>
        </p:nvSpPr>
        <p:spPr>
          <a:xfrm xmlns:a="http://schemas.openxmlformats.org/drawingml/2006/main">
            <a:off x="381000" y="3204716"/>
            <a:ext cx="2616101" cy="994916"/>
          </a:xfrm>
          <a:prstGeom xmlns:a="http://schemas.openxmlformats.org/drawingml/2006/main" prst="roundRect">
            <a:avLst>
              <a:gd name="adj" fmla="val 17871"/>
            </a:avLst>
          </a:prstGeom>
          <a:solidFill xmlns:a="http://schemas.openxmlformats.org/drawingml/2006/main">
            <a:srgbClr val="FFFFFF"/>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8" name="Text 5">
            <a:extLst xmlns:a="http://schemas.openxmlformats.org/drawingml/2006/main">
              <a:ext uri="{FF2B5EF4-FFF2-40B4-BE49-F238E27FC236}">
                <a16:creationId xmlns:a16="http://schemas.microsoft.com/office/drawing/2014/main" id="{2126D0F2-E8D0-4C6E-A7CD-82599112B5DE}"/>
              </a:ext>
            </a:extLst>
          </p:cNvPr>
          <p:cNvSpPr>
            <a:spLocks xmlns:a="http://schemas.openxmlformats.org/drawingml/2006/main" noGrp="1"/>
          </p:cNvSpPr>
          <p:nvPr/>
        </p:nvSpPr>
        <p:spPr>
          <a:xfrm xmlns:a="http://schemas.openxmlformats.org/drawingml/2006/main">
            <a:off x="565100" y="3388816"/>
            <a:ext cx="2292858"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400"/>
              </a:spcAft>
              <a:buNone/>
            </a:pPr>
            <a:r>
              <a:rPr sz="850" b="1">
                <a:solidFill>
                  <a:srgbClr val="667066"/>
                </a:solidFill>
                <a:latin typeface="Arial"/>
                <a:ea typeface="Arial"/>
                <a:cs typeface="Arial"/>
              </a:rPr>
              <a:t>ONE SYSTEM</a:t>
            </a:r>
          </a:p>
        </p:txBody>
      </p:sp>
      <p:sp>
        <p:nvSpPr>
          <p:cNvPr id="9" name="Text 6">
            <a:extLst xmlns:a="http://schemas.openxmlformats.org/drawingml/2006/main">
              <a:ext uri="{FF2B5EF4-FFF2-40B4-BE49-F238E27FC236}">
                <a16:creationId xmlns:a16="http://schemas.microsoft.com/office/drawing/2014/main" id="{18FD5587-BCC7-4958-AFDD-4ED2FB12C18A}"/>
              </a:ext>
            </a:extLst>
          </p:cNvPr>
          <p:cNvSpPr>
            <a:spLocks xmlns:a="http://schemas.openxmlformats.org/drawingml/2006/main" noGrp="1"/>
          </p:cNvSpPr>
          <p:nvPr/>
        </p:nvSpPr>
        <p:spPr>
          <a:xfrm xmlns:a="http://schemas.openxmlformats.org/drawingml/2006/main">
            <a:off x="565100" y="3571131"/>
            <a:ext cx="2292858"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Food · Sleep · Water</a:t>
            </a:r>
          </a:p>
        </p:txBody>
      </p:sp>
      <p:sp>
        <p:nvSpPr>
          <p:cNvPr id="10" name="Text 7">
            <a:extLst xmlns:a="http://schemas.openxmlformats.org/drawingml/2006/main">
              <a:ext uri="{FF2B5EF4-FFF2-40B4-BE49-F238E27FC236}">
                <a16:creationId xmlns:a16="http://schemas.microsoft.com/office/drawing/2014/main" id="{9375646D-FDB4-4C22-AE80-1EE5F72DC6E4}"/>
              </a:ext>
            </a:extLst>
          </p:cNvPr>
          <p:cNvSpPr>
            <a:spLocks xmlns:a="http://schemas.openxmlformats.org/drawingml/2006/main" noGrp="1"/>
          </p:cNvSpPr>
          <p:nvPr/>
        </p:nvSpPr>
        <p:spPr>
          <a:xfrm xmlns:a="http://schemas.openxmlformats.org/drawingml/2006/main">
            <a:off x="565100" y="3856881"/>
            <a:ext cx="2292858"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600"/>
              </a:spcBef>
              <a:buNone/>
            </a:pPr>
            <a:r>
              <a:rPr sz="1000">
                <a:solidFill>
                  <a:srgbClr val="667066"/>
                </a:solidFill>
                <a:latin typeface="Arial"/>
                <a:ea typeface="Arial"/>
                <a:cs typeface="Arial"/>
              </a:rPr>
              <a:t>Plus stress and mood context.</a:t>
            </a:r>
          </a:p>
        </p:txBody>
      </p:sp>
      <p:sp>
        <p:nvSpPr>
          <p:cNvPr id="11" name="Text 8">
            <a:extLst xmlns:a="http://schemas.openxmlformats.org/drawingml/2006/main">
              <a:ext uri="{FF2B5EF4-FFF2-40B4-BE49-F238E27FC236}">
                <a16:creationId xmlns:a16="http://schemas.microsoft.com/office/drawing/2014/main" id="{ADE6D512-22F3-48B0-B7AB-1D98202DB6FE}"/>
              </a:ext>
            </a:extLst>
          </p:cNvPr>
          <p:cNvSpPr>
            <a:spLocks xmlns:a="http://schemas.openxmlformats.org/drawingml/2006/main" noGrp="1"/>
          </p:cNvSpPr>
          <p:nvPr/>
        </p:nvSpPr>
        <p:spPr>
          <a:xfrm xmlns:a="http://schemas.openxmlformats.org/drawingml/2006/main">
            <a:off x="3149501" y="3204716"/>
            <a:ext cx="2616101" cy="994916"/>
          </a:xfrm>
          <a:prstGeom xmlns:a="http://schemas.openxmlformats.org/drawingml/2006/main" prst="roundRect">
            <a:avLst>
              <a:gd name="adj" fmla="val 17871"/>
            </a:avLst>
          </a:prstGeom>
          <a:solidFill xmlns:a="http://schemas.openxmlformats.org/drawingml/2006/main">
            <a:srgbClr val="B9D7F2"/>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2" name="Text 9">
            <a:extLst xmlns:a="http://schemas.openxmlformats.org/drawingml/2006/main">
              <a:ext uri="{FF2B5EF4-FFF2-40B4-BE49-F238E27FC236}">
                <a16:creationId xmlns:a16="http://schemas.microsoft.com/office/drawing/2014/main" id="{F1DBB88C-713D-4E04-B502-EA0808545F27}"/>
              </a:ext>
            </a:extLst>
          </p:cNvPr>
          <p:cNvSpPr>
            <a:spLocks xmlns:a="http://schemas.openxmlformats.org/drawingml/2006/main" noGrp="1"/>
          </p:cNvSpPr>
          <p:nvPr/>
        </p:nvSpPr>
        <p:spPr>
          <a:xfrm xmlns:a="http://schemas.openxmlformats.org/drawingml/2006/main">
            <a:off x="3333601" y="3388816"/>
            <a:ext cx="2292858"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400"/>
              </a:spcAft>
              <a:buNone/>
            </a:pPr>
            <a:r>
              <a:rPr sz="850" b="1">
                <a:solidFill>
                  <a:srgbClr val="667066"/>
                </a:solidFill>
                <a:latin typeface="Arial"/>
                <a:ea typeface="Arial"/>
                <a:cs typeface="Arial"/>
              </a:rPr>
              <a:t>OUTCOME</a:t>
            </a:r>
          </a:p>
        </p:txBody>
      </p:sp>
      <p:sp>
        <p:nvSpPr>
          <p:cNvPr id="13" name="Text 10">
            <a:extLst xmlns:a="http://schemas.openxmlformats.org/drawingml/2006/main">
              <a:ext uri="{FF2B5EF4-FFF2-40B4-BE49-F238E27FC236}">
                <a16:creationId xmlns:a16="http://schemas.microsoft.com/office/drawing/2014/main" id="{924BF2D1-72E2-4DE3-82C9-F8F961BD8898}"/>
              </a:ext>
            </a:extLst>
          </p:cNvPr>
          <p:cNvSpPr>
            <a:spLocks xmlns:a="http://schemas.openxmlformats.org/drawingml/2006/main" noGrp="1"/>
          </p:cNvSpPr>
          <p:nvPr/>
        </p:nvSpPr>
        <p:spPr>
          <a:xfrm xmlns:a="http://schemas.openxmlformats.org/drawingml/2006/main">
            <a:off x="3333601" y="3571131"/>
            <a:ext cx="2292858"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“Why am I so low?”</a:t>
            </a:r>
          </a:p>
        </p:txBody>
      </p:sp>
      <p:sp>
        <p:nvSpPr>
          <p:cNvPr id="14" name="Text 11">
            <a:extLst xmlns:a="http://schemas.openxmlformats.org/drawingml/2006/main">
              <a:ext uri="{FF2B5EF4-FFF2-40B4-BE49-F238E27FC236}">
                <a16:creationId xmlns:a16="http://schemas.microsoft.com/office/drawing/2014/main" id="{F960AE58-C8AB-41A3-A2A2-8F0AB331945E}"/>
              </a:ext>
            </a:extLst>
          </p:cNvPr>
          <p:cNvSpPr>
            <a:spLocks xmlns:a="http://schemas.openxmlformats.org/drawingml/2006/main" noGrp="1"/>
          </p:cNvSpPr>
          <p:nvPr/>
        </p:nvSpPr>
        <p:spPr>
          <a:xfrm xmlns:a="http://schemas.openxmlformats.org/drawingml/2006/main">
            <a:off x="3333601" y="3856881"/>
            <a:ext cx="2292858"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600"/>
              </a:spcBef>
              <a:buNone/>
            </a:pPr>
            <a:r>
              <a:rPr sz="1000">
                <a:solidFill>
                  <a:srgbClr val="667066"/>
                </a:solidFill>
                <a:latin typeface="Arial"/>
                <a:ea typeface="Arial"/>
                <a:cs typeface="Arial"/>
              </a:rPr>
              <a:t>The pattern is hard to see.</a:t>
            </a:r>
          </a:p>
        </p:txBody>
      </p:sp>
      <p:sp>
        <p:nvSpPr>
          <p:cNvPr id="15" name="Text 12">
            <a:extLst xmlns:a="http://schemas.openxmlformats.org/drawingml/2006/main">
              <a:ext uri="{FF2B5EF4-FFF2-40B4-BE49-F238E27FC236}">
                <a16:creationId xmlns:a16="http://schemas.microsoft.com/office/drawing/2014/main" id="{68B5BB14-4DA4-4359-9095-C18F26A0E75D}"/>
              </a:ext>
            </a:extLst>
          </p:cNvPr>
          <p:cNvSpPr>
            <a:spLocks xmlns:a="http://schemas.openxmlformats.org/drawingml/2006/main" noGrp="1"/>
          </p:cNvSpPr>
          <p:nvPr/>
        </p:nvSpPr>
        <p:spPr>
          <a:xfrm xmlns:a="http://schemas.openxmlformats.org/drawingml/2006/main">
            <a:off x="5918002" y="3204716"/>
            <a:ext cx="2616101" cy="994916"/>
          </a:xfrm>
          <a:prstGeom xmlns:a="http://schemas.openxmlformats.org/drawingml/2006/main" prst="roundRect">
            <a:avLst>
              <a:gd name="adj" fmla="val 17871"/>
            </a:avLst>
          </a:prstGeom>
          <a:solidFill xmlns:a="http://schemas.openxmlformats.org/drawingml/2006/main">
            <a:srgbClr val="F49C86"/>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6" name="Text 13">
            <a:extLst xmlns:a="http://schemas.openxmlformats.org/drawingml/2006/main">
              <a:ext uri="{FF2B5EF4-FFF2-40B4-BE49-F238E27FC236}">
                <a16:creationId xmlns:a16="http://schemas.microsoft.com/office/drawing/2014/main" id="{573E1EE2-2329-44D9-8EE6-960C7C4F8C24}"/>
              </a:ext>
            </a:extLst>
          </p:cNvPr>
          <p:cNvSpPr>
            <a:spLocks xmlns:a="http://schemas.openxmlformats.org/drawingml/2006/main" noGrp="1"/>
          </p:cNvSpPr>
          <p:nvPr/>
        </p:nvSpPr>
        <p:spPr>
          <a:xfrm xmlns:a="http://schemas.openxmlformats.org/drawingml/2006/main">
            <a:off x="6102102" y="3388816"/>
            <a:ext cx="2292858"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400"/>
              </a:spcAft>
              <a:buNone/>
            </a:pPr>
            <a:r>
              <a:rPr sz="850" b="1">
                <a:solidFill>
                  <a:srgbClr val="667066"/>
                </a:solidFill>
                <a:latin typeface="Arial"/>
                <a:ea typeface="Arial"/>
                <a:cs typeface="Arial"/>
              </a:rPr>
              <a:t>CURRENT TOOLS</a:t>
            </a:r>
          </a:p>
        </p:txBody>
      </p:sp>
      <p:sp>
        <p:nvSpPr>
          <p:cNvPr id="17" name="Text 14">
            <a:extLst xmlns:a="http://schemas.openxmlformats.org/drawingml/2006/main">
              <a:ext uri="{FF2B5EF4-FFF2-40B4-BE49-F238E27FC236}">
                <a16:creationId xmlns:a16="http://schemas.microsoft.com/office/drawing/2014/main" id="{5B8DA659-9F8A-44E7-9B49-C013D5137EBC}"/>
              </a:ext>
            </a:extLst>
          </p:cNvPr>
          <p:cNvSpPr>
            <a:spLocks xmlns:a="http://schemas.openxmlformats.org/drawingml/2006/main" noGrp="1"/>
          </p:cNvSpPr>
          <p:nvPr/>
        </p:nvSpPr>
        <p:spPr>
          <a:xfrm xmlns:a="http://schemas.openxmlformats.org/drawingml/2006/main">
            <a:off x="6102102" y="3571131"/>
            <a:ext cx="2292858"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Tasks, not the person</a:t>
            </a:r>
          </a:p>
        </p:txBody>
      </p:sp>
      <p:sp>
        <p:nvSpPr>
          <p:cNvPr id="18" name="Text 15">
            <a:extLst xmlns:a="http://schemas.openxmlformats.org/drawingml/2006/main">
              <a:ext uri="{FF2B5EF4-FFF2-40B4-BE49-F238E27FC236}">
                <a16:creationId xmlns:a16="http://schemas.microsoft.com/office/drawing/2014/main" id="{17411172-F363-4A22-927A-B8096C9C74FE}"/>
              </a:ext>
            </a:extLst>
          </p:cNvPr>
          <p:cNvSpPr>
            <a:spLocks xmlns:a="http://schemas.openxmlformats.org/drawingml/2006/main" noGrp="1"/>
          </p:cNvSpPr>
          <p:nvPr/>
        </p:nvSpPr>
        <p:spPr>
          <a:xfrm xmlns:a="http://schemas.openxmlformats.org/drawingml/2006/main">
            <a:off x="6102102" y="3856881"/>
            <a:ext cx="2292858"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600"/>
              </a:spcBef>
              <a:buNone/>
            </a:pPr>
            <a:r>
              <a:rPr sz="1000">
                <a:solidFill>
                  <a:srgbClr val="667066"/>
                </a:solidFill>
                <a:latin typeface="Arial"/>
                <a:ea typeface="Arial"/>
                <a:cs typeface="Arial"/>
              </a:rPr>
              <a:t>Every hour looks identical.</a:t>
            </a:r>
          </a:p>
        </p:txBody>
      </p:sp>
      <p:sp>
        <p:nvSpPr>
          <p:cNvPr id="19" name="Text 16">
            <a:extLst xmlns:a="http://schemas.openxmlformats.org/drawingml/2006/main">
              <a:ext uri="{FF2B5EF4-FFF2-40B4-BE49-F238E27FC236}">
                <a16:creationId xmlns:a16="http://schemas.microsoft.com/office/drawing/2014/main" id="{7212A49A-78E9-40C0-B7BF-3E50BF8D5B12}"/>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20" name="Text 17">
            <a:extLst xmlns:a="http://schemas.openxmlformats.org/drawingml/2006/main">
              <a:ext uri="{FF2B5EF4-FFF2-40B4-BE49-F238E27FC236}">
                <a16:creationId xmlns:a16="http://schemas.microsoft.com/office/drawing/2014/main" id="{CC705464-4E42-4ECF-B15F-38DC47464121}"/>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03</a:t>
            </a:r>
          </a:p>
        </p:txBody>
      </p:sp>
    </p:spTree>
    <p:extLst>
      <p:ext uri="{BB962C8B-B14F-4D97-AF65-F5344CB8AC3E}">
        <p14:creationId xmlns:p14="http://schemas.microsoft.com/office/powerpoint/2010/main" val="394924152"/>
      </p:ext>
    </p:extLst>
  </p:cSld>
</p:sld>
</file>

<file path=ppt/slides/slide5.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032DC-5DFD-43D3-B778-7A836C1AF33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B1D19"/>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59C0FDD4-BF15-44D1-8F08-290CC2FE6383}"/>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C8F23D"/>
                </a:solidFill>
                <a:latin typeface="Arial"/>
                <a:ea typeface="Arial"/>
                <a:cs typeface="Arial"/>
              </a:rPr>
              <a:t>02 · OUR SOLUTION</a:t>
            </a:r>
          </a:p>
        </p:txBody>
      </p:sp>
      <p:sp>
        <p:nvSpPr>
          <p:cNvPr id="4" name="Text 2">
            <a:extLst xmlns:a="http://schemas.openxmlformats.org/drawingml/2006/main">
              <a:ext uri="{FF2B5EF4-FFF2-40B4-BE49-F238E27FC236}">
                <a16:creationId xmlns:a16="http://schemas.microsoft.com/office/drawing/2014/main" id="{2EFB52D7-6466-4981-A624-CEEDE61B481C}"/>
              </a:ext>
            </a:extLst>
          </p:cNvPr>
          <p:cNvSpPr>
            <a:spLocks xmlns:a="http://schemas.openxmlformats.org/drawingml/2006/main" noGrp="1"/>
          </p:cNvSpPr>
          <p:nvPr/>
        </p:nvSpPr>
        <p:spPr>
          <a:xfrm xmlns:a="http://schemas.openxmlformats.org/drawingml/2006/main">
            <a:off x="381000" y="924967"/>
            <a:ext cx="5246370" cy="15725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128"/>
              </a:lnSpc>
              <a:buNone/>
            </a:pPr>
            <a:r>
              <a:rPr sz="4300">
                <a:solidFill>
                  <a:srgbClr val="F5F2E8"/>
                </a:solidFill>
                <a:latin typeface="Impact"/>
                <a:ea typeface="Impact"/>
                <a:cs typeface="Impact"/>
              </a:rPr>
              <a:t>A PERSONAL</a:t>
            </a:r>
          </a:p>
          <a:p xmlns:a="http://schemas.openxmlformats.org/drawingml/2006/main">
            <a:pPr marL="0" indent="0" algn="l">
              <a:lnSpc>
                <a:spcPts val="4128"/>
              </a:lnSpc>
              <a:buNone/>
            </a:pPr>
            <a:r>
              <a:rPr sz="4300">
                <a:solidFill>
                  <a:srgbClr val="F5F2E8"/>
                </a:solidFill>
                <a:latin typeface="Impact"/>
                <a:ea typeface="Impact"/>
                <a:cs typeface="Impact"/>
              </a:rPr>
              <a:t>ENERGY + NUTRITION</a:t>
            </a:r>
          </a:p>
          <a:p xmlns:a="http://schemas.openxmlformats.org/drawingml/2006/main">
            <a:pPr marL="0" indent="0" algn="l">
              <a:lnSpc>
                <a:spcPts val="4128"/>
              </a:lnSpc>
              <a:buNone/>
            </a:pPr>
            <a:r>
              <a:rPr sz="4300">
                <a:solidFill>
                  <a:srgbClr val="F5F2E8"/>
                </a:solidFill>
                <a:latin typeface="Impact"/>
                <a:ea typeface="Impact"/>
                <a:cs typeface="Impact"/>
              </a:rPr>
              <a:t>COACH.</a:t>
            </a:r>
          </a:p>
        </p:txBody>
      </p:sp>
      <p:sp>
        <p:nvSpPr>
          <p:cNvPr id="5" name="Text 3">
            <a:extLst xmlns:a="http://schemas.openxmlformats.org/drawingml/2006/main">
              <a:ext uri="{FF2B5EF4-FFF2-40B4-BE49-F238E27FC236}">
                <a16:creationId xmlns:a16="http://schemas.microsoft.com/office/drawing/2014/main" id="{51BC7206-9C8B-4C0B-9662-14DBD49FC448}"/>
              </a:ext>
            </a:extLst>
          </p:cNvPr>
          <p:cNvSpPr>
            <a:spLocks xmlns:a="http://schemas.openxmlformats.org/drawingml/2006/main" noGrp="1"/>
          </p:cNvSpPr>
          <p:nvPr/>
        </p:nvSpPr>
        <p:spPr>
          <a:xfrm xmlns:a="http://schemas.openxmlformats.org/drawingml/2006/main">
            <a:off x="381000" y="2726085"/>
            <a:ext cx="5246370" cy="76170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spcBef>
                <a:spcPts val="1800"/>
              </a:spcBef>
              <a:buNone/>
            </a:pPr>
            <a:r>
              <a:rPr sz="1600">
                <a:solidFill>
                  <a:srgbClr val="DDE1D8"/>
                </a:solidFill>
                <a:latin typeface="Arial"/>
                <a:ea typeface="Arial"/>
                <a:cs typeface="Arial"/>
              </a:rPr>
              <a:t>Understand what may be shaping your energy — then turn that insight into food and routine choices you can actually follow.</a:t>
            </a:r>
          </a:p>
        </p:txBody>
      </p:sp>
      <p:sp>
        <p:nvSpPr>
          <p:cNvPr id="6" name="Text 4">
            <a:extLst xmlns:a="http://schemas.openxmlformats.org/drawingml/2006/main">
              <a:ext uri="{FF2B5EF4-FFF2-40B4-BE49-F238E27FC236}">
                <a16:creationId xmlns:a16="http://schemas.microsoft.com/office/drawing/2014/main" id="{AEB24041-04BD-4024-9779-113BC495E61C}"/>
              </a:ext>
            </a:extLst>
          </p:cNvPr>
          <p:cNvSpPr>
            <a:spLocks xmlns:a="http://schemas.openxmlformats.org/drawingml/2006/main" noGrp="1"/>
          </p:cNvSpPr>
          <p:nvPr/>
        </p:nvSpPr>
        <p:spPr>
          <a:xfrm xmlns:a="http://schemas.openxmlformats.org/drawingml/2006/main">
            <a:off x="381000" y="3741688"/>
            <a:ext cx="1917650" cy="285155"/>
          </a:xfrm>
          <a:prstGeom xmlns:a="http://schemas.openxmlformats.org/drawingml/2006/main" prst="roundRect">
            <a:avLst>
              <a:gd name="adj" fmla="val 4449264"/>
            </a:avLst>
          </a:prstGeom>
          <a:solidFill xmlns:a="http://schemas.openxmlformats.org/drawingml/2006/main">
            <a:srgbClr val="C8F23D"/>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7" name="Text 5">
            <a:extLst xmlns:a="http://schemas.openxmlformats.org/drawingml/2006/main">
              <a:ext uri="{FF2B5EF4-FFF2-40B4-BE49-F238E27FC236}">
                <a16:creationId xmlns:a16="http://schemas.microsoft.com/office/drawing/2014/main" id="{0D7D7B9A-8E74-49D2-8FE2-4662E0C6FCC8}"/>
              </a:ext>
            </a:extLst>
          </p:cNvPr>
          <p:cNvSpPr>
            <a:spLocks xmlns:a="http://schemas.openxmlformats.org/drawingml/2006/main" noGrp="1"/>
          </p:cNvSpPr>
          <p:nvPr/>
        </p:nvSpPr>
        <p:spPr>
          <a:xfrm xmlns:a="http://schemas.openxmlformats.org/drawingml/2006/main">
            <a:off x="517475" y="3814614"/>
            <a:ext cx="1677594"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NOW · CONNECTED SIGNALS</a:t>
            </a:r>
          </a:p>
        </p:txBody>
      </p:sp>
      <p:sp>
        <p:nvSpPr>
          <p:cNvPr id="8" name="Text 6">
            <a:extLst xmlns:a="http://schemas.openxmlformats.org/drawingml/2006/main">
              <a:ext uri="{FF2B5EF4-FFF2-40B4-BE49-F238E27FC236}">
                <a16:creationId xmlns:a16="http://schemas.microsoft.com/office/drawing/2014/main" id="{BD37CF4E-7458-462C-B129-E871B4446302}"/>
              </a:ext>
            </a:extLst>
          </p:cNvPr>
          <p:cNvSpPr>
            <a:spLocks xmlns:a="http://schemas.openxmlformats.org/drawingml/2006/main" noGrp="1"/>
          </p:cNvSpPr>
          <p:nvPr/>
        </p:nvSpPr>
        <p:spPr>
          <a:xfrm xmlns:a="http://schemas.openxmlformats.org/drawingml/2006/main">
            <a:off x="2400151" y="3741688"/>
            <a:ext cx="1917502" cy="285155"/>
          </a:xfrm>
          <a:prstGeom xmlns:a="http://schemas.openxmlformats.org/drawingml/2006/main" prst="roundRect">
            <a:avLst>
              <a:gd name="adj" fmla="val 4449264"/>
            </a:avLst>
          </a:prstGeom>
          <a:solidFill xmlns:a="http://schemas.openxmlformats.org/drawingml/2006/main">
            <a:srgbClr val="F6EA7B"/>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9" name="Text 7">
            <a:extLst xmlns:a="http://schemas.openxmlformats.org/drawingml/2006/main">
              <a:ext uri="{FF2B5EF4-FFF2-40B4-BE49-F238E27FC236}">
                <a16:creationId xmlns:a16="http://schemas.microsoft.com/office/drawing/2014/main" id="{8C46F137-AC33-4671-B56E-86DADA5F15ED}"/>
              </a:ext>
            </a:extLst>
          </p:cNvPr>
          <p:cNvSpPr>
            <a:spLocks xmlns:a="http://schemas.openxmlformats.org/drawingml/2006/main" noGrp="1"/>
          </p:cNvSpPr>
          <p:nvPr/>
        </p:nvSpPr>
        <p:spPr>
          <a:xfrm xmlns:a="http://schemas.openxmlformats.org/drawingml/2006/main">
            <a:off x="2536627" y="3814614"/>
            <a:ext cx="167744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NOW · NUTRITION GUIDANCE</a:t>
            </a:r>
          </a:p>
        </p:txBody>
      </p:sp>
      <p:sp>
        <p:nvSpPr>
          <p:cNvPr id="10" name="Text 8">
            <a:extLst xmlns:a="http://schemas.openxmlformats.org/drawingml/2006/main">
              <a:ext uri="{FF2B5EF4-FFF2-40B4-BE49-F238E27FC236}">
                <a16:creationId xmlns:a16="http://schemas.microsoft.com/office/drawing/2014/main" id="{264565D2-AEF2-4776-B439-D4D5E78FF47B}"/>
              </a:ext>
            </a:extLst>
          </p:cNvPr>
          <p:cNvSpPr>
            <a:spLocks xmlns:a="http://schemas.openxmlformats.org/drawingml/2006/main" noGrp="1"/>
          </p:cNvSpPr>
          <p:nvPr/>
        </p:nvSpPr>
        <p:spPr>
          <a:xfrm xmlns:a="http://schemas.openxmlformats.org/drawingml/2006/main">
            <a:off x="381000" y="4217194"/>
            <a:ext cx="1663601" cy="285155"/>
          </a:xfrm>
          <a:prstGeom xmlns:a="http://schemas.openxmlformats.org/drawingml/2006/main" prst="roundRect">
            <a:avLst>
              <a:gd name="adj" fmla="val 4449264"/>
            </a:avLst>
          </a:prstGeom>
          <a:solidFill xmlns:a="http://schemas.openxmlformats.org/drawingml/2006/main">
            <a:srgbClr val="B9D7F2"/>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1" name="Text 9">
            <a:extLst xmlns:a="http://schemas.openxmlformats.org/drawingml/2006/main">
              <a:ext uri="{FF2B5EF4-FFF2-40B4-BE49-F238E27FC236}">
                <a16:creationId xmlns:a16="http://schemas.microsoft.com/office/drawing/2014/main" id="{3EF77412-E325-48A0-A196-191B2B6765D4}"/>
              </a:ext>
            </a:extLst>
          </p:cNvPr>
          <p:cNvSpPr>
            <a:spLocks xmlns:a="http://schemas.openxmlformats.org/drawingml/2006/main" noGrp="1"/>
          </p:cNvSpPr>
          <p:nvPr/>
        </p:nvSpPr>
        <p:spPr>
          <a:xfrm xmlns:a="http://schemas.openxmlformats.org/drawingml/2006/main">
            <a:off x="517475" y="4290120"/>
            <a:ext cx="1418463"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NEXT · EMOTION COACH</a:t>
            </a:r>
          </a:p>
        </p:txBody>
      </p:sp>
      <p:sp>
        <p:nvSpPr>
          <p:cNvPr id="12" name="Text 10">
            <a:extLst xmlns:a="http://schemas.openxmlformats.org/drawingml/2006/main">
              <a:ext uri="{FF2B5EF4-FFF2-40B4-BE49-F238E27FC236}">
                <a16:creationId xmlns:a16="http://schemas.microsoft.com/office/drawing/2014/main" id="{3C26A746-8CE6-48D9-A737-FDFFF35FB6FD}"/>
              </a:ext>
            </a:extLst>
          </p:cNvPr>
          <p:cNvSpPr>
            <a:spLocks xmlns:a="http://schemas.openxmlformats.org/drawingml/2006/main" noGrp="1"/>
          </p:cNvSpPr>
          <p:nvPr/>
        </p:nvSpPr>
        <p:spPr>
          <a:xfrm xmlns:a="http://schemas.openxmlformats.org/drawingml/2006/main">
            <a:off x="5880050" y="808583"/>
            <a:ext cx="2514600" cy="3810000"/>
          </a:xfrm>
          <a:prstGeom xmlns:a="http://schemas.openxmlformats.org/drawingml/2006/main" prst="roundRect">
            <a:avLst>
              <a:gd name="adj" fmla="val 7071"/>
            </a:avLst>
          </a:prstGeom>
          <a:solidFill xmlns:a="http://schemas.openxmlformats.org/drawingml/2006/main">
            <a:srgbClr val="72B56E"/>
          </a:solidFill>
          <a:ln xmlns:a="http://schemas.openxmlformats.org/drawingml/2006/main" w="47625">
            <a:solidFill>
              <a:srgbClr val="C8F23D"/>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df429f19bbb248d9"/>
          <a:stretch xmlns:a="http://schemas.openxmlformats.org/drawingml/2006/main">
            <a:fillRect l="0" t="0" r="0" b="0"/>
          </a:stretch>
        </p:blipFill>
        <p:spPr>
          <a:xfrm xmlns:a="http://schemas.openxmlformats.org/drawingml/2006/main">
            <a:off x="6029176" y="957709"/>
            <a:ext cx="2286000" cy="35814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42B45440-2D5F-46E5-A3E4-64CD6D1334DF}"/>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AEB5AA"/>
                </a:solidFill>
                <a:latin typeface="Arial"/>
                <a:ea typeface="Arial"/>
                <a:cs typeface="Arial"/>
              </a:rPr>
              <a:t>AKESO · ICON × LYRA HACKATHON 2026</a:t>
            </a:r>
          </a:p>
        </p:txBody>
      </p:sp>
      <p:sp>
        <p:nvSpPr>
          <p:cNvPr id="15" name="Text 12">
            <a:extLst xmlns:a="http://schemas.openxmlformats.org/drawingml/2006/main">
              <a:ext uri="{FF2B5EF4-FFF2-40B4-BE49-F238E27FC236}">
                <a16:creationId xmlns:a16="http://schemas.microsoft.com/office/drawing/2014/main" id="{C23ED54E-0302-4647-AE42-80B9984C0220}"/>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AEB5AA"/>
                </a:solidFill>
                <a:latin typeface="Arial"/>
                <a:ea typeface="Arial"/>
                <a:cs typeface="Arial"/>
              </a:rPr>
              <a:t>04</a:t>
            </a:r>
          </a:p>
        </p:txBody>
      </p:sp>
    </p:spTree>
    <p:extLst>
      <p:ext uri="{BB962C8B-B14F-4D97-AF65-F5344CB8AC3E}">
        <p14:creationId xmlns:p14="http://schemas.microsoft.com/office/powerpoint/2010/main" val="2105964873"/>
      </p:ext>
    </p:extLst>
  </p:cSld>
</p:sld>
</file>

<file path=ppt/slides/slide6.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A0A79D-2B41-4FFD-BDDF-F63CC04B7ACB}"/>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03 · HOW IT WORKS</a:t>
            </a:r>
          </a:p>
        </p:txBody>
      </p:sp>
      <p:sp>
        <p:nvSpPr>
          <p:cNvPr id="3" name="Text 1">
            <a:extLst xmlns:a="http://schemas.openxmlformats.org/drawingml/2006/main">
              <a:ext uri="{FF2B5EF4-FFF2-40B4-BE49-F238E27FC236}">
                <a16:creationId xmlns:a16="http://schemas.microsoft.com/office/drawing/2014/main" id="{9A9C19EF-50AA-46D7-A43E-1FA9D6DB2A9E}"/>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20 SECONDS IN.</a:t>
            </a:r>
          </a:p>
          <a:p xmlns:a="http://schemas.openxmlformats.org/drawingml/2006/main">
            <a:pPr marL="0" indent="0" algn="l">
              <a:lnSpc>
                <a:spcPts val="3648"/>
              </a:lnSpc>
              <a:buNone/>
            </a:pPr>
            <a:r>
              <a:rPr sz="3800">
                <a:solidFill>
                  <a:srgbClr val="1B1D19"/>
                </a:solidFill>
                <a:latin typeface="Impact"/>
                <a:ea typeface="Impact"/>
                <a:cs typeface="Impact"/>
              </a:rPr>
              <a:t>A CLEARER DAY OUT.</a:t>
            </a:r>
          </a:p>
        </p:txBody>
      </p:sp>
      <p:sp>
        <p:nvSpPr>
          <p:cNvPr id="4" name="Text 2">
            <a:extLst xmlns:a="http://schemas.openxmlformats.org/drawingml/2006/main">
              <a:ext uri="{FF2B5EF4-FFF2-40B4-BE49-F238E27FC236}">
                <a16:creationId xmlns:a16="http://schemas.microsoft.com/office/drawing/2014/main" id="{8A0DB8A1-8B72-40AA-87C0-DD3AA32BA815}"/>
              </a:ext>
            </a:extLst>
          </p:cNvPr>
          <p:cNvSpPr>
            <a:spLocks xmlns:a="http://schemas.openxmlformats.org/drawingml/2006/main" noGrp="1"/>
          </p:cNvSpPr>
          <p:nvPr/>
        </p:nvSpPr>
        <p:spPr>
          <a:xfrm xmlns:a="http://schemas.openxmlformats.org/drawingml/2006/main">
            <a:off x="819150" y="1616720"/>
            <a:ext cx="1727150" cy="2489150"/>
          </a:xfrm>
          <a:prstGeom xmlns:a="http://schemas.openxmlformats.org/drawingml/2006/main" prst="roundRect">
            <a:avLst>
              <a:gd name="adj" fmla="val 10294"/>
            </a:avLst>
          </a:prstGeom>
          <a:solidFill xmlns:a="http://schemas.openxmlformats.org/drawingml/2006/main">
            <a:srgbClr val="F6EA7B"/>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7a5093abb63b4a80"/>
          <a:stretch xmlns:a="http://schemas.openxmlformats.org/drawingml/2006/main">
            <a:fillRect l="0" t="0" r="0" b="0"/>
          </a:stretch>
        </p:blipFill>
        <p:spPr>
          <a:xfrm xmlns:a="http://schemas.openxmlformats.org/drawingml/2006/main">
            <a:off x="901601" y="1699171"/>
            <a:ext cx="1574750" cy="23241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132332C-984E-4CC8-86FF-FB06757AF2F3}"/>
              </a:ext>
            </a:extLst>
          </p:cNvPr>
          <p:cNvSpPr>
            <a:spLocks xmlns:a="http://schemas.openxmlformats.org/drawingml/2006/main" noGrp="1"/>
          </p:cNvSpPr>
          <p:nvPr/>
        </p:nvSpPr>
        <p:spPr>
          <a:xfrm xmlns:a="http://schemas.openxmlformats.org/drawingml/2006/main">
            <a:off x="1187351" y="4194721"/>
            <a:ext cx="990600" cy="285155"/>
          </a:xfrm>
          <a:prstGeom xmlns:a="http://schemas.openxmlformats.org/drawingml/2006/main" prst="roundRect">
            <a:avLst>
              <a:gd name="adj" fmla="val 4449264"/>
            </a:avLst>
          </a:prstGeom>
          <a:solidFill xmlns:a="http://schemas.openxmlformats.org/drawingml/2006/main">
            <a:srgbClr val="F6EA7B"/>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7" name="Text 4">
            <a:extLst xmlns:a="http://schemas.openxmlformats.org/drawingml/2006/main">
              <a:ext uri="{FF2B5EF4-FFF2-40B4-BE49-F238E27FC236}">
                <a16:creationId xmlns:a16="http://schemas.microsoft.com/office/drawing/2014/main" id="{F4F2C8B0-1ED8-4B1A-994A-D926656D16BD}"/>
              </a:ext>
            </a:extLst>
          </p:cNvPr>
          <p:cNvSpPr>
            <a:spLocks xmlns:a="http://schemas.openxmlformats.org/drawingml/2006/main" noGrp="1"/>
          </p:cNvSpPr>
          <p:nvPr/>
        </p:nvSpPr>
        <p:spPr>
          <a:xfrm xmlns:a="http://schemas.openxmlformats.org/drawingml/2006/main">
            <a:off x="1323826" y="4267646"/>
            <a:ext cx="73200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1 · CHECK IN</a:t>
            </a:r>
          </a:p>
        </p:txBody>
      </p:sp>
      <p:sp>
        <p:nvSpPr>
          <p:cNvPr id="8" name="Text 5">
            <a:extLst xmlns:a="http://schemas.openxmlformats.org/drawingml/2006/main">
              <a:ext uri="{FF2B5EF4-FFF2-40B4-BE49-F238E27FC236}">
                <a16:creationId xmlns:a16="http://schemas.microsoft.com/office/drawing/2014/main" id="{8B307764-B4F4-47D5-86D1-E2003C12EEDF}"/>
              </a:ext>
            </a:extLst>
          </p:cNvPr>
          <p:cNvSpPr>
            <a:spLocks xmlns:a="http://schemas.openxmlformats.org/drawingml/2006/main" noGrp="1"/>
          </p:cNvSpPr>
          <p:nvPr/>
        </p:nvSpPr>
        <p:spPr>
          <a:xfrm xmlns:a="http://schemas.openxmlformats.org/drawingml/2006/main">
            <a:off x="1002412" y="4543276"/>
            <a:ext cx="1360625"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50"/>
              </a:lnSpc>
              <a:spcBef>
                <a:spcPts val="500"/>
              </a:spcBef>
              <a:buNone/>
            </a:pPr>
            <a:r>
              <a:rPr sz="1000">
                <a:solidFill>
                  <a:srgbClr val="667066"/>
                </a:solidFill>
                <a:latin typeface="Arial"/>
                <a:ea typeface="Arial"/>
                <a:cs typeface="Arial"/>
              </a:rPr>
              <a:t>Daily signals, one place</a:t>
            </a:r>
          </a:p>
        </p:txBody>
      </p:sp>
      <p:sp>
        <p:nvSpPr>
          <p:cNvPr id="9" name="Text 6">
            <a:extLst xmlns:a="http://schemas.openxmlformats.org/drawingml/2006/main">
              <a:ext uri="{FF2B5EF4-FFF2-40B4-BE49-F238E27FC236}">
                <a16:creationId xmlns:a16="http://schemas.microsoft.com/office/drawing/2014/main" id="{3F47E389-8B60-4F2B-822D-5C79CCBA9156}"/>
              </a:ext>
            </a:extLst>
          </p:cNvPr>
          <p:cNvSpPr>
            <a:spLocks xmlns:a="http://schemas.openxmlformats.org/drawingml/2006/main" noGrp="1"/>
          </p:cNvSpPr>
          <p:nvPr/>
        </p:nvSpPr>
        <p:spPr>
          <a:xfrm xmlns:a="http://schemas.openxmlformats.org/drawingml/2006/main">
            <a:off x="3625751" y="1616720"/>
            <a:ext cx="1727150" cy="2489150"/>
          </a:xfrm>
          <a:prstGeom xmlns:a="http://schemas.openxmlformats.org/drawingml/2006/main" prst="roundRect">
            <a:avLst>
              <a:gd name="adj" fmla="val 10294"/>
            </a:avLst>
          </a:prstGeom>
          <a:solidFill xmlns:a="http://schemas.openxmlformats.org/drawingml/2006/main">
            <a:srgbClr val="72B56E"/>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a268c34a23464e41"/>
          <a:stretch xmlns:a="http://schemas.openxmlformats.org/drawingml/2006/main">
            <a:fillRect l="0" t="0" r="0" b="0"/>
          </a:stretch>
        </p:blipFill>
        <p:spPr>
          <a:xfrm xmlns:a="http://schemas.openxmlformats.org/drawingml/2006/main">
            <a:off x="3708202" y="1699171"/>
            <a:ext cx="1574750" cy="23241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9900BEF-3691-46CF-956A-07B1CF377F4D}"/>
              </a:ext>
            </a:extLst>
          </p:cNvPr>
          <p:cNvSpPr>
            <a:spLocks xmlns:a="http://schemas.openxmlformats.org/drawingml/2006/main" noGrp="1"/>
          </p:cNvSpPr>
          <p:nvPr/>
        </p:nvSpPr>
        <p:spPr>
          <a:xfrm xmlns:a="http://schemas.openxmlformats.org/drawingml/2006/main">
            <a:off x="3987701" y="4194721"/>
            <a:ext cx="1003250" cy="285155"/>
          </a:xfrm>
          <a:prstGeom xmlns:a="http://schemas.openxmlformats.org/drawingml/2006/main" prst="roundRect">
            <a:avLst>
              <a:gd name="adj" fmla="val 4449264"/>
            </a:avLst>
          </a:prstGeom>
          <a:solidFill xmlns:a="http://schemas.openxmlformats.org/drawingml/2006/main">
            <a:srgbClr val="72B56E"/>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2" name="Text 8">
            <a:extLst xmlns:a="http://schemas.openxmlformats.org/drawingml/2006/main">
              <a:ext uri="{FF2B5EF4-FFF2-40B4-BE49-F238E27FC236}">
                <a16:creationId xmlns:a16="http://schemas.microsoft.com/office/drawing/2014/main" id="{9579CA15-6AF5-4AFA-846C-9CD8F5E82978}"/>
              </a:ext>
            </a:extLst>
          </p:cNvPr>
          <p:cNvSpPr>
            <a:spLocks xmlns:a="http://schemas.openxmlformats.org/drawingml/2006/main" noGrp="1"/>
          </p:cNvSpPr>
          <p:nvPr/>
        </p:nvSpPr>
        <p:spPr>
          <a:xfrm xmlns:a="http://schemas.openxmlformats.org/drawingml/2006/main">
            <a:off x="4124176" y="4267646"/>
            <a:ext cx="744906"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2 · ADJUST</a:t>
            </a:r>
          </a:p>
        </p:txBody>
      </p:sp>
      <p:sp>
        <p:nvSpPr>
          <p:cNvPr id="13" name="Text 9">
            <a:extLst xmlns:a="http://schemas.openxmlformats.org/drawingml/2006/main">
              <a:ext uri="{FF2B5EF4-FFF2-40B4-BE49-F238E27FC236}">
                <a16:creationId xmlns:a16="http://schemas.microsoft.com/office/drawing/2014/main" id="{B180F6A1-D6B0-428C-9440-D5C9F1BC67B3}"/>
              </a:ext>
            </a:extLst>
          </p:cNvPr>
          <p:cNvSpPr>
            <a:spLocks xmlns:a="http://schemas.openxmlformats.org/drawingml/2006/main" noGrp="1"/>
          </p:cNvSpPr>
          <p:nvPr/>
        </p:nvSpPr>
        <p:spPr>
          <a:xfrm xmlns:a="http://schemas.openxmlformats.org/drawingml/2006/main">
            <a:off x="3592845" y="4543276"/>
            <a:ext cx="1792813"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50"/>
              </a:lnSpc>
              <a:spcBef>
                <a:spcPts val="500"/>
              </a:spcBef>
              <a:buNone/>
            </a:pPr>
            <a:r>
              <a:rPr sz="1000">
                <a:solidFill>
                  <a:srgbClr val="667066"/>
                </a:solidFill>
                <a:latin typeface="Arial"/>
                <a:ea typeface="Arial"/>
                <a:cs typeface="Arial"/>
              </a:rPr>
              <a:t>Your report anchors the score</a:t>
            </a:r>
          </a:p>
        </p:txBody>
      </p:sp>
      <p:sp>
        <p:nvSpPr>
          <p:cNvPr id="14" name="Text 10">
            <a:extLst xmlns:a="http://schemas.openxmlformats.org/drawingml/2006/main">
              <a:ext uri="{FF2B5EF4-FFF2-40B4-BE49-F238E27FC236}">
                <a16:creationId xmlns:a16="http://schemas.microsoft.com/office/drawing/2014/main" id="{60FE0AD6-3791-46D0-96B4-24F5F88DA031}"/>
              </a:ext>
            </a:extLst>
          </p:cNvPr>
          <p:cNvSpPr>
            <a:spLocks xmlns:a="http://schemas.openxmlformats.org/drawingml/2006/main" noGrp="1"/>
          </p:cNvSpPr>
          <p:nvPr/>
        </p:nvSpPr>
        <p:spPr>
          <a:xfrm xmlns:a="http://schemas.openxmlformats.org/drawingml/2006/main">
            <a:off x="6432352" y="1616720"/>
            <a:ext cx="1727150" cy="2489150"/>
          </a:xfrm>
          <a:prstGeom xmlns:a="http://schemas.openxmlformats.org/drawingml/2006/main" prst="roundRect">
            <a:avLst>
              <a:gd name="adj" fmla="val 10294"/>
            </a:avLst>
          </a:prstGeom>
          <a:solidFill xmlns:a="http://schemas.openxmlformats.org/drawingml/2006/main">
            <a:srgbClr val="B9D7F2"/>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37" name="Image 2"/>
          <p:cNvPicPr>
            <a:picLocks xmlns:a="http://schemas.openxmlformats.org/drawingml/2006/main" noChangeAspect="1"/>
          </p:cNvPicPr>
          <p:nvPr/>
        </p:nvPicPr>
        <p:blipFill>
          <a:blip xmlns:r="http://schemas.openxmlformats.org/officeDocument/2006/relationships" xmlns:a="http://schemas.openxmlformats.org/drawingml/2006/main" r:embed="R87435390a7d4437b"/>
          <a:stretch xmlns:a="http://schemas.openxmlformats.org/drawingml/2006/main">
            <a:fillRect l="0" t="0" r="0" b="0"/>
          </a:stretch>
        </p:blipFill>
        <p:spPr>
          <a:xfrm xmlns:a="http://schemas.openxmlformats.org/drawingml/2006/main">
            <a:off x="6514802" y="1699171"/>
            <a:ext cx="1574750" cy="2324100"/>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FE4CDC6A-777F-471D-8DD4-39FF73510790}"/>
              </a:ext>
            </a:extLst>
          </p:cNvPr>
          <p:cNvSpPr>
            <a:spLocks xmlns:a="http://schemas.openxmlformats.org/drawingml/2006/main" noGrp="1"/>
          </p:cNvSpPr>
          <p:nvPr/>
        </p:nvSpPr>
        <p:spPr>
          <a:xfrm xmlns:a="http://schemas.openxmlformats.org/drawingml/2006/main">
            <a:off x="6692652" y="4194721"/>
            <a:ext cx="1206401" cy="285155"/>
          </a:xfrm>
          <a:prstGeom xmlns:a="http://schemas.openxmlformats.org/drawingml/2006/main" prst="roundRect">
            <a:avLst>
              <a:gd name="adj" fmla="val 4449264"/>
            </a:avLst>
          </a:prstGeom>
          <a:solidFill xmlns:a="http://schemas.openxmlformats.org/drawingml/2006/main">
            <a:srgbClr val="B9D7F2"/>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7" name="Text 12">
            <a:extLst xmlns:a="http://schemas.openxmlformats.org/drawingml/2006/main">
              <a:ext uri="{FF2B5EF4-FFF2-40B4-BE49-F238E27FC236}">
                <a16:creationId xmlns:a16="http://schemas.microsoft.com/office/drawing/2014/main" id="{15EBA996-D9C2-4668-A6E4-BF20EF898A32}"/>
              </a:ext>
            </a:extLst>
          </p:cNvPr>
          <p:cNvSpPr>
            <a:spLocks xmlns:a="http://schemas.openxmlformats.org/drawingml/2006/main" noGrp="1"/>
          </p:cNvSpPr>
          <p:nvPr/>
        </p:nvSpPr>
        <p:spPr>
          <a:xfrm xmlns:a="http://schemas.openxmlformats.org/drawingml/2006/main">
            <a:off x="6829127" y="4267646"/>
            <a:ext cx="952119"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3 · TAKE ACTION</a:t>
            </a:r>
          </a:p>
        </p:txBody>
      </p:sp>
      <p:sp>
        <p:nvSpPr>
          <p:cNvPr id="18" name="Text 13">
            <a:extLst xmlns:a="http://schemas.openxmlformats.org/drawingml/2006/main">
              <a:ext uri="{FF2B5EF4-FFF2-40B4-BE49-F238E27FC236}">
                <a16:creationId xmlns:a16="http://schemas.microsoft.com/office/drawing/2014/main" id="{B0CD9BE8-1E70-48A6-8300-404430ADF6C1}"/>
              </a:ext>
            </a:extLst>
          </p:cNvPr>
          <p:cNvSpPr>
            <a:spLocks xmlns:a="http://schemas.openxmlformats.org/drawingml/2006/main" noGrp="1"/>
          </p:cNvSpPr>
          <p:nvPr/>
        </p:nvSpPr>
        <p:spPr>
          <a:xfrm xmlns:a="http://schemas.openxmlformats.org/drawingml/2006/main">
            <a:off x="6540017" y="4543276"/>
            <a:ext cx="1511671"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50"/>
              </a:lnSpc>
              <a:spcBef>
                <a:spcPts val="500"/>
              </a:spcBef>
              <a:buNone/>
            </a:pPr>
            <a:r>
              <a:rPr sz="1000">
                <a:solidFill>
                  <a:srgbClr val="667066"/>
                </a:solidFill>
                <a:latin typeface="Arial"/>
                <a:ea typeface="Arial"/>
                <a:cs typeface="Arial"/>
              </a:rPr>
              <a:t>Meals + routines for today</a:t>
            </a:r>
          </a:p>
        </p:txBody>
      </p:sp>
      <p:sp>
        <p:nvSpPr>
          <p:cNvPr id="19" name="Text 14">
            <a:extLst xmlns:a="http://schemas.openxmlformats.org/drawingml/2006/main">
              <a:ext uri="{FF2B5EF4-FFF2-40B4-BE49-F238E27FC236}">
                <a16:creationId xmlns:a16="http://schemas.microsoft.com/office/drawing/2014/main" id="{CED44087-E02A-417F-A075-BE26BFE4E70F}"/>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20" name="Text 15">
            <a:extLst xmlns:a="http://schemas.openxmlformats.org/drawingml/2006/main">
              <a:ext uri="{FF2B5EF4-FFF2-40B4-BE49-F238E27FC236}">
                <a16:creationId xmlns:a16="http://schemas.microsoft.com/office/drawing/2014/main" id="{11476FF3-E0BE-4036-B36C-2409BDF46778}"/>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05</a:t>
            </a:r>
          </a:p>
        </p:txBody>
      </p:sp>
    </p:spTree>
    <p:extLst>
      <p:ext uri="{BB962C8B-B14F-4D97-AF65-F5344CB8AC3E}">
        <p14:creationId xmlns:p14="http://schemas.microsoft.com/office/powerpoint/2010/main" val="716253569"/>
      </p:ext>
    </p:extLst>
  </p:cSld>
</p:sld>
</file>

<file path=ppt/slides/slide7.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87C074-53CF-4C39-9916-46DED982BCCB}"/>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04 · PERSONALISED, NOT MEDICALISED</a:t>
            </a:r>
          </a:p>
        </p:txBody>
      </p:sp>
      <p:sp>
        <p:nvSpPr>
          <p:cNvPr id="3" name="Text 1">
            <a:extLst xmlns:a="http://schemas.openxmlformats.org/drawingml/2006/main">
              <a:ext uri="{FF2B5EF4-FFF2-40B4-BE49-F238E27FC236}">
                <a16:creationId xmlns:a16="http://schemas.microsoft.com/office/drawing/2014/main" id="{0A949778-3E56-4F2A-BDCF-43C48B73EA59}"/>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NOT A DIAGNOSIS.</a:t>
            </a:r>
          </a:p>
          <a:p xmlns:a="http://schemas.openxmlformats.org/drawingml/2006/main">
            <a:pPr marL="0" indent="0" algn="l">
              <a:lnSpc>
                <a:spcPts val="3648"/>
              </a:lnSpc>
              <a:buNone/>
            </a:pPr>
            <a:r>
              <a:rPr sz="3800">
                <a:solidFill>
                  <a:srgbClr val="1B1D19"/>
                </a:solidFill>
                <a:latin typeface="Impact"/>
                <a:ea typeface="Impact"/>
                <a:cs typeface="Impact"/>
              </a:rPr>
              <a:t>USEFUL SIGNAL.</a:t>
            </a:r>
          </a:p>
        </p:txBody>
      </p:sp>
      <p:sp>
        <p:nvSpPr>
          <p:cNvPr id="4" name="Text 2">
            <a:extLst xmlns:a="http://schemas.openxmlformats.org/drawingml/2006/main">
              <a:ext uri="{FF2B5EF4-FFF2-40B4-BE49-F238E27FC236}">
                <a16:creationId xmlns:a16="http://schemas.microsoft.com/office/drawing/2014/main" id="{5647A889-79A8-4310-BC5E-4F372392C1C1}"/>
              </a:ext>
            </a:extLst>
          </p:cNvPr>
          <p:cNvSpPr>
            <a:spLocks xmlns:a="http://schemas.openxmlformats.org/drawingml/2006/main" noGrp="1"/>
          </p:cNvSpPr>
          <p:nvPr/>
        </p:nvSpPr>
        <p:spPr>
          <a:xfrm xmlns:a="http://schemas.openxmlformats.org/drawingml/2006/main">
            <a:off x="381000" y="1718370"/>
            <a:ext cx="2997101" cy="3301901"/>
          </a:xfrm>
          <a:prstGeom xmlns:a="http://schemas.openxmlformats.org/drawingml/2006/main" prst="roundRect">
            <a:avLst>
              <a:gd name="adj" fmla="val 5932"/>
            </a:avLst>
          </a:prstGeom>
          <a:solidFill xmlns:a="http://schemas.openxmlformats.org/drawingml/2006/main">
            <a:srgbClr val="72B56E"/>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48f280d70fee4028"/>
          <a:stretch xmlns:a="http://schemas.openxmlformats.org/drawingml/2006/main">
            <a:fillRect l="0" t="0" r="0" b="0"/>
          </a:stretch>
        </p:blipFill>
        <p:spPr>
          <a:xfrm xmlns:a="http://schemas.openxmlformats.org/drawingml/2006/main">
            <a:off x="488900" y="1826270"/>
            <a:ext cx="2793950" cy="309875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D64B32A-4607-48B0-A3E0-D7B914CA1E8E}"/>
              </a:ext>
            </a:extLst>
          </p:cNvPr>
          <p:cNvSpPr>
            <a:spLocks xmlns:a="http://schemas.openxmlformats.org/drawingml/2006/main" noGrp="1"/>
          </p:cNvSpPr>
          <p:nvPr/>
        </p:nvSpPr>
        <p:spPr>
          <a:xfrm xmlns:a="http://schemas.openxmlformats.org/drawingml/2006/main">
            <a:off x="3606701" y="1718370"/>
            <a:ext cx="4889450" cy="736550"/>
          </a:xfrm>
          <a:prstGeom xmlns:a="http://schemas.openxmlformats.org/drawingml/2006/main" prst="roundRect">
            <a:avLst>
              <a:gd name="adj" fmla="val 24140"/>
            </a:avLst>
          </a:prstGeom>
          <a:solidFill xmlns:a="http://schemas.openxmlformats.org/drawingml/2006/main">
            <a:srgbClr val="FFFFFF"/>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7" name="Text 4">
            <a:extLst xmlns:a="http://schemas.openxmlformats.org/drawingml/2006/main">
              <a:ext uri="{FF2B5EF4-FFF2-40B4-BE49-F238E27FC236}">
                <a16:creationId xmlns:a16="http://schemas.microsoft.com/office/drawing/2014/main" id="{117D6F3B-5B37-4B84-9A84-54A73FEBBDA1}"/>
              </a:ext>
            </a:extLst>
          </p:cNvPr>
          <p:cNvSpPr>
            <a:spLocks xmlns:a="http://schemas.openxmlformats.org/drawingml/2006/main" noGrp="1"/>
          </p:cNvSpPr>
          <p:nvPr/>
        </p:nvSpPr>
        <p:spPr>
          <a:xfrm xmlns:a="http://schemas.openxmlformats.org/drawingml/2006/main">
            <a:off x="3778151" y="1889820"/>
            <a:ext cx="393650" cy="393650"/>
          </a:xfrm>
          <a:prstGeom xmlns:a="http://schemas.openxmlformats.org/drawingml/2006/main" prst="roundRect">
            <a:avLst>
              <a:gd name="adj" fmla="val 232288"/>
            </a:avLst>
          </a:prstGeom>
          <a:solidFill xmlns:a="http://schemas.openxmlformats.org/drawingml/2006/main">
            <a:srgbClr val="F49C86"/>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8" name="Text 5">
            <a:extLst xmlns:a="http://schemas.openxmlformats.org/drawingml/2006/main">
              <a:ext uri="{FF2B5EF4-FFF2-40B4-BE49-F238E27FC236}">
                <a16:creationId xmlns:a16="http://schemas.microsoft.com/office/drawing/2014/main" id="{6BB7E3B6-D54D-40BE-BF81-83E009ED6C6B}"/>
              </a:ext>
            </a:extLst>
          </p:cNvPr>
          <p:cNvSpPr>
            <a:spLocks xmlns:a="http://schemas.openxmlformats.org/drawingml/2006/main" noGrp="1"/>
          </p:cNvSpPr>
          <p:nvPr/>
        </p:nvSpPr>
        <p:spPr>
          <a:xfrm xmlns:a="http://schemas.openxmlformats.org/drawingml/2006/main">
            <a:off x="3929063" y="1985963"/>
            <a:ext cx="93663" cy="201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86"/>
              </a:lnSpc>
              <a:buNone/>
            </a:pPr>
            <a:r>
              <a:rPr sz="1300" b="1">
                <a:solidFill>
                  <a:srgbClr val="1B1D19"/>
                </a:solidFill>
                <a:latin typeface="Arial"/>
                <a:ea typeface="Arial"/>
                <a:cs typeface="Arial"/>
              </a:rPr>
              <a:t>1</a:t>
            </a:r>
          </a:p>
        </p:txBody>
      </p:sp>
      <p:sp>
        <p:nvSpPr>
          <p:cNvPr id="9" name="Text 6">
            <a:extLst xmlns:a="http://schemas.openxmlformats.org/drawingml/2006/main">
              <a:ext uri="{FF2B5EF4-FFF2-40B4-BE49-F238E27FC236}">
                <a16:creationId xmlns:a16="http://schemas.microsoft.com/office/drawing/2014/main" id="{0A5612E2-E8DF-40E4-978E-B72694099B8B}"/>
              </a:ext>
            </a:extLst>
          </p:cNvPr>
          <p:cNvSpPr>
            <a:spLocks xmlns:a="http://schemas.openxmlformats.org/drawingml/2006/main" noGrp="1"/>
          </p:cNvSpPr>
          <p:nvPr/>
        </p:nvSpPr>
        <p:spPr>
          <a:xfrm xmlns:a="http://schemas.openxmlformats.org/drawingml/2006/main">
            <a:off x="4324201" y="1902470"/>
            <a:ext cx="2994499"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Repeated food pattern</a:t>
            </a:r>
          </a:p>
        </p:txBody>
      </p:sp>
      <p:sp>
        <p:nvSpPr>
          <p:cNvPr id="10" name="Text 7">
            <a:extLst xmlns:a="http://schemas.openxmlformats.org/drawingml/2006/main">
              <a:ext uri="{FF2B5EF4-FFF2-40B4-BE49-F238E27FC236}">
                <a16:creationId xmlns:a16="http://schemas.microsoft.com/office/drawing/2014/main" id="{C8669F4D-6C20-4325-8129-4D7F31B745EB}"/>
              </a:ext>
            </a:extLst>
          </p:cNvPr>
          <p:cNvSpPr>
            <a:spLocks xmlns:a="http://schemas.openxmlformats.org/drawingml/2006/main" noGrp="1"/>
          </p:cNvSpPr>
          <p:nvPr/>
        </p:nvSpPr>
        <p:spPr>
          <a:xfrm xmlns:a="http://schemas.openxmlformats.org/drawingml/2006/main">
            <a:off x="4324201" y="2112020"/>
            <a:ext cx="2994499"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667066"/>
                </a:solidFill>
                <a:latin typeface="Arial"/>
                <a:ea typeface="Arial"/>
                <a:cs typeface="Arial"/>
              </a:rPr>
              <a:t>Very few iron-rich foods logged across several days.</a:t>
            </a:r>
          </a:p>
        </p:txBody>
      </p:sp>
      <p:sp>
        <p:nvSpPr>
          <p:cNvPr id="11" name="Text 8">
            <a:extLst xmlns:a="http://schemas.openxmlformats.org/drawingml/2006/main">
              <a:ext uri="{FF2B5EF4-FFF2-40B4-BE49-F238E27FC236}">
                <a16:creationId xmlns:a16="http://schemas.microsoft.com/office/drawing/2014/main" id="{0565E2AB-E378-4021-836E-14D6E47B1AC0}"/>
              </a:ext>
            </a:extLst>
          </p:cNvPr>
          <p:cNvSpPr>
            <a:spLocks xmlns:a="http://schemas.openxmlformats.org/drawingml/2006/main" noGrp="1"/>
          </p:cNvSpPr>
          <p:nvPr/>
        </p:nvSpPr>
        <p:spPr>
          <a:xfrm xmlns:a="http://schemas.openxmlformats.org/drawingml/2006/main">
            <a:off x="3606701" y="2569220"/>
            <a:ext cx="4889450" cy="736550"/>
          </a:xfrm>
          <a:prstGeom xmlns:a="http://schemas.openxmlformats.org/drawingml/2006/main" prst="roundRect">
            <a:avLst>
              <a:gd name="adj" fmla="val 24140"/>
            </a:avLst>
          </a:prstGeom>
          <a:solidFill xmlns:a="http://schemas.openxmlformats.org/drawingml/2006/main">
            <a:srgbClr val="F6EA7B"/>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2" name="Text 9">
            <a:extLst xmlns:a="http://schemas.openxmlformats.org/drawingml/2006/main">
              <a:ext uri="{FF2B5EF4-FFF2-40B4-BE49-F238E27FC236}">
                <a16:creationId xmlns:a16="http://schemas.microsoft.com/office/drawing/2014/main" id="{8311592E-81C6-452B-9C1B-D9AFEA9D7706}"/>
              </a:ext>
            </a:extLst>
          </p:cNvPr>
          <p:cNvSpPr>
            <a:spLocks xmlns:a="http://schemas.openxmlformats.org/drawingml/2006/main" noGrp="1"/>
          </p:cNvSpPr>
          <p:nvPr/>
        </p:nvSpPr>
        <p:spPr>
          <a:xfrm xmlns:a="http://schemas.openxmlformats.org/drawingml/2006/main">
            <a:off x="3778151" y="2740670"/>
            <a:ext cx="393650" cy="393650"/>
          </a:xfrm>
          <a:prstGeom xmlns:a="http://schemas.openxmlformats.org/drawingml/2006/main" prst="roundRect">
            <a:avLst>
              <a:gd name="adj" fmla="val 232288"/>
            </a:avLst>
          </a:prstGeom>
          <a:solidFill xmlns:a="http://schemas.openxmlformats.org/drawingml/2006/main">
            <a:srgbClr val="C8F23D"/>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3" name="Text 10">
            <a:extLst xmlns:a="http://schemas.openxmlformats.org/drawingml/2006/main">
              <a:ext uri="{FF2B5EF4-FFF2-40B4-BE49-F238E27FC236}">
                <a16:creationId xmlns:a16="http://schemas.microsoft.com/office/drawing/2014/main" id="{A0EA20D8-CFA7-489E-A80D-BF0C417E5EA8}"/>
              </a:ext>
            </a:extLst>
          </p:cNvPr>
          <p:cNvSpPr>
            <a:spLocks xmlns:a="http://schemas.openxmlformats.org/drawingml/2006/main" noGrp="1"/>
          </p:cNvSpPr>
          <p:nvPr/>
        </p:nvSpPr>
        <p:spPr>
          <a:xfrm xmlns:a="http://schemas.openxmlformats.org/drawingml/2006/main">
            <a:off x="3929063" y="2836813"/>
            <a:ext cx="93663" cy="201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86"/>
              </a:lnSpc>
              <a:buNone/>
            </a:pPr>
            <a:r>
              <a:rPr sz="1300" b="1">
                <a:solidFill>
                  <a:srgbClr val="1B1D19"/>
                </a:solidFill>
                <a:latin typeface="Arial"/>
                <a:ea typeface="Arial"/>
                <a:cs typeface="Arial"/>
              </a:rPr>
              <a:t>2</a:t>
            </a:r>
          </a:p>
        </p:txBody>
      </p:sp>
      <p:sp>
        <p:nvSpPr>
          <p:cNvPr id="14" name="Text 11">
            <a:extLst xmlns:a="http://schemas.openxmlformats.org/drawingml/2006/main">
              <a:ext uri="{FF2B5EF4-FFF2-40B4-BE49-F238E27FC236}">
                <a16:creationId xmlns:a16="http://schemas.microsoft.com/office/drawing/2014/main" id="{29AA50B6-B7C7-4891-B1F2-98068D843314}"/>
              </a:ext>
            </a:extLst>
          </p:cNvPr>
          <p:cNvSpPr>
            <a:spLocks xmlns:a="http://schemas.openxmlformats.org/drawingml/2006/main" noGrp="1"/>
          </p:cNvSpPr>
          <p:nvPr/>
        </p:nvSpPr>
        <p:spPr>
          <a:xfrm xmlns:a="http://schemas.openxmlformats.org/drawingml/2006/main">
            <a:off x="4324201" y="2753320"/>
            <a:ext cx="2579921"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Explain, without diagnosing</a:t>
            </a:r>
          </a:p>
        </p:txBody>
      </p:sp>
      <p:sp>
        <p:nvSpPr>
          <p:cNvPr id="15" name="Text 12">
            <a:extLst xmlns:a="http://schemas.openxmlformats.org/drawingml/2006/main">
              <a:ext uri="{FF2B5EF4-FFF2-40B4-BE49-F238E27FC236}">
                <a16:creationId xmlns:a16="http://schemas.microsoft.com/office/drawing/2014/main" id="{EF3621FD-5CC1-43B5-B3B1-46982158DEE8}"/>
              </a:ext>
            </a:extLst>
          </p:cNvPr>
          <p:cNvSpPr>
            <a:spLocks xmlns:a="http://schemas.openxmlformats.org/drawingml/2006/main" noGrp="1"/>
          </p:cNvSpPr>
          <p:nvPr/>
        </p:nvSpPr>
        <p:spPr>
          <a:xfrm xmlns:a="http://schemas.openxmlformats.org/drawingml/2006/main">
            <a:off x="4324201" y="2962870"/>
            <a:ext cx="2579921"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667066"/>
                </a:solidFill>
                <a:latin typeface="Arial"/>
                <a:ea typeface="Arial"/>
                <a:cs typeface="Arial"/>
              </a:rPr>
              <a:t>“This pattern may be worth addressing.”</a:t>
            </a:r>
          </a:p>
        </p:txBody>
      </p:sp>
      <p:sp>
        <p:nvSpPr>
          <p:cNvPr id="16" name="Text 13">
            <a:extLst xmlns:a="http://schemas.openxmlformats.org/drawingml/2006/main">
              <a:ext uri="{FF2B5EF4-FFF2-40B4-BE49-F238E27FC236}">
                <a16:creationId xmlns:a16="http://schemas.microsoft.com/office/drawing/2014/main" id="{D7196C80-7CE6-469C-837B-8C9F6BD30F70}"/>
              </a:ext>
            </a:extLst>
          </p:cNvPr>
          <p:cNvSpPr>
            <a:spLocks xmlns:a="http://schemas.openxmlformats.org/drawingml/2006/main" noGrp="1"/>
          </p:cNvSpPr>
          <p:nvPr/>
        </p:nvSpPr>
        <p:spPr>
          <a:xfrm xmlns:a="http://schemas.openxmlformats.org/drawingml/2006/main">
            <a:off x="3606701" y="3420070"/>
            <a:ext cx="4889450" cy="736550"/>
          </a:xfrm>
          <a:prstGeom xmlns:a="http://schemas.openxmlformats.org/drawingml/2006/main" prst="roundRect">
            <a:avLst>
              <a:gd name="adj" fmla="val 24140"/>
            </a:avLst>
          </a:prstGeom>
          <a:solidFill xmlns:a="http://schemas.openxmlformats.org/drawingml/2006/main">
            <a:srgbClr val="B9D7F2"/>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7" name="Text 14">
            <a:extLst xmlns:a="http://schemas.openxmlformats.org/drawingml/2006/main">
              <a:ext uri="{FF2B5EF4-FFF2-40B4-BE49-F238E27FC236}">
                <a16:creationId xmlns:a16="http://schemas.microsoft.com/office/drawing/2014/main" id="{DB886DF2-B54A-4A43-8EBF-FB39E47C70B9}"/>
              </a:ext>
            </a:extLst>
          </p:cNvPr>
          <p:cNvSpPr>
            <a:spLocks xmlns:a="http://schemas.openxmlformats.org/drawingml/2006/main" noGrp="1"/>
          </p:cNvSpPr>
          <p:nvPr/>
        </p:nvSpPr>
        <p:spPr>
          <a:xfrm xmlns:a="http://schemas.openxmlformats.org/drawingml/2006/main">
            <a:off x="3778151" y="3591520"/>
            <a:ext cx="393650" cy="393650"/>
          </a:xfrm>
          <a:prstGeom xmlns:a="http://schemas.openxmlformats.org/drawingml/2006/main" prst="roundRect">
            <a:avLst>
              <a:gd name="adj" fmla="val 232288"/>
            </a:avLst>
          </a:prstGeom>
          <a:solidFill xmlns:a="http://schemas.openxmlformats.org/drawingml/2006/main">
            <a:srgbClr val="72B56E"/>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8" name="Text 15">
            <a:extLst xmlns:a="http://schemas.openxmlformats.org/drawingml/2006/main">
              <a:ext uri="{FF2B5EF4-FFF2-40B4-BE49-F238E27FC236}">
                <a16:creationId xmlns:a16="http://schemas.microsoft.com/office/drawing/2014/main" id="{D99BFE86-6803-473B-9389-12725113F21B}"/>
              </a:ext>
            </a:extLst>
          </p:cNvPr>
          <p:cNvSpPr>
            <a:spLocks xmlns:a="http://schemas.openxmlformats.org/drawingml/2006/main" noGrp="1"/>
          </p:cNvSpPr>
          <p:nvPr/>
        </p:nvSpPr>
        <p:spPr>
          <a:xfrm xmlns:a="http://schemas.openxmlformats.org/drawingml/2006/main">
            <a:off x="3929063" y="3687663"/>
            <a:ext cx="93663" cy="201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86"/>
              </a:lnSpc>
              <a:buNone/>
            </a:pPr>
            <a:r>
              <a:rPr sz="1300" b="1">
                <a:solidFill>
                  <a:srgbClr val="1B1D19"/>
                </a:solidFill>
                <a:latin typeface="Arial"/>
                <a:ea typeface="Arial"/>
                <a:cs typeface="Arial"/>
              </a:rPr>
              <a:t>3</a:t>
            </a:r>
          </a:p>
        </p:txBody>
      </p:sp>
      <p:sp>
        <p:nvSpPr>
          <p:cNvPr id="19" name="Text 16">
            <a:extLst xmlns:a="http://schemas.openxmlformats.org/drawingml/2006/main">
              <a:ext uri="{FF2B5EF4-FFF2-40B4-BE49-F238E27FC236}">
                <a16:creationId xmlns:a16="http://schemas.microsoft.com/office/drawing/2014/main" id="{B37CB0E3-6AE2-40D9-B5E5-64C37930D64E}"/>
              </a:ext>
            </a:extLst>
          </p:cNvPr>
          <p:cNvSpPr>
            <a:spLocks xmlns:a="http://schemas.openxmlformats.org/drawingml/2006/main" noGrp="1"/>
          </p:cNvSpPr>
          <p:nvPr/>
        </p:nvSpPr>
        <p:spPr>
          <a:xfrm xmlns:a="http://schemas.openxmlformats.org/drawingml/2006/main">
            <a:off x="4324201" y="3604171"/>
            <a:ext cx="3294617"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One realistic next action</a:t>
            </a:r>
          </a:p>
        </p:txBody>
      </p:sp>
      <p:sp>
        <p:nvSpPr>
          <p:cNvPr id="20" name="Text 17">
            <a:extLst xmlns:a="http://schemas.openxmlformats.org/drawingml/2006/main">
              <a:ext uri="{FF2B5EF4-FFF2-40B4-BE49-F238E27FC236}">
                <a16:creationId xmlns:a16="http://schemas.microsoft.com/office/drawing/2014/main" id="{087DDBCB-F1FD-468B-B8D5-3206103D1C17}"/>
              </a:ext>
            </a:extLst>
          </p:cNvPr>
          <p:cNvSpPr>
            <a:spLocks xmlns:a="http://schemas.openxmlformats.org/drawingml/2006/main" noGrp="1"/>
          </p:cNvSpPr>
          <p:nvPr/>
        </p:nvSpPr>
        <p:spPr>
          <a:xfrm xmlns:a="http://schemas.openxmlformats.org/drawingml/2006/main">
            <a:off x="4324201" y="3813721"/>
            <a:ext cx="3294617"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667066"/>
                </a:solidFill>
                <a:latin typeface="Arial"/>
                <a:ea typeface="Arial"/>
                <a:cs typeface="Arial"/>
              </a:rPr>
              <a:t>Spinach, eggs or salmon — using what is already nearby.</a:t>
            </a:r>
          </a:p>
        </p:txBody>
      </p:sp>
      <p:sp>
        <p:nvSpPr>
          <p:cNvPr id="21" name="Text 18">
            <a:extLst xmlns:a="http://schemas.openxmlformats.org/drawingml/2006/main">
              <a:ext uri="{FF2B5EF4-FFF2-40B4-BE49-F238E27FC236}">
                <a16:creationId xmlns:a16="http://schemas.microsoft.com/office/drawing/2014/main" id="{64BD7F05-9AC5-495F-8FDB-BC017F1BC372}"/>
              </a:ext>
            </a:extLst>
          </p:cNvPr>
          <p:cNvSpPr>
            <a:spLocks xmlns:a="http://schemas.openxmlformats.org/drawingml/2006/main" noGrp="1"/>
          </p:cNvSpPr>
          <p:nvPr/>
        </p:nvSpPr>
        <p:spPr>
          <a:xfrm xmlns:a="http://schemas.openxmlformats.org/drawingml/2006/main">
            <a:off x="3606701" y="4309021"/>
            <a:ext cx="4987239"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0"/>
              </a:lnSpc>
              <a:spcBef>
                <a:spcPts val="300"/>
              </a:spcBef>
              <a:buNone/>
            </a:pPr>
            <a:r>
              <a:rPr sz="750">
                <a:solidFill>
                  <a:srgbClr val="667066"/>
                </a:solidFill>
                <a:latin typeface="Arial"/>
                <a:ea typeface="Arial"/>
                <a:cs typeface="Arial"/>
              </a:rPr>
              <a:t>Persistent dizziness or fatigue should be discussed with a qualified health professional.</a:t>
            </a:r>
          </a:p>
        </p:txBody>
      </p:sp>
      <p:sp>
        <p:nvSpPr>
          <p:cNvPr id="22" name="Text 19">
            <a:extLst xmlns:a="http://schemas.openxmlformats.org/drawingml/2006/main">
              <a:ext uri="{FF2B5EF4-FFF2-40B4-BE49-F238E27FC236}">
                <a16:creationId xmlns:a16="http://schemas.microsoft.com/office/drawing/2014/main" id="{E103D5B0-9078-4BB6-80F5-0FE681F41790}"/>
              </a:ext>
            </a:extLst>
          </p:cNvPr>
          <p:cNvSpPr>
            <a:spLocks xmlns:a="http://schemas.openxmlformats.org/drawingml/2006/main" noGrp="1"/>
          </p:cNvSpPr>
          <p:nvPr/>
        </p:nvSpPr>
        <p:spPr>
          <a:xfrm xmlns:a="http://schemas.openxmlformats.org/drawingml/2006/main">
            <a:off x="3606737"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23" name="Text 20">
            <a:extLst xmlns:a="http://schemas.openxmlformats.org/drawingml/2006/main">
              <a:ext uri="{FF2B5EF4-FFF2-40B4-BE49-F238E27FC236}">
                <a16:creationId xmlns:a16="http://schemas.microsoft.com/office/drawing/2014/main" id="{76FB140B-389A-4288-BFFB-E19F97E703B1}"/>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06</a:t>
            </a:r>
          </a:p>
        </p:txBody>
      </p:sp>
    </p:spTree>
    <p:extLst>
      <p:ext uri="{BB962C8B-B14F-4D97-AF65-F5344CB8AC3E}">
        <p14:creationId xmlns:p14="http://schemas.microsoft.com/office/powerpoint/2010/main" val="741472245"/>
      </p:ext>
    </p:extLst>
  </p:cSld>
</p:sld>
</file>

<file path=ppt/slides/slide8.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B32375-7D0D-48BC-8A99-CDC615F1E9C1}"/>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6EA7B"/>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DF892EC3-8704-45C4-A958-06FBE834EA45}"/>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05 · MEASURABLE TIME SAVED</a:t>
            </a:r>
          </a:p>
        </p:txBody>
      </p:sp>
      <p:sp>
        <p:nvSpPr>
          <p:cNvPr id="4" name="Text 2">
            <a:extLst xmlns:a="http://schemas.openxmlformats.org/drawingml/2006/main">
              <a:ext uri="{FF2B5EF4-FFF2-40B4-BE49-F238E27FC236}">
                <a16:creationId xmlns:a16="http://schemas.microsoft.com/office/drawing/2014/main" id="{A28F8A73-B293-4035-A0F4-A04720CA8B3A}"/>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1B1D19"/>
                </a:solidFill>
                <a:latin typeface="Impact"/>
                <a:ea typeface="Impact"/>
                <a:cs typeface="Impact"/>
              </a:rPr>
              <a:t>FROM SCATTERED DECISIONS</a:t>
            </a:r>
          </a:p>
          <a:p xmlns:a="http://schemas.openxmlformats.org/drawingml/2006/main">
            <a:pPr marL="0" indent="0" algn="l">
              <a:lnSpc>
                <a:spcPts val="3648"/>
              </a:lnSpc>
              <a:buNone/>
            </a:pPr>
            <a:r>
              <a:rPr sz="3800">
                <a:solidFill>
                  <a:srgbClr val="1B1D19"/>
                </a:solidFill>
                <a:latin typeface="Impact"/>
                <a:ea typeface="Impact"/>
                <a:cs typeface="Impact"/>
              </a:rPr>
              <a:t>TO ONE GUIDED ROUTINE.</a:t>
            </a:r>
          </a:p>
        </p:txBody>
      </p:sp>
      <p:sp>
        <p:nvSpPr>
          <p:cNvPr id="5" name="Text 3">
            <a:extLst xmlns:a="http://schemas.openxmlformats.org/drawingml/2006/main">
              <a:ext uri="{FF2B5EF4-FFF2-40B4-BE49-F238E27FC236}">
                <a16:creationId xmlns:a16="http://schemas.microsoft.com/office/drawing/2014/main" id="{4817B57E-7575-4F21-9EEE-DEB47E372E83}"/>
              </a:ext>
            </a:extLst>
          </p:cNvPr>
          <p:cNvSpPr>
            <a:spLocks xmlns:a="http://schemas.openxmlformats.org/drawingml/2006/main" noGrp="1"/>
          </p:cNvSpPr>
          <p:nvPr/>
        </p:nvSpPr>
        <p:spPr>
          <a:xfrm xmlns:a="http://schemas.openxmlformats.org/drawingml/2006/main">
            <a:off x="381000" y="1692920"/>
            <a:ext cx="3873401" cy="2095500"/>
          </a:xfrm>
          <a:prstGeom xmlns:a="http://schemas.openxmlformats.org/drawingml/2006/main" prst="roundRect">
            <a:avLst>
              <a:gd name="adj" fmla="val 8485"/>
            </a:avLst>
          </a:prstGeom>
          <a:solidFill xmlns:a="http://schemas.openxmlformats.org/drawingml/2006/main">
            <a:srgbClr val="FFFFFF"/>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6" name="Text 4">
            <a:extLst xmlns:a="http://schemas.openxmlformats.org/drawingml/2006/main">
              <a:ext uri="{FF2B5EF4-FFF2-40B4-BE49-F238E27FC236}">
                <a16:creationId xmlns:a16="http://schemas.microsoft.com/office/drawing/2014/main" id="{44FC3967-AA19-490B-9746-87EAE03D9A9E}"/>
              </a:ext>
            </a:extLst>
          </p:cNvPr>
          <p:cNvSpPr>
            <a:spLocks xmlns:a="http://schemas.openxmlformats.org/drawingml/2006/main" noGrp="1"/>
          </p:cNvSpPr>
          <p:nvPr/>
        </p:nvSpPr>
        <p:spPr>
          <a:xfrm xmlns:a="http://schemas.openxmlformats.org/drawingml/2006/main">
            <a:off x="628650" y="1902470"/>
            <a:ext cx="3445663"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BEFORE · MANUAL</a:t>
            </a:r>
          </a:p>
        </p:txBody>
      </p:sp>
      <p:sp>
        <p:nvSpPr>
          <p:cNvPr id="7" name="Text 5">
            <a:extLst xmlns:a="http://schemas.openxmlformats.org/drawingml/2006/main">
              <a:ext uri="{FF2B5EF4-FFF2-40B4-BE49-F238E27FC236}">
                <a16:creationId xmlns:a16="http://schemas.microsoft.com/office/drawing/2014/main" id="{3DD6207D-AFA6-41A6-8760-2D9D967FB9FF}"/>
              </a:ext>
            </a:extLst>
          </p:cNvPr>
          <p:cNvSpPr>
            <a:spLocks xmlns:a="http://schemas.openxmlformats.org/drawingml/2006/main" noGrp="1"/>
          </p:cNvSpPr>
          <p:nvPr/>
        </p:nvSpPr>
        <p:spPr>
          <a:xfrm xmlns:a="http://schemas.openxmlformats.org/drawingml/2006/main">
            <a:off x="628650" y="2135535"/>
            <a:ext cx="3445663" cy="622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900"/>
              </a:lnSpc>
              <a:buNone/>
            </a:pPr>
            <a:r>
              <a:rPr sz="4900">
                <a:solidFill>
                  <a:srgbClr val="1B1D19"/>
                </a:solidFill>
                <a:latin typeface="Impact"/>
                <a:ea typeface="Impact"/>
                <a:cs typeface="Impact"/>
              </a:rPr>
              <a:t>12:00</a:t>
            </a:r>
          </a:p>
        </p:txBody>
      </p:sp>
      <p:sp>
        <p:nvSpPr>
          <p:cNvPr id="8" name="Text 6">
            <a:extLst xmlns:a="http://schemas.openxmlformats.org/drawingml/2006/main">
              <a:ext uri="{FF2B5EF4-FFF2-40B4-BE49-F238E27FC236}">
                <a16:creationId xmlns:a16="http://schemas.microsoft.com/office/drawing/2014/main" id="{05B82503-CF89-4924-BC48-89E0C698A486}"/>
              </a:ext>
            </a:extLst>
          </p:cNvPr>
          <p:cNvSpPr>
            <a:spLocks xmlns:a="http://schemas.openxmlformats.org/drawingml/2006/main" noGrp="1"/>
          </p:cNvSpPr>
          <p:nvPr/>
        </p:nvSpPr>
        <p:spPr>
          <a:xfrm xmlns:a="http://schemas.openxmlformats.org/drawingml/2006/main">
            <a:off x="628650" y="3420219"/>
            <a:ext cx="3445663"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667066"/>
                </a:solidFill>
                <a:latin typeface="Arial"/>
                <a:ea typeface="Arial"/>
                <a:cs typeface="Arial"/>
              </a:rPr>
              <a:t>Calendar + task triage + meal decision + time blocking</a:t>
            </a:r>
          </a:p>
        </p:txBody>
      </p:sp>
      <p:sp>
        <p:nvSpPr>
          <p:cNvPr id="9" name="Text 7">
            <a:extLst xmlns:a="http://schemas.openxmlformats.org/drawingml/2006/main">
              <a:ext uri="{FF2B5EF4-FFF2-40B4-BE49-F238E27FC236}">
                <a16:creationId xmlns:a16="http://schemas.microsoft.com/office/drawing/2014/main" id="{462AF309-1E2B-4A66-A930-C197DFACB5C6}"/>
              </a:ext>
            </a:extLst>
          </p:cNvPr>
          <p:cNvSpPr>
            <a:spLocks xmlns:a="http://schemas.openxmlformats.org/drawingml/2006/main" noGrp="1"/>
          </p:cNvSpPr>
          <p:nvPr/>
        </p:nvSpPr>
        <p:spPr>
          <a:xfrm xmlns:a="http://schemas.openxmlformats.org/drawingml/2006/main">
            <a:off x="4483001" y="1692920"/>
            <a:ext cx="3873401" cy="2095500"/>
          </a:xfrm>
          <a:prstGeom xmlns:a="http://schemas.openxmlformats.org/drawingml/2006/main" prst="roundRect">
            <a:avLst>
              <a:gd name="adj" fmla="val 8485"/>
            </a:avLst>
          </a:prstGeom>
          <a:solidFill xmlns:a="http://schemas.openxmlformats.org/drawingml/2006/main">
            <a:srgbClr val="1B1D19"/>
          </a:solidFill>
          <a:ln xmlns:a="http://schemas.openxmlformats.org/drawingml/2006/main" w="47625">
            <a:solidFill>
              <a:srgbClr val="C8F23D"/>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0" name="Text 8">
            <a:extLst xmlns:a="http://schemas.openxmlformats.org/drawingml/2006/main">
              <a:ext uri="{FF2B5EF4-FFF2-40B4-BE49-F238E27FC236}">
                <a16:creationId xmlns:a16="http://schemas.microsoft.com/office/drawing/2014/main" id="{93925B04-99CD-4377-BE7E-D3D25FF3B35B}"/>
              </a:ext>
            </a:extLst>
          </p:cNvPr>
          <p:cNvSpPr>
            <a:spLocks xmlns:a="http://schemas.openxmlformats.org/drawingml/2006/main" noGrp="1"/>
          </p:cNvSpPr>
          <p:nvPr/>
        </p:nvSpPr>
        <p:spPr>
          <a:xfrm xmlns:a="http://schemas.openxmlformats.org/drawingml/2006/main">
            <a:off x="4759226" y="1931045"/>
            <a:ext cx="338737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C8F23D"/>
                </a:solidFill>
                <a:latin typeface="Arial"/>
                <a:ea typeface="Arial"/>
                <a:cs typeface="Arial"/>
              </a:rPr>
              <a:t>WITH AKESO</a:t>
            </a:r>
          </a:p>
        </p:txBody>
      </p:sp>
      <p:sp>
        <p:nvSpPr>
          <p:cNvPr id="11" name="Text 9">
            <a:extLst xmlns:a="http://schemas.openxmlformats.org/drawingml/2006/main">
              <a:ext uri="{FF2B5EF4-FFF2-40B4-BE49-F238E27FC236}">
                <a16:creationId xmlns:a16="http://schemas.microsoft.com/office/drawing/2014/main" id="{526560E0-F25C-4862-A1C5-B54E8B0C1754}"/>
              </a:ext>
            </a:extLst>
          </p:cNvPr>
          <p:cNvSpPr>
            <a:spLocks xmlns:a="http://schemas.openxmlformats.org/drawingml/2006/main" noGrp="1"/>
          </p:cNvSpPr>
          <p:nvPr/>
        </p:nvSpPr>
        <p:spPr>
          <a:xfrm xmlns:a="http://schemas.openxmlformats.org/drawingml/2006/main">
            <a:off x="4759226" y="2164110"/>
            <a:ext cx="3387370" cy="622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900"/>
              </a:lnSpc>
              <a:buNone/>
            </a:pPr>
            <a:r>
              <a:rPr sz="4900">
                <a:solidFill>
                  <a:srgbClr val="C8F23D"/>
                </a:solidFill>
                <a:latin typeface="Impact"/>
                <a:ea typeface="Impact"/>
                <a:cs typeface="Impact"/>
              </a:rPr>
              <a:t>0:25</a:t>
            </a:r>
          </a:p>
        </p:txBody>
      </p:sp>
      <p:sp>
        <p:nvSpPr>
          <p:cNvPr id="12" name="Text 10">
            <a:extLst xmlns:a="http://schemas.openxmlformats.org/drawingml/2006/main">
              <a:ext uri="{FF2B5EF4-FFF2-40B4-BE49-F238E27FC236}">
                <a16:creationId xmlns:a16="http://schemas.microsoft.com/office/drawing/2014/main" id="{719840F6-58A1-4534-B4EA-7FB6768F0EE8}"/>
              </a:ext>
            </a:extLst>
          </p:cNvPr>
          <p:cNvSpPr>
            <a:spLocks xmlns:a="http://schemas.openxmlformats.org/drawingml/2006/main" noGrp="1"/>
          </p:cNvSpPr>
          <p:nvPr/>
        </p:nvSpPr>
        <p:spPr>
          <a:xfrm xmlns:a="http://schemas.openxmlformats.org/drawingml/2006/main">
            <a:off x="4759226" y="3232993"/>
            <a:ext cx="3387370" cy="31730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a:solidFill>
                  <a:srgbClr val="DDE1D8"/>
                </a:solidFill>
                <a:latin typeface="Arial"/>
                <a:ea typeface="Arial"/>
                <a:cs typeface="Arial"/>
              </a:rPr>
              <a:t>One check-in → energy insight → meal + routine suggestion</a:t>
            </a:r>
          </a:p>
        </p:txBody>
      </p:sp>
      <p:sp>
        <p:nvSpPr>
          <p:cNvPr id="13" name="Text 11">
            <a:extLst xmlns:a="http://schemas.openxmlformats.org/drawingml/2006/main">
              <a:ext uri="{FF2B5EF4-FFF2-40B4-BE49-F238E27FC236}">
                <a16:creationId xmlns:a16="http://schemas.microsoft.com/office/drawing/2014/main" id="{EB4EA7CD-5D61-495D-8540-B23E21F68605}"/>
              </a:ext>
            </a:extLst>
          </p:cNvPr>
          <p:cNvSpPr>
            <a:spLocks xmlns:a="http://schemas.openxmlformats.org/drawingml/2006/main" noGrp="1"/>
          </p:cNvSpPr>
          <p:nvPr/>
        </p:nvSpPr>
        <p:spPr>
          <a:xfrm xmlns:a="http://schemas.openxmlformats.org/drawingml/2006/main">
            <a:off x="381000" y="3940820"/>
            <a:ext cx="4635401" cy="347067"/>
          </a:xfrm>
          <a:prstGeom xmlns:a="http://schemas.openxmlformats.org/drawingml/2006/main" prst="roundRect">
            <a:avLst>
              <a:gd name="adj" fmla="val 3655577"/>
            </a:avLst>
          </a:prstGeom>
          <a:solidFill xmlns:a="http://schemas.openxmlformats.org/drawingml/2006/main">
            <a:srgbClr val="72B56E"/>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4" name="Text 12">
            <a:extLst xmlns:a="http://schemas.openxmlformats.org/drawingml/2006/main">
              <a:ext uri="{FF2B5EF4-FFF2-40B4-BE49-F238E27FC236}">
                <a16:creationId xmlns:a16="http://schemas.microsoft.com/office/drawing/2014/main" id="{A664196E-FD1D-44F1-9F13-21176F435887}"/>
              </a:ext>
            </a:extLst>
          </p:cNvPr>
          <p:cNvSpPr>
            <a:spLocks xmlns:a="http://schemas.openxmlformats.org/drawingml/2006/main" noGrp="1"/>
          </p:cNvSpPr>
          <p:nvPr/>
        </p:nvSpPr>
        <p:spPr>
          <a:xfrm xmlns:a="http://schemas.openxmlformats.org/drawingml/2006/main">
            <a:off x="1465362" y="4013746"/>
            <a:ext cx="2515859" cy="201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86"/>
              </a:lnSpc>
              <a:buNone/>
            </a:pPr>
            <a:r>
              <a:rPr sz="1300" b="1">
                <a:solidFill>
                  <a:srgbClr val="1B1D19"/>
                </a:solidFill>
                <a:latin typeface="Arial"/>
                <a:ea typeface="Arial"/>
                <a:cs typeface="Arial"/>
              </a:rPr>
              <a:t>11 MIN 35 SEC SAVED PER DAY</a:t>
            </a:r>
          </a:p>
        </p:txBody>
      </p:sp>
      <p:sp>
        <p:nvSpPr>
          <p:cNvPr id="15" name="Text 13">
            <a:extLst xmlns:a="http://schemas.openxmlformats.org/drawingml/2006/main">
              <a:ext uri="{FF2B5EF4-FFF2-40B4-BE49-F238E27FC236}">
                <a16:creationId xmlns:a16="http://schemas.microsoft.com/office/drawing/2014/main" id="{B79EC943-595C-435C-9298-CCD2CCCBD76D}"/>
              </a:ext>
            </a:extLst>
          </p:cNvPr>
          <p:cNvSpPr>
            <a:spLocks xmlns:a="http://schemas.openxmlformats.org/drawingml/2006/main" noGrp="1"/>
          </p:cNvSpPr>
          <p:nvPr/>
        </p:nvSpPr>
        <p:spPr>
          <a:xfrm xmlns:a="http://schemas.openxmlformats.org/drawingml/2006/main">
            <a:off x="381000" y="4351288"/>
            <a:ext cx="854964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0"/>
              </a:lnSpc>
              <a:spcBef>
                <a:spcPts val="500"/>
              </a:spcBef>
              <a:buNone/>
            </a:pPr>
            <a:r>
              <a:rPr sz="750">
                <a:solidFill>
                  <a:srgbClr val="667066"/>
                </a:solidFill>
                <a:latin typeface="Arial"/>
                <a:ea typeface="Arial"/>
                <a:cs typeface="Arial"/>
              </a:rPr>
              <a:t>Measured demo workflow · validate with a wider user trial.</a:t>
            </a:r>
          </a:p>
        </p:txBody>
      </p:sp>
      <p:sp>
        <p:nvSpPr>
          <p:cNvPr id="16" name="Text 14">
            <a:extLst xmlns:a="http://schemas.openxmlformats.org/drawingml/2006/main">
              <a:ext uri="{FF2B5EF4-FFF2-40B4-BE49-F238E27FC236}">
                <a16:creationId xmlns:a16="http://schemas.microsoft.com/office/drawing/2014/main" id="{CBBAAEC9-703C-48E5-A6D1-C9BA6D593F16}"/>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AKESO · ICON × LYRA HACKATHON 2026</a:t>
            </a:r>
          </a:p>
        </p:txBody>
      </p:sp>
      <p:sp>
        <p:nvSpPr>
          <p:cNvPr id="17" name="Text 15">
            <a:extLst xmlns:a="http://schemas.openxmlformats.org/drawingml/2006/main">
              <a:ext uri="{FF2B5EF4-FFF2-40B4-BE49-F238E27FC236}">
                <a16:creationId xmlns:a16="http://schemas.microsoft.com/office/drawing/2014/main" id="{C1DFCA27-3106-4B89-9844-55134330F2DE}"/>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667066"/>
                </a:solidFill>
                <a:latin typeface="Arial"/>
                <a:ea typeface="Arial"/>
                <a:cs typeface="Arial"/>
              </a:rPr>
              <a:t>07</a:t>
            </a:r>
          </a:p>
        </p:txBody>
      </p:sp>
    </p:spTree>
    <p:extLst>
      <p:ext uri="{BB962C8B-B14F-4D97-AF65-F5344CB8AC3E}">
        <p14:creationId xmlns:p14="http://schemas.microsoft.com/office/powerpoint/2010/main" val="1717376448"/>
      </p:ext>
    </p:extLst>
  </p:cSld>
</p:sld>
</file>

<file path=ppt/slides/slide9.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A8A68F-4D07-4B01-9B04-ADA8AC96347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B1D19"/>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9F04E557-5F12-411E-A9B7-2BCFD3CAFF7F}"/>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C8F23D"/>
                </a:solidFill>
                <a:latin typeface="Arial"/>
                <a:ea typeface="Arial"/>
                <a:cs typeface="Arial"/>
              </a:rPr>
              <a:t>06 · TECHNICAL EXECUTION</a:t>
            </a:r>
          </a:p>
        </p:txBody>
      </p:sp>
      <p:sp>
        <p:nvSpPr>
          <p:cNvPr id="4" name="Text 2">
            <a:extLst xmlns:a="http://schemas.openxmlformats.org/drawingml/2006/main">
              <a:ext uri="{FF2B5EF4-FFF2-40B4-BE49-F238E27FC236}">
                <a16:creationId xmlns:a16="http://schemas.microsoft.com/office/drawing/2014/main" id="{16684D89-AA55-4ADC-ADBB-69860A7EE700}"/>
              </a:ext>
            </a:extLst>
          </p:cNvPr>
          <p:cNvSpPr>
            <a:spLocks xmlns:a="http://schemas.openxmlformats.org/drawingml/2006/main" noGrp="1"/>
          </p:cNvSpPr>
          <p:nvPr/>
        </p:nvSpPr>
        <p:spPr>
          <a:xfrm xmlns:a="http://schemas.openxmlformats.org/drawingml/2006/main">
            <a:off x="381000" y="563166"/>
            <a:ext cx="8549640" cy="9266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648"/>
              </a:lnSpc>
              <a:buNone/>
            </a:pPr>
            <a:r>
              <a:rPr sz="3800">
                <a:solidFill>
                  <a:srgbClr val="F5F2E8"/>
                </a:solidFill>
                <a:latin typeface="Impact"/>
                <a:ea typeface="Impact"/>
                <a:cs typeface="Impact"/>
              </a:rPr>
              <a:t>BUILT TO EXPLAIN.</a:t>
            </a:r>
          </a:p>
          <a:p xmlns:a="http://schemas.openxmlformats.org/drawingml/2006/main">
            <a:pPr marL="0" indent="0" algn="l">
              <a:lnSpc>
                <a:spcPts val="3648"/>
              </a:lnSpc>
              <a:buNone/>
            </a:pPr>
            <a:r>
              <a:rPr sz="3800">
                <a:solidFill>
                  <a:srgbClr val="F5F2E8"/>
                </a:solidFill>
                <a:latin typeface="Impact"/>
                <a:ea typeface="Impact"/>
                <a:cs typeface="Impact"/>
              </a:rPr>
              <a:t>NOT TO PRETEND.</a:t>
            </a:r>
          </a:p>
        </p:txBody>
      </p:sp>
      <p:sp>
        <p:nvSpPr>
          <p:cNvPr id="5" name="Text 3">
            <a:extLst xmlns:a="http://schemas.openxmlformats.org/drawingml/2006/main">
              <a:ext uri="{FF2B5EF4-FFF2-40B4-BE49-F238E27FC236}">
                <a16:creationId xmlns:a16="http://schemas.microsoft.com/office/drawing/2014/main" id="{853BB7B2-F41B-48FA-88BD-083D024526EB}"/>
              </a:ext>
            </a:extLst>
          </p:cNvPr>
          <p:cNvSpPr>
            <a:spLocks xmlns:a="http://schemas.openxmlformats.org/drawingml/2006/main" noGrp="1"/>
          </p:cNvSpPr>
          <p:nvPr/>
        </p:nvSpPr>
        <p:spPr>
          <a:xfrm xmlns:a="http://schemas.openxmlformats.org/drawingml/2006/main">
            <a:off x="381000" y="1743670"/>
            <a:ext cx="1638300" cy="1134517"/>
          </a:xfrm>
          <a:prstGeom xmlns:a="http://schemas.openxmlformats.org/drawingml/2006/main" prst="roundRect">
            <a:avLst>
              <a:gd name="adj" fmla="val 15672"/>
            </a:avLst>
          </a:prstGeom>
          <a:solidFill xmlns:a="http://schemas.openxmlformats.org/drawingml/2006/main">
            <a:srgbClr val="72B56E"/>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6" name="Text 4">
            <a:extLst xmlns:a="http://schemas.openxmlformats.org/drawingml/2006/main">
              <a:ext uri="{FF2B5EF4-FFF2-40B4-BE49-F238E27FC236}">
                <a16:creationId xmlns:a16="http://schemas.microsoft.com/office/drawing/2014/main" id="{05DD7A4E-7EAE-4A37-B7EB-1696D1FDE4D1}"/>
              </a:ext>
            </a:extLst>
          </p:cNvPr>
          <p:cNvSpPr>
            <a:spLocks xmlns:a="http://schemas.openxmlformats.org/drawingml/2006/main" noGrp="1"/>
          </p:cNvSpPr>
          <p:nvPr/>
        </p:nvSpPr>
        <p:spPr>
          <a:xfrm xmlns:a="http://schemas.openxmlformats.org/drawingml/2006/main">
            <a:off x="603200" y="1965871"/>
            <a:ext cx="1217777"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1B1D19"/>
                </a:solidFill>
                <a:latin typeface="Arial"/>
                <a:ea typeface="Arial"/>
                <a:cs typeface="Arial"/>
              </a:rPr>
              <a:t>CLIENT</a:t>
            </a:r>
          </a:p>
        </p:txBody>
      </p:sp>
      <p:sp>
        <p:nvSpPr>
          <p:cNvPr id="7" name="Text 5">
            <a:extLst xmlns:a="http://schemas.openxmlformats.org/drawingml/2006/main">
              <a:ext uri="{FF2B5EF4-FFF2-40B4-BE49-F238E27FC236}">
                <a16:creationId xmlns:a16="http://schemas.microsoft.com/office/drawing/2014/main" id="{61EC86E2-5BE8-4E94-BB15-1C21E18AA906}"/>
              </a:ext>
            </a:extLst>
          </p:cNvPr>
          <p:cNvSpPr>
            <a:spLocks xmlns:a="http://schemas.openxmlformats.org/drawingml/2006/main" noGrp="1"/>
          </p:cNvSpPr>
          <p:nvPr/>
        </p:nvSpPr>
        <p:spPr>
          <a:xfrm xmlns:a="http://schemas.openxmlformats.org/drawingml/2006/main">
            <a:off x="603200" y="2198936"/>
            <a:ext cx="1217777"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Expo App</a:t>
            </a:r>
          </a:p>
        </p:txBody>
      </p:sp>
      <p:sp>
        <p:nvSpPr>
          <p:cNvPr id="8" name="Text 6">
            <a:extLst xmlns:a="http://schemas.openxmlformats.org/drawingml/2006/main">
              <a:ext uri="{FF2B5EF4-FFF2-40B4-BE49-F238E27FC236}">
                <a16:creationId xmlns:a16="http://schemas.microsoft.com/office/drawing/2014/main" id="{53F1D687-F7BD-4931-AABB-7765244A42FE}"/>
              </a:ext>
            </a:extLst>
          </p:cNvPr>
          <p:cNvSpPr>
            <a:spLocks xmlns:a="http://schemas.openxmlformats.org/drawingml/2006/main" noGrp="1"/>
          </p:cNvSpPr>
          <p:nvPr/>
        </p:nvSpPr>
        <p:spPr>
          <a:xfrm xmlns:a="http://schemas.openxmlformats.org/drawingml/2006/main">
            <a:off x="603200" y="2497336"/>
            <a:ext cx="1217777"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700"/>
              </a:spcBef>
              <a:buNone/>
            </a:pPr>
            <a:r>
              <a:rPr sz="1000">
                <a:solidFill>
                  <a:srgbClr val="1B1D19"/>
                </a:solidFill>
                <a:latin typeface="Arial"/>
                <a:ea typeface="Arial"/>
                <a:cs typeface="Arial"/>
              </a:rPr>
              <a:t>Fast daily interaction</a:t>
            </a:r>
          </a:p>
        </p:txBody>
      </p:sp>
      <p:sp>
        <p:nvSpPr>
          <p:cNvPr id="9" name="Text 7">
            <a:extLst xmlns:a="http://schemas.openxmlformats.org/drawingml/2006/main">
              <a:ext uri="{FF2B5EF4-FFF2-40B4-BE49-F238E27FC236}">
                <a16:creationId xmlns:a16="http://schemas.microsoft.com/office/drawing/2014/main" id="{2A275BA5-1CB2-4100-8540-DD6540C208D5}"/>
              </a:ext>
            </a:extLst>
          </p:cNvPr>
          <p:cNvSpPr>
            <a:spLocks xmlns:a="http://schemas.openxmlformats.org/drawingml/2006/main" noGrp="1"/>
          </p:cNvSpPr>
          <p:nvPr/>
        </p:nvSpPr>
        <p:spPr>
          <a:xfrm xmlns:a="http://schemas.openxmlformats.org/drawingml/2006/main">
            <a:off x="2168652" y="2124968"/>
            <a:ext cx="310896" cy="3717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928"/>
              </a:lnSpc>
              <a:buNone/>
            </a:pPr>
            <a:r>
              <a:rPr sz="2400">
                <a:solidFill>
                  <a:srgbClr val="C8F23D"/>
                </a:solidFill>
                <a:latin typeface="Arial"/>
                <a:ea typeface="Arial"/>
                <a:cs typeface="Arial"/>
              </a:rPr>
              <a:t>→</a:t>
            </a:r>
          </a:p>
        </p:txBody>
      </p:sp>
      <p:sp>
        <p:nvSpPr>
          <p:cNvPr id="10" name="Text 8">
            <a:extLst xmlns:a="http://schemas.openxmlformats.org/drawingml/2006/main">
              <a:ext uri="{FF2B5EF4-FFF2-40B4-BE49-F238E27FC236}">
                <a16:creationId xmlns:a16="http://schemas.microsoft.com/office/drawing/2014/main" id="{28CAFBBD-C9F3-4D6B-915B-30C4C78ACF4A}"/>
              </a:ext>
            </a:extLst>
          </p:cNvPr>
          <p:cNvSpPr>
            <a:spLocks xmlns:a="http://schemas.openxmlformats.org/drawingml/2006/main" noGrp="1"/>
          </p:cNvSpPr>
          <p:nvPr/>
        </p:nvSpPr>
        <p:spPr>
          <a:xfrm xmlns:a="http://schemas.openxmlformats.org/drawingml/2006/main">
            <a:off x="2628900" y="1743670"/>
            <a:ext cx="1638300" cy="1134517"/>
          </a:xfrm>
          <a:prstGeom xmlns:a="http://schemas.openxmlformats.org/drawingml/2006/main" prst="roundRect">
            <a:avLst>
              <a:gd name="adj" fmla="val 15672"/>
            </a:avLst>
          </a:prstGeom>
          <a:solidFill xmlns:a="http://schemas.openxmlformats.org/drawingml/2006/main">
            <a:srgbClr val="F6EA7B"/>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1" name="Text 9">
            <a:extLst xmlns:a="http://schemas.openxmlformats.org/drawingml/2006/main">
              <a:ext uri="{FF2B5EF4-FFF2-40B4-BE49-F238E27FC236}">
                <a16:creationId xmlns:a16="http://schemas.microsoft.com/office/drawing/2014/main" id="{44BA8F7A-A4BA-4BA7-A457-CA461D97FFA1}"/>
              </a:ext>
            </a:extLst>
          </p:cNvPr>
          <p:cNvSpPr>
            <a:spLocks xmlns:a="http://schemas.openxmlformats.org/drawingml/2006/main" noGrp="1"/>
          </p:cNvSpPr>
          <p:nvPr/>
        </p:nvSpPr>
        <p:spPr>
          <a:xfrm xmlns:a="http://schemas.openxmlformats.org/drawingml/2006/main">
            <a:off x="2851100" y="1965871"/>
            <a:ext cx="1217777"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1B1D19"/>
                </a:solidFill>
                <a:latin typeface="Arial"/>
                <a:ea typeface="Arial"/>
                <a:cs typeface="Arial"/>
              </a:rPr>
              <a:t>API</a:t>
            </a:r>
          </a:p>
        </p:txBody>
      </p:sp>
      <p:sp>
        <p:nvSpPr>
          <p:cNvPr id="12" name="Text 10">
            <a:extLst xmlns:a="http://schemas.openxmlformats.org/drawingml/2006/main">
              <a:ext uri="{FF2B5EF4-FFF2-40B4-BE49-F238E27FC236}">
                <a16:creationId xmlns:a16="http://schemas.microsoft.com/office/drawing/2014/main" id="{2214F4B8-59C7-4D33-90B4-AE9AA5642279}"/>
              </a:ext>
            </a:extLst>
          </p:cNvPr>
          <p:cNvSpPr>
            <a:spLocks xmlns:a="http://schemas.openxmlformats.org/drawingml/2006/main" noGrp="1"/>
          </p:cNvSpPr>
          <p:nvPr/>
        </p:nvSpPr>
        <p:spPr>
          <a:xfrm xmlns:a="http://schemas.openxmlformats.org/drawingml/2006/main">
            <a:off x="2851100" y="2198936"/>
            <a:ext cx="1217777"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Express</a:t>
            </a:r>
          </a:p>
        </p:txBody>
      </p:sp>
      <p:sp>
        <p:nvSpPr>
          <p:cNvPr id="13" name="Text 11">
            <a:extLst xmlns:a="http://schemas.openxmlformats.org/drawingml/2006/main">
              <a:ext uri="{FF2B5EF4-FFF2-40B4-BE49-F238E27FC236}">
                <a16:creationId xmlns:a16="http://schemas.microsoft.com/office/drawing/2014/main" id="{886A8A6A-3102-47C8-B859-52833FC43530}"/>
              </a:ext>
            </a:extLst>
          </p:cNvPr>
          <p:cNvSpPr>
            <a:spLocks xmlns:a="http://schemas.openxmlformats.org/drawingml/2006/main" noGrp="1"/>
          </p:cNvSpPr>
          <p:nvPr/>
        </p:nvSpPr>
        <p:spPr>
          <a:xfrm xmlns:a="http://schemas.openxmlformats.org/drawingml/2006/main">
            <a:off x="2851100" y="2497336"/>
            <a:ext cx="1217777"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700"/>
              </a:spcBef>
              <a:buNone/>
            </a:pPr>
            <a:r>
              <a:rPr sz="1000">
                <a:solidFill>
                  <a:srgbClr val="1B1D19"/>
                </a:solidFill>
                <a:latin typeface="Arial"/>
                <a:ea typeface="Arial"/>
                <a:cs typeface="Arial"/>
              </a:rPr>
              <a:t>Validated contracts</a:t>
            </a:r>
          </a:p>
        </p:txBody>
      </p:sp>
      <p:sp>
        <p:nvSpPr>
          <p:cNvPr id="14" name="Text 12">
            <a:extLst xmlns:a="http://schemas.openxmlformats.org/drawingml/2006/main">
              <a:ext uri="{FF2B5EF4-FFF2-40B4-BE49-F238E27FC236}">
                <a16:creationId xmlns:a16="http://schemas.microsoft.com/office/drawing/2014/main" id="{7E0B099C-8EB5-484D-B145-5CD622BFC3D1}"/>
              </a:ext>
            </a:extLst>
          </p:cNvPr>
          <p:cNvSpPr>
            <a:spLocks xmlns:a="http://schemas.openxmlformats.org/drawingml/2006/main" noGrp="1"/>
          </p:cNvSpPr>
          <p:nvPr/>
        </p:nvSpPr>
        <p:spPr>
          <a:xfrm xmlns:a="http://schemas.openxmlformats.org/drawingml/2006/main">
            <a:off x="4416552" y="2124968"/>
            <a:ext cx="310896" cy="3717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928"/>
              </a:lnSpc>
              <a:buNone/>
            </a:pPr>
            <a:r>
              <a:rPr sz="2400">
                <a:solidFill>
                  <a:srgbClr val="C8F23D"/>
                </a:solidFill>
                <a:latin typeface="Arial"/>
                <a:ea typeface="Arial"/>
                <a:cs typeface="Arial"/>
              </a:rPr>
              <a:t>→</a:t>
            </a:r>
          </a:p>
        </p:txBody>
      </p:sp>
      <p:sp>
        <p:nvSpPr>
          <p:cNvPr id="15" name="Text 13">
            <a:extLst xmlns:a="http://schemas.openxmlformats.org/drawingml/2006/main">
              <a:ext uri="{FF2B5EF4-FFF2-40B4-BE49-F238E27FC236}">
                <a16:creationId xmlns:a16="http://schemas.microsoft.com/office/drawing/2014/main" id="{C94B9116-3155-40D9-B17C-65ADC23FC12E}"/>
              </a:ext>
            </a:extLst>
          </p:cNvPr>
          <p:cNvSpPr>
            <a:spLocks xmlns:a="http://schemas.openxmlformats.org/drawingml/2006/main" noGrp="1"/>
          </p:cNvSpPr>
          <p:nvPr/>
        </p:nvSpPr>
        <p:spPr>
          <a:xfrm xmlns:a="http://schemas.openxmlformats.org/drawingml/2006/main">
            <a:off x="4876800" y="1743670"/>
            <a:ext cx="1638300" cy="1134517"/>
          </a:xfrm>
          <a:prstGeom xmlns:a="http://schemas.openxmlformats.org/drawingml/2006/main" prst="roundRect">
            <a:avLst>
              <a:gd name="adj" fmla="val 15672"/>
            </a:avLst>
          </a:prstGeom>
          <a:solidFill xmlns:a="http://schemas.openxmlformats.org/drawingml/2006/main">
            <a:srgbClr val="B9D7F2"/>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6" name="Text 14">
            <a:extLst xmlns:a="http://schemas.openxmlformats.org/drawingml/2006/main">
              <a:ext uri="{FF2B5EF4-FFF2-40B4-BE49-F238E27FC236}">
                <a16:creationId xmlns:a16="http://schemas.microsoft.com/office/drawing/2014/main" id="{DDC536FA-F18F-49F5-899B-A6B6073D6EC7}"/>
              </a:ext>
            </a:extLst>
          </p:cNvPr>
          <p:cNvSpPr>
            <a:spLocks xmlns:a="http://schemas.openxmlformats.org/drawingml/2006/main" noGrp="1"/>
          </p:cNvSpPr>
          <p:nvPr/>
        </p:nvSpPr>
        <p:spPr>
          <a:xfrm xmlns:a="http://schemas.openxmlformats.org/drawingml/2006/main">
            <a:off x="5099000" y="1965871"/>
            <a:ext cx="1217777"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1B1D19"/>
                </a:solidFill>
                <a:latin typeface="Arial"/>
                <a:ea typeface="Arial"/>
                <a:cs typeface="Arial"/>
              </a:rPr>
              <a:t>DATA</a:t>
            </a:r>
          </a:p>
        </p:txBody>
      </p:sp>
      <p:sp>
        <p:nvSpPr>
          <p:cNvPr id="17" name="Text 15">
            <a:extLst xmlns:a="http://schemas.openxmlformats.org/drawingml/2006/main">
              <a:ext uri="{FF2B5EF4-FFF2-40B4-BE49-F238E27FC236}">
                <a16:creationId xmlns:a16="http://schemas.microsoft.com/office/drawing/2014/main" id="{30C8DA90-7ADD-40CF-93F9-5DA37ADFE3EA}"/>
              </a:ext>
            </a:extLst>
          </p:cNvPr>
          <p:cNvSpPr>
            <a:spLocks xmlns:a="http://schemas.openxmlformats.org/drawingml/2006/main" noGrp="1"/>
          </p:cNvSpPr>
          <p:nvPr/>
        </p:nvSpPr>
        <p:spPr>
          <a:xfrm xmlns:a="http://schemas.openxmlformats.org/drawingml/2006/main">
            <a:off x="5099000" y="2198936"/>
            <a:ext cx="1217777"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Supabase</a:t>
            </a:r>
          </a:p>
        </p:txBody>
      </p:sp>
      <p:sp>
        <p:nvSpPr>
          <p:cNvPr id="18" name="Text 16">
            <a:extLst xmlns:a="http://schemas.openxmlformats.org/drawingml/2006/main">
              <a:ext uri="{FF2B5EF4-FFF2-40B4-BE49-F238E27FC236}">
                <a16:creationId xmlns:a16="http://schemas.microsoft.com/office/drawing/2014/main" id="{F224E96A-6E18-49F1-ACF8-85A05FBFF3AA}"/>
              </a:ext>
            </a:extLst>
          </p:cNvPr>
          <p:cNvSpPr>
            <a:spLocks xmlns:a="http://schemas.openxmlformats.org/drawingml/2006/main" noGrp="1"/>
          </p:cNvSpPr>
          <p:nvPr/>
        </p:nvSpPr>
        <p:spPr>
          <a:xfrm xmlns:a="http://schemas.openxmlformats.org/drawingml/2006/main">
            <a:off x="5099000" y="2497336"/>
            <a:ext cx="1217777"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700"/>
              </a:spcBef>
              <a:buNone/>
            </a:pPr>
            <a:r>
              <a:rPr sz="1000">
                <a:solidFill>
                  <a:srgbClr val="1B1D19"/>
                </a:solidFill>
                <a:latin typeface="Arial"/>
                <a:ea typeface="Arial"/>
                <a:cs typeface="Arial"/>
              </a:rPr>
              <a:t>Longitudinal patterns</a:t>
            </a:r>
          </a:p>
        </p:txBody>
      </p:sp>
      <p:sp>
        <p:nvSpPr>
          <p:cNvPr id="19" name="Text 17">
            <a:extLst xmlns:a="http://schemas.openxmlformats.org/drawingml/2006/main">
              <a:ext uri="{FF2B5EF4-FFF2-40B4-BE49-F238E27FC236}">
                <a16:creationId xmlns:a16="http://schemas.microsoft.com/office/drawing/2014/main" id="{91938344-BDBD-44A1-9A80-00A0BD16B8B3}"/>
              </a:ext>
            </a:extLst>
          </p:cNvPr>
          <p:cNvSpPr>
            <a:spLocks xmlns:a="http://schemas.openxmlformats.org/drawingml/2006/main" noGrp="1"/>
          </p:cNvSpPr>
          <p:nvPr/>
        </p:nvSpPr>
        <p:spPr>
          <a:xfrm xmlns:a="http://schemas.openxmlformats.org/drawingml/2006/main">
            <a:off x="6664452" y="2124968"/>
            <a:ext cx="310896" cy="3717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928"/>
              </a:lnSpc>
              <a:buNone/>
            </a:pPr>
            <a:r>
              <a:rPr sz="2400">
                <a:solidFill>
                  <a:srgbClr val="C8F23D"/>
                </a:solidFill>
                <a:latin typeface="Arial"/>
                <a:ea typeface="Arial"/>
                <a:cs typeface="Arial"/>
              </a:rPr>
              <a:t>→</a:t>
            </a:r>
          </a:p>
        </p:txBody>
      </p:sp>
      <p:sp>
        <p:nvSpPr>
          <p:cNvPr id="20" name="Text 18">
            <a:extLst xmlns:a="http://schemas.openxmlformats.org/drawingml/2006/main">
              <a:ext uri="{FF2B5EF4-FFF2-40B4-BE49-F238E27FC236}">
                <a16:creationId xmlns:a16="http://schemas.microsoft.com/office/drawing/2014/main" id="{CD56F8E9-F394-454F-A3E5-A5844B32D2D7}"/>
              </a:ext>
            </a:extLst>
          </p:cNvPr>
          <p:cNvSpPr>
            <a:spLocks xmlns:a="http://schemas.openxmlformats.org/drawingml/2006/main" noGrp="1"/>
          </p:cNvSpPr>
          <p:nvPr/>
        </p:nvSpPr>
        <p:spPr>
          <a:xfrm xmlns:a="http://schemas.openxmlformats.org/drawingml/2006/main">
            <a:off x="7124700" y="1743670"/>
            <a:ext cx="1638300" cy="1134517"/>
          </a:xfrm>
          <a:prstGeom xmlns:a="http://schemas.openxmlformats.org/drawingml/2006/main" prst="roundRect">
            <a:avLst>
              <a:gd name="adj" fmla="val 15672"/>
            </a:avLst>
          </a:prstGeom>
          <a:solidFill xmlns:a="http://schemas.openxmlformats.org/drawingml/2006/main">
            <a:srgbClr val="F49C86"/>
          </a:solidFill>
          <a:ln xmlns:a="http://schemas.openxmlformats.org/drawingml/2006/main" w="19050">
            <a:solidFill>
              <a:srgbClr val="30342E"/>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21" name="Text 19">
            <a:extLst xmlns:a="http://schemas.openxmlformats.org/drawingml/2006/main">
              <a:ext uri="{FF2B5EF4-FFF2-40B4-BE49-F238E27FC236}">
                <a16:creationId xmlns:a16="http://schemas.microsoft.com/office/drawing/2014/main" id="{5B1ED128-EE5B-45F2-B092-FA1DFF975769}"/>
              </a:ext>
            </a:extLst>
          </p:cNvPr>
          <p:cNvSpPr>
            <a:spLocks xmlns:a="http://schemas.openxmlformats.org/drawingml/2006/main" noGrp="1"/>
          </p:cNvSpPr>
          <p:nvPr/>
        </p:nvSpPr>
        <p:spPr>
          <a:xfrm xmlns:a="http://schemas.openxmlformats.org/drawingml/2006/main">
            <a:off x="7346900" y="1965871"/>
            <a:ext cx="1217777"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1B1D19"/>
                </a:solidFill>
                <a:latin typeface="Arial"/>
                <a:ea typeface="Arial"/>
                <a:cs typeface="Arial"/>
              </a:rPr>
              <a:t>GUIDANCE</a:t>
            </a:r>
          </a:p>
        </p:txBody>
      </p:sp>
      <p:sp>
        <p:nvSpPr>
          <p:cNvPr id="22" name="Text 20">
            <a:extLst xmlns:a="http://schemas.openxmlformats.org/drawingml/2006/main">
              <a:ext uri="{FF2B5EF4-FFF2-40B4-BE49-F238E27FC236}">
                <a16:creationId xmlns:a16="http://schemas.microsoft.com/office/drawing/2014/main" id="{0C575315-A8BF-4E45-A370-8E1B6685F902}"/>
              </a:ext>
            </a:extLst>
          </p:cNvPr>
          <p:cNvSpPr>
            <a:spLocks xmlns:a="http://schemas.openxmlformats.org/drawingml/2006/main" noGrp="1"/>
          </p:cNvSpPr>
          <p:nvPr/>
        </p:nvSpPr>
        <p:spPr>
          <a:xfrm xmlns:a="http://schemas.openxmlformats.org/drawingml/2006/main">
            <a:off x="7346900" y="2198936"/>
            <a:ext cx="1217777"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50"/>
              </a:lnSpc>
              <a:buNone/>
            </a:pPr>
            <a:r>
              <a:rPr sz="1500" b="1">
                <a:solidFill>
                  <a:srgbClr val="1B1D19"/>
                </a:solidFill>
                <a:latin typeface="Arial"/>
                <a:ea typeface="Arial"/>
                <a:cs typeface="Arial"/>
              </a:rPr>
              <a:t>Validated AI</a:t>
            </a:r>
          </a:p>
        </p:txBody>
      </p:sp>
      <p:sp>
        <p:nvSpPr>
          <p:cNvPr id="23" name="Text 21">
            <a:extLst xmlns:a="http://schemas.openxmlformats.org/drawingml/2006/main">
              <a:ext uri="{FF2B5EF4-FFF2-40B4-BE49-F238E27FC236}">
                <a16:creationId xmlns:a16="http://schemas.microsoft.com/office/drawing/2014/main" id="{2A8033DA-9C5A-422F-BAC2-52CF56404D9A}"/>
              </a:ext>
            </a:extLst>
          </p:cNvPr>
          <p:cNvSpPr>
            <a:spLocks xmlns:a="http://schemas.openxmlformats.org/drawingml/2006/main" noGrp="1"/>
          </p:cNvSpPr>
          <p:nvPr/>
        </p:nvSpPr>
        <p:spPr>
          <a:xfrm xmlns:a="http://schemas.openxmlformats.org/drawingml/2006/main">
            <a:off x="7346900" y="2497336"/>
            <a:ext cx="1217777"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spcBef>
                <a:spcPts val="700"/>
              </a:spcBef>
              <a:buNone/>
            </a:pPr>
            <a:r>
              <a:rPr sz="1000">
                <a:solidFill>
                  <a:srgbClr val="1B1D19"/>
                </a:solidFill>
                <a:latin typeface="Arial"/>
                <a:ea typeface="Arial"/>
                <a:cs typeface="Arial"/>
              </a:rPr>
              <a:t>Explains, not scores</a:t>
            </a:r>
          </a:p>
        </p:txBody>
      </p:sp>
      <p:sp>
        <p:nvSpPr>
          <p:cNvPr id="24" name="Text 22">
            <a:extLst xmlns:a="http://schemas.openxmlformats.org/drawingml/2006/main">
              <a:ext uri="{FF2B5EF4-FFF2-40B4-BE49-F238E27FC236}">
                <a16:creationId xmlns:a16="http://schemas.microsoft.com/office/drawing/2014/main" id="{0708D1BF-81BC-44C9-965E-33CF1CC8A509}"/>
              </a:ext>
            </a:extLst>
          </p:cNvPr>
          <p:cNvSpPr>
            <a:spLocks xmlns:a="http://schemas.openxmlformats.org/drawingml/2006/main" noGrp="1"/>
          </p:cNvSpPr>
          <p:nvPr/>
        </p:nvSpPr>
        <p:spPr>
          <a:xfrm xmlns:a="http://schemas.openxmlformats.org/drawingml/2006/main">
            <a:off x="381000" y="3106787"/>
            <a:ext cx="1632049" cy="285155"/>
          </a:xfrm>
          <a:prstGeom xmlns:a="http://schemas.openxmlformats.org/drawingml/2006/main" prst="roundRect">
            <a:avLst>
              <a:gd name="adj" fmla="val 4449264"/>
            </a:avLst>
          </a:prstGeom>
          <a:solidFill xmlns:a="http://schemas.openxmlformats.org/drawingml/2006/main">
            <a:srgbClr val="C8F23D"/>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25" name="Text 23">
            <a:extLst xmlns:a="http://schemas.openxmlformats.org/drawingml/2006/main">
              <a:ext uri="{FF2B5EF4-FFF2-40B4-BE49-F238E27FC236}">
                <a16:creationId xmlns:a16="http://schemas.microsoft.com/office/drawing/2014/main" id="{47591008-BFC4-4F65-80FE-2146778F1766}"/>
              </a:ext>
            </a:extLst>
          </p:cNvPr>
          <p:cNvSpPr>
            <a:spLocks xmlns:a="http://schemas.openxmlformats.org/drawingml/2006/main" noGrp="1"/>
          </p:cNvSpPr>
          <p:nvPr/>
        </p:nvSpPr>
        <p:spPr>
          <a:xfrm xmlns:a="http://schemas.openxmlformats.org/drawingml/2006/main">
            <a:off x="517475" y="3179713"/>
            <a:ext cx="1386280"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DETERMINISTIC ENGINE</a:t>
            </a:r>
          </a:p>
        </p:txBody>
      </p:sp>
      <p:sp>
        <p:nvSpPr>
          <p:cNvPr id="26" name="Text 24">
            <a:extLst xmlns:a="http://schemas.openxmlformats.org/drawingml/2006/main">
              <a:ext uri="{FF2B5EF4-FFF2-40B4-BE49-F238E27FC236}">
                <a16:creationId xmlns:a16="http://schemas.microsoft.com/office/drawing/2014/main" id="{58875A9C-B45C-4CE1-B94F-BAA55300C082}"/>
              </a:ext>
            </a:extLst>
          </p:cNvPr>
          <p:cNvSpPr>
            <a:spLocks xmlns:a="http://schemas.openxmlformats.org/drawingml/2006/main" noGrp="1"/>
          </p:cNvSpPr>
          <p:nvPr/>
        </p:nvSpPr>
        <p:spPr>
          <a:xfrm xmlns:a="http://schemas.openxmlformats.org/drawingml/2006/main">
            <a:off x="2165449" y="3106787"/>
            <a:ext cx="1945035" cy="285155"/>
          </a:xfrm>
          <a:prstGeom xmlns:a="http://schemas.openxmlformats.org/drawingml/2006/main" prst="roundRect">
            <a:avLst>
              <a:gd name="adj" fmla="val 4449264"/>
            </a:avLst>
          </a:prstGeom>
          <a:solidFill xmlns:a="http://schemas.openxmlformats.org/drawingml/2006/main">
            <a:srgbClr val="FFFFFF"/>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27" name="Text 25">
            <a:extLst xmlns:a="http://schemas.openxmlformats.org/drawingml/2006/main">
              <a:ext uri="{FF2B5EF4-FFF2-40B4-BE49-F238E27FC236}">
                <a16:creationId xmlns:a16="http://schemas.microsoft.com/office/drawing/2014/main" id="{2FD267F9-A236-4FB8-9351-04E4694D3525}"/>
              </a:ext>
            </a:extLst>
          </p:cNvPr>
          <p:cNvSpPr>
            <a:spLocks xmlns:a="http://schemas.openxmlformats.org/drawingml/2006/main" noGrp="1"/>
          </p:cNvSpPr>
          <p:nvPr/>
        </p:nvSpPr>
        <p:spPr>
          <a:xfrm xmlns:a="http://schemas.openxmlformats.org/drawingml/2006/main">
            <a:off x="2301925" y="3179713"/>
            <a:ext cx="1705526"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SCHEMA-VALIDATED OUTPUT</a:t>
            </a:r>
          </a:p>
        </p:txBody>
      </p:sp>
      <p:sp>
        <p:nvSpPr>
          <p:cNvPr id="28" name="Text 26">
            <a:extLst xmlns:a="http://schemas.openxmlformats.org/drawingml/2006/main">
              <a:ext uri="{FF2B5EF4-FFF2-40B4-BE49-F238E27FC236}">
                <a16:creationId xmlns:a16="http://schemas.microsoft.com/office/drawing/2014/main" id="{351E83F5-342F-42BB-9535-14308D205617}"/>
              </a:ext>
            </a:extLst>
          </p:cNvPr>
          <p:cNvSpPr>
            <a:spLocks xmlns:a="http://schemas.openxmlformats.org/drawingml/2006/main" noGrp="1"/>
          </p:cNvSpPr>
          <p:nvPr/>
        </p:nvSpPr>
        <p:spPr>
          <a:xfrm xmlns:a="http://schemas.openxmlformats.org/drawingml/2006/main">
            <a:off x="4262884" y="3106787"/>
            <a:ext cx="1627733" cy="285155"/>
          </a:xfrm>
          <a:prstGeom xmlns:a="http://schemas.openxmlformats.org/drawingml/2006/main" prst="roundRect">
            <a:avLst>
              <a:gd name="adj" fmla="val 4449264"/>
            </a:avLst>
          </a:prstGeom>
          <a:solidFill xmlns:a="http://schemas.openxmlformats.org/drawingml/2006/main">
            <a:srgbClr val="72B56E"/>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29" name="Text 27">
            <a:extLst xmlns:a="http://schemas.openxmlformats.org/drawingml/2006/main">
              <a:ext uri="{FF2B5EF4-FFF2-40B4-BE49-F238E27FC236}">
                <a16:creationId xmlns:a16="http://schemas.microsoft.com/office/drawing/2014/main" id="{0DDB15D6-2302-41DF-AC22-476CA74479CD}"/>
              </a:ext>
            </a:extLst>
          </p:cNvPr>
          <p:cNvSpPr>
            <a:spLocks xmlns:a="http://schemas.openxmlformats.org/drawingml/2006/main" noGrp="1"/>
          </p:cNvSpPr>
          <p:nvPr/>
        </p:nvSpPr>
        <p:spPr>
          <a:xfrm xmlns:a="http://schemas.openxmlformats.org/drawingml/2006/main">
            <a:off x="4399359" y="3179713"/>
            <a:ext cx="1381878"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NOT A MEDICAL DEVICE</a:t>
            </a:r>
          </a:p>
        </p:txBody>
      </p:sp>
      <p:sp>
        <p:nvSpPr>
          <p:cNvPr id="30" name="Text 28">
            <a:extLst xmlns:a="http://schemas.openxmlformats.org/drawingml/2006/main">
              <a:ext uri="{FF2B5EF4-FFF2-40B4-BE49-F238E27FC236}">
                <a16:creationId xmlns:a16="http://schemas.microsoft.com/office/drawing/2014/main" id="{AADEA1C4-3EE3-4EF1-A259-B6BD22FF8A89}"/>
              </a:ext>
            </a:extLst>
          </p:cNvPr>
          <p:cNvSpPr>
            <a:spLocks xmlns:a="http://schemas.openxmlformats.org/drawingml/2006/main" noGrp="1"/>
          </p:cNvSpPr>
          <p:nvPr/>
        </p:nvSpPr>
        <p:spPr>
          <a:xfrm xmlns:a="http://schemas.openxmlformats.org/drawingml/2006/main">
            <a:off x="381000" y="3607743"/>
            <a:ext cx="8382000" cy="501551"/>
          </a:xfrm>
          <a:prstGeom xmlns:a="http://schemas.openxmlformats.org/drawingml/2006/main" prst="roundRect">
            <a:avLst>
              <a:gd name="adj" fmla="val 35450"/>
            </a:avLst>
          </a:prstGeom>
          <a:solidFill xmlns:a="http://schemas.openxmlformats.org/drawingml/2006/main">
            <a:srgbClr val="30342E"/>
          </a:solidFill>
          <a:ln xmlns:a="http://schemas.openxmlformats.org/drawingml/2006/main" w="19050">
            <a:solidFill>
              <a:srgbClr val="596057"/>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1" name="Text 29">
            <a:extLst xmlns:a="http://schemas.openxmlformats.org/drawingml/2006/main">
              <a:ext uri="{FF2B5EF4-FFF2-40B4-BE49-F238E27FC236}">
                <a16:creationId xmlns:a16="http://schemas.microsoft.com/office/drawing/2014/main" id="{26AEA7DF-A17E-4AD0-8810-E72C916AD78F}"/>
              </a:ext>
            </a:extLst>
          </p:cNvPr>
          <p:cNvSpPr>
            <a:spLocks xmlns:a="http://schemas.openxmlformats.org/drawingml/2006/main" noGrp="1"/>
          </p:cNvSpPr>
          <p:nvPr/>
        </p:nvSpPr>
        <p:spPr>
          <a:xfrm xmlns:a="http://schemas.openxmlformats.org/drawingml/2006/main">
            <a:off x="590550" y="3779193"/>
            <a:ext cx="8122158" cy="15865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F5F2E8"/>
                </a:solidFill>
                <a:latin typeface="Arial"/>
                <a:ea typeface="Arial"/>
                <a:cs typeface="Arial"/>
              </a:rPr>
              <a:t>Core challenge:</a:t>
            </a:r>
            <a:r>
              <a:rPr sz="1000">
                <a:solidFill>
                  <a:srgbClr val="F5F2E8"/>
                </a:solidFill>
                <a:latin typeface="Arial"/>
                <a:ea typeface="Arial"/>
                <a:cs typeface="Arial"/>
              </a:rPr>
              <a:t> turning noisy lifestyle signals into useful guidance without overstating certainty.</a:t>
            </a:r>
          </a:p>
        </p:txBody>
      </p:sp>
      <p:sp>
        <p:nvSpPr>
          <p:cNvPr id="32" name="Text 30">
            <a:extLst xmlns:a="http://schemas.openxmlformats.org/drawingml/2006/main">
              <a:ext uri="{FF2B5EF4-FFF2-40B4-BE49-F238E27FC236}">
                <a16:creationId xmlns:a16="http://schemas.microsoft.com/office/drawing/2014/main" id="{A44F9F26-3908-4FA7-9A7E-BF1B1848D802}"/>
              </a:ext>
            </a:extLst>
          </p:cNvPr>
          <p:cNvSpPr>
            <a:spLocks xmlns:a="http://schemas.openxmlformats.org/drawingml/2006/main" noGrp="1"/>
          </p:cNvSpPr>
          <p:nvPr/>
        </p:nvSpPr>
        <p:spPr>
          <a:xfrm xmlns:a="http://schemas.openxmlformats.org/drawingml/2006/main">
            <a:off x="381000" y="4925913"/>
            <a:ext cx="2278740"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AEB5AA"/>
                </a:solidFill>
                <a:latin typeface="Arial"/>
                <a:ea typeface="Arial"/>
                <a:cs typeface="Arial"/>
              </a:rPr>
              <a:t>AKESO · ICON × LYRA HACKATHON 2026</a:t>
            </a:r>
          </a:p>
        </p:txBody>
      </p:sp>
      <p:sp>
        <p:nvSpPr>
          <p:cNvPr id="33" name="Text 31">
            <a:extLst xmlns:a="http://schemas.openxmlformats.org/drawingml/2006/main">
              <a:ext uri="{FF2B5EF4-FFF2-40B4-BE49-F238E27FC236}">
                <a16:creationId xmlns:a16="http://schemas.microsoft.com/office/drawing/2014/main" id="{E2E715C7-0D0E-42FB-AFCE-4C346623ECEC}"/>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AEB5AA"/>
                </a:solidFill>
                <a:latin typeface="Arial"/>
                <a:ea typeface="Arial"/>
                <a:cs typeface="Arial"/>
              </a:rPr>
              <a:t>08</a:t>
            </a:r>
          </a:p>
        </p:txBody>
      </p:sp>
    </p:spTree>
    <p:extLst>
      <p:ext uri="{BB962C8B-B14F-4D97-AF65-F5344CB8AC3E}">
        <p14:creationId xmlns:p14="http://schemas.microsoft.com/office/powerpoint/2010/main" val="989718496"/>
      </p:ext>
    </p:extLst>
  </p:cSld>
</p:sld>
</file>

<file path=ppt/slides/slide10.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ACD5E7-8C50-4258-BEFC-FB11C0F5671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72B56E"/>
          </a:solidFill>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3" name="Text 1">
            <a:extLst xmlns:a="http://schemas.openxmlformats.org/drawingml/2006/main">
              <a:ext uri="{FF2B5EF4-FFF2-40B4-BE49-F238E27FC236}">
                <a16:creationId xmlns:a16="http://schemas.microsoft.com/office/drawing/2014/main" id="{355BC5FC-4AD8-4F3B-8BE9-5C3030860DB2}"/>
              </a:ext>
            </a:extLst>
          </p:cNvPr>
          <p:cNvSpPr>
            <a:spLocks xmlns:a="http://schemas.openxmlformats.org/drawingml/2006/main" noGrp="1"/>
          </p:cNvSpPr>
          <p:nvPr/>
        </p:nvSpPr>
        <p:spPr>
          <a:xfrm xmlns:a="http://schemas.openxmlformats.org/drawingml/2006/main">
            <a:off x="381000" y="330101"/>
            <a:ext cx="8549640" cy="1315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7"/>
              </a:lnSpc>
              <a:spcAft>
                <a:spcPts val="800"/>
              </a:spcAft>
              <a:buNone/>
            </a:pPr>
            <a:r>
              <a:rPr sz="850" b="1">
                <a:solidFill>
                  <a:srgbClr val="667066"/>
                </a:solidFill>
                <a:latin typeface="Arial"/>
                <a:ea typeface="Arial"/>
                <a:cs typeface="Arial"/>
              </a:rPr>
              <a:t>07 · WHAT’S NEXT</a:t>
            </a:r>
          </a:p>
        </p:txBody>
      </p:sp>
      <p:sp>
        <p:nvSpPr>
          <p:cNvPr id="4" name="Text 2">
            <a:extLst xmlns:a="http://schemas.openxmlformats.org/drawingml/2006/main">
              <a:ext uri="{FF2B5EF4-FFF2-40B4-BE49-F238E27FC236}">
                <a16:creationId xmlns:a16="http://schemas.microsoft.com/office/drawing/2014/main" id="{64DA351D-25BC-453D-92BB-B524A6BEE722}"/>
              </a:ext>
            </a:extLst>
          </p:cNvPr>
          <p:cNvSpPr>
            <a:spLocks xmlns:a="http://schemas.openxmlformats.org/drawingml/2006/main" noGrp="1"/>
          </p:cNvSpPr>
          <p:nvPr/>
        </p:nvSpPr>
        <p:spPr>
          <a:xfrm xmlns:a="http://schemas.openxmlformats.org/drawingml/2006/main">
            <a:off x="381000" y="801439"/>
            <a:ext cx="5682505" cy="175557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608"/>
              </a:lnSpc>
              <a:buNone/>
            </a:pPr>
            <a:r>
              <a:rPr sz="4800">
                <a:solidFill>
                  <a:srgbClr val="1B1D19"/>
                </a:solidFill>
                <a:latin typeface="Impact"/>
                <a:ea typeface="Impact"/>
                <a:cs typeface="Impact"/>
              </a:rPr>
              <a:t>UNDERSTAND</a:t>
            </a:r>
          </a:p>
          <a:p xmlns:a="http://schemas.openxmlformats.org/drawingml/2006/main">
            <a:pPr marL="0" indent="0" algn="l">
              <a:lnSpc>
                <a:spcPts val="4608"/>
              </a:lnSpc>
              <a:buNone/>
            </a:pPr>
            <a:r>
              <a:rPr sz="4800">
                <a:solidFill>
                  <a:srgbClr val="1B1D19"/>
                </a:solidFill>
                <a:latin typeface="Impact"/>
                <a:ea typeface="Impact"/>
                <a:cs typeface="Impact"/>
              </a:rPr>
              <a:t>YOUR ENERGY.</a:t>
            </a:r>
          </a:p>
          <a:p xmlns:a="http://schemas.openxmlformats.org/drawingml/2006/main">
            <a:pPr marL="0" indent="0" algn="l">
              <a:lnSpc>
                <a:spcPts val="4608"/>
              </a:lnSpc>
              <a:buNone/>
            </a:pPr>
            <a:r>
              <a:rPr sz="4800">
                <a:solidFill>
                  <a:srgbClr val="1B1D19"/>
                </a:solidFill>
                <a:latin typeface="Impact"/>
                <a:ea typeface="Impact"/>
                <a:cs typeface="Impact"/>
              </a:rPr>
              <a:t>FEED IT BETTER.</a:t>
            </a:r>
          </a:p>
        </p:txBody>
      </p:sp>
      <p:sp>
        <p:nvSpPr>
          <p:cNvPr id="5" name="Text 3">
            <a:extLst xmlns:a="http://schemas.openxmlformats.org/drawingml/2006/main">
              <a:ext uri="{FF2B5EF4-FFF2-40B4-BE49-F238E27FC236}">
                <a16:creationId xmlns:a16="http://schemas.microsoft.com/office/drawing/2014/main" id="{DF5693A6-C2B6-4B1E-AD96-9C90B2D7BDDE}"/>
              </a:ext>
            </a:extLst>
          </p:cNvPr>
          <p:cNvSpPr>
            <a:spLocks xmlns:a="http://schemas.openxmlformats.org/drawingml/2006/main" noGrp="1"/>
          </p:cNvSpPr>
          <p:nvPr/>
        </p:nvSpPr>
        <p:spPr>
          <a:xfrm xmlns:a="http://schemas.openxmlformats.org/drawingml/2006/main">
            <a:off x="381000" y="2785616"/>
            <a:ext cx="5311039" cy="46464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30"/>
              </a:lnSpc>
              <a:spcBef>
                <a:spcPts val="1800"/>
              </a:spcBef>
              <a:buNone/>
            </a:pPr>
            <a:r>
              <a:rPr sz="1500" b="1">
                <a:solidFill>
                  <a:srgbClr val="1B1D19"/>
                </a:solidFill>
                <a:latin typeface="Arial"/>
                <a:ea typeface="Arial"/>
                <a:cs typeface="Arial"/>
              </a:rPr>
              <a:t>A more accessible path to personalised energy and nutrition guidance.</a:t>
            </a:r>
          </a:p>
        </p:txBody>
      </p:sp>
      <p:sp>
        <p:nvSpPr>
          <p:cNvPr id="6" name="Text 4">
            <a:extLst xmlns:a="http://schemas.openxmlformats.org/drawingml/2006/main">
              <a:ext uri="{FF2B5EF4-FFF2-40B4-BE49-F238E27FC236}">
                <a16:creationId xmlns:a16="http://schemas.microsoft.com/office/drawing/2014/main" id="{2D4AEF21-465C-4BB1-B7B6-13D82ABD487F}"/>
              </a:ext>
            </a:extLst>
          </p:cNvPr>
          <p:cNvSpPr>
            <a:spLocks xmlns:a="http://schemas.openxmlformats.org/drawingml/2006/main" noGrp="1"/>
          </p:cNvSpPr>
          <p:nvPr/>
        </p:nvSpPr>
        <p:spPr>
          <a:xfrm xmlns:a="http://schemas.openxmlformats.org/drawingml/2006/main">
            <a:off x="381000" y="3504158"/>
            <a:ext cx="1663601" cy="285155"/>
          </a:xfrm>
          <a:prstGeom xmlns:a="http://schemas.openxmlformats.org/drawingml/2006/main" prst="roundRect">
            <a:avLst>
              <a:gd name="adj" fmla="val 4449264"/>
            </a:avLst>
          </a:prstGeom>
          <a:solidFill xmlns:a="http://schemas.openxmlformats.org/drawingml/2006/main">
            <a:srgbClr val="F49C86"/>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7" name="Text 5">
            <a:extLst xmlns:a="http://schemas.openxmlformats.org/drawingml/2006/main">
              <a:ext uri="{FF2B5EF4-FFF2-40B4-BE49-F238E27FC236}">
                <a16:creationId xmlns:a16="http://schemas.microsoft.com/office/drawing/2014/main" id="{841DF23F-4998-47E1-95B9-2588C90EB0C3}"/>
              </a:ext>
            </a:extLst>
          </p:cNvPr>
          <p:cNvSpPr>
            <a:spLocks xmlns:a="http://schemas.openxmlformats.org/drawingml/2006/main" noGrp="1"/>
          </p:cNvSpPr>
          <p:nvPr/>
        </p:nvSpPr>
        <p:spPr>
          <a:xfrm xmlns:a="http://schemas.openxmlformats.org/drawingml/2006/main">
            <a:off x="517475" y="3577084"/>
            <a:ext cx="1418463"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NEXT · EMOTION COACH</a:t>
            </a:r>
          </a:p>
        </p:txBody>
      </p:sp>
      <p:sp>
        <p:nvSpPr>
          <p:cNvPr id="8" name="Text 6">
            <a:extLst xmlns:a="http://schemas.openxmlformats.org/drawingml/2006/main">
              <a:ext uri="{FF2B5EF4-FFF2-40B4-BE49-F238E27FC236}">
                <a16:creationId xmlns:a16="http://schemas.microsoft.com/office/drawing/2014/main" id="{87C19DFF-DBFD-4C97-8994-69FF41CC37F1}"/>
              </a:ext>
            </a:extLst>
          </p:cNvPr>
          <p:cNvSpPr>
            <a:spLocks xmlns:a="http://schemas.openxmlformats.org/drawingml/2006/main" noGrp="1"/>
          </p:cNvSpPr>
          <p:nvPr/>
        </p:nvSpPr>
        <p:spPr>
          <a:xfrm xmlns:a="http://schemas.openxmlformats.org/drawingml/2006/main">
            <a:off x="2146102" y="3504158"/>
            <a:ext cx="1610767" cy="285155"/>
          </a:xfrm>
          <a:prstGeom xmlns:a="http://schemas.openxmlformats.org/drawingml/2006/main" prst="roundRect">
            <a:avLst>
              <a:gd name="adj" fmla="val 4449264"/>
            </a:avLst>
          </a:prstGeom>
          <a:solidFill xmlns:a="http://schemas.openxmlformats.org/drawingml/2006/main">
            <a:srgbClr val="FFFFFF"/>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9" name="Text 7">
            <a:extLst xmlns:a="http://schemas.openxmlformats.org/drawingml/2006/main">
              <a:ext uri="{FF2B5EF4-FFF2-40B4-BE49-F238E27FC236}">
                <a16:creationId xmlns:a16="http://schemas.microsoft.com/office/drawing/2014/main" id="{5FC36850-4D29-4984-BD57-D1D3ED4E3B73}"/>
              </a:ext>
            </a:extLst>
          </p:cNvPr>
          <p:cNvSpPr>
            <a:spLocks xmlns:a="http://schemas.openxmlformats.org/drawingml/2006/main" noGrp="1"/>
          </p:cNvSpPr>
          <p:nvPr/>
        </p:nvSpPr>
        <p:spPr>
          <a:xfrm xmlns:a="http://schemas.openxmlformats.org/drawingml/2006/main">
            <a:off x="2282577" y="3577084"/>
            <a:ext cx="136457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PHOTO FOOD LOGGING</a:t>
            </a:r>
          </a:p>
        </p:txBody>
      </p:sp>
      <p:sp>
        <p:nvSpPr>
          <p:cNvPr id="10" name="Text 8">
            <a:extLst xmlns:a="http://schemas.openxmlformats.org/drawingml/2006/main">
              <a:ext uri="{FF2B5EF4-FFF2-40B4-BE49-F238E27FC236}">
                <a16:creationId xmlns:a16="http://schemas.microsoft.com/office/drawing/2014/main" id="{96729248-3016-49B8-9FF4-B8C852801D1D}"/>
              </a:ext>
            </a:extLst>
          </p:cNvPr>
          <p:cNvSpPr>
            <a:spLocks xmlns:a="http://schemas.openxmlformats.org/drawingml/2006/main" noGrp="1"/>
          </p:cNvSpPr>
          <p:nvPr/>
        </p:nvSpPr>
        <p:spPr>
          <a:xfrm xmlns:a="http://schemas.openxmlformats.org/drawingml/2006/main">
            <a:off x="3858369" y="3504158"/>
            <a:ext cx="1380232" cy="285155"/>
          </a:xfrm>
          <a:prstGeom xmlns:a="http://schemas.openxmlformats.org/drawingml/2006/main" prst="roundRect">
            <a:avLst>
              <a:gd name="adj" fmla="val 4449264"/>
            </a:avLst>
          </a:prstGeom>
          <a:solidFill xmlns:a="http://schemas.openxmlformats.org/drawingml/2006/main">
            <a:srgbClr val="F6EA7B"/>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1" name="Text 9">
            <a:extLst xmlns:a="http://schemas.openxmlformats.org/drawingml/2006/main">
              <a:ext uri="{FF2B5EF4-FFF2-40B4-BE49-F238E27FC236}">
                <a16:creationId xmlns:a16="http://schemas.microsoft.com/office/drawing/2014/main" id="{C453832B-8482-4BCF-A1D6-E85568718448}"/>
              </a:ext>
            </a:extLst>
          </p:cNvPr>
          <p:cNvSpPr>
            <a:spLocks xmlns:a="http://schemas.openxmlformats.org/drawingml/2006/main" noGrp="1"/>
          </p:cNvSpPr>
          <p:nvPr/>
        </p:nvSpPr>
        <p:spPr>
          <a:xfrm xmlns:a="http://schemas.openxmlformats.org/drawingml/2006/main">
            <a:off x="3994845" y="3577084"/>
            <a:ext cx="1129427"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WEEKLY PATTERNS</a:t>
            </a:r>
          </a:p>
        </p:txBody>
      </p:sp>
      <p:sp>
        <p:nvSpPr>
          <p:cNvPr id="12" name="Text 10">
            <a:extLst xmlns:a="http://schemas.openxmlformats.org/drawingml/2006/main">
              <a:ext uri="{FF2B5EF4-FFF2-40B4-BE49-F238E27FC236}">
                <a16:creationId xmlns:a16="http://schemas.microsoft.com/office/drawing/2014/main" id="{E3460ED9-1004-46B7-8B0F-F0017561E214}"/>
              </a:ext>
            </a:extLst>
          </p:cNvPr>
          <p:cNvSpPr>
            <a:spLocks xmlns:a="http://schemas.openxmlformats.org/drawingml/2006/main" noGrp="1"/>
          </p:cNvSpPr>
          <p:nvPr/>
        </p:nvSpPr>
        <p:spPr>
          <a:xfrm xmlns:a="http://schemas.openxmlformats.org/drawingml/2006/main">
            <a:off x="381000" y="3890814"/>
            <a:ext cx="1009650" cy="285155"/>
          </a:xfrm>
          <a:prstGeom xmlns:a="http://schemas.openxmlformats.org/drawingml/2006/main" prst="roundRect">
            <a:avLst>
              <a:gd name="adj" fmla="val 4449264"/>
            </a:avLst>
          </a:prstGeom>
          <a:solidFill xmlns:a="http://schemas.openxmlformats.org/drawingml/2006/main">
            <a:srgbClr val="B9D7F2"/>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3" name="Text 11">
            <a:extLst xmlns:a="http://schemas.openxmlformats.org/drawingml/2006/main">
              <a:ext uri="{FF2B5EF4-FFF2-40B4-BE49-F238E27FC236}">
                <a16:creationId xmlns:a16="http://schemas.microsoft.com/office/drawing/2014/main" id="{19561A43-2D36-4E1D-8D8C-74A34F1183BF}"/>
              </a:ext>
            </a:extLst>
          </p:cNvPr>
          <p:cNvSpPr>
            <a:spLocks xmlns:a="http://schemas.openxmlformats.org/drawingml/2006/main" noGrp="1"/>
          </p:cNvSpPr>
          <p:nvPr/>
        </p:nvSpPr>
        <p:spPr>
          <a:xfrm xmlns:a="http://schemas.openxmlformats.org/drawingml/2006/main">
            <a:off x="517475" y="3963739"/>
            <a:ext cx="751433"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WEARABLES</a:t>
            </a:r>
          </a:p>
        </p:txBody>
      </p:sp>
      <p:sp>
        <p:nvSpPr>
          <p:cNvPr id="14" name="Text 12">
            <a:extLst xmlns:a="http://schemas.openxmlformats.org/drawingml/2006/main">
              <a:ext uri="{FF2B5EF4-FFF2-40B4-BE49-F238E27FC236}">
                <a16:creationId xmlns:a16="http://schemas.microsoft.com/office/drawing/2014/main" id="{3DCC3C80-B70B-4257-8212-DF9CC08D41C9}"/>
              </a:ext>
            </a:extLst>
          </p:cNvPr>
          <p:cNvSpPr>
            <a:spLocks xmlns:a="http://schemas.openxmlformats.org/drawingml/2006/main" noGrp="1"/>
          </p:cNvSpPr>
          <p:nvPr/>
        </p:nvSpPr>
        <p:spPr>
          <a:xfrm xmlns:a="http://schemas.openxmlformats.org/drawingml/2006/main">
            <a:off x="1492151" y="3890814"/>
            <a:ext cx="2013198" cy="285155"/>
          </a:xfrm>
          <a:prstGeom xmlns:a="http://schemas.openxmlformats.org/drawingml/2006/main" prst="roundRect">
            <a:avLst>
              <a:gd name="adj" fmla="val 4449264"/>
            </a:avLst>
          </a:prstGeom>
          <a:solidFill xmlns:a="http://schemas.openxmlformats.org/drawingml/2006/main">
            <a:srgbClr val="C8F23D"/>
          </a:solidFill>
          <a:ln xmlns:a="http://schemas.openxmlformats.org/drawingml/2006/main" w="9525">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sp>
        <p:nvSpPr>
          <p:cNvPr id="15" name="Text 13">
            <a:extLst xmlns:a="http://schemas.openxmlformats.org/drawingml/2006/main">
              <a:ext uri="{FF2B5EF4-FFF2-40B4-BE49-F238E27FC236}">
                <a16:creationId xmlns:a16="http://schemas.microsoft.com/office/drawing/2014/main" id="{16B5B314-7D15-4C86-9DFC-4E4C5B18BF07}"/>
              </a:ext>
            </a:extLst>
          </p:cNvPr>
          <p:cNvSpPr>
            <a:spLocks xmlns:a="http://schemas.openxmlformats.org/drawingml/2006/main" noGrp="1"/>
          </p:cNvSpPr>
          <p:nvPr/>
        </p:nvSpPr>
        <p:spPr>
          <a:xfrm xmlns:a="http://schemas.openxmlformats.org/drawingml/2006/main">
            <a:off x="1628626" y="3963739"/>
            <a:ext cx="1775052" cy="13930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98"/>
              </a:lnSpc>
              <a:buNone/>
            </a:pPr>
            <a:r>
              <a:rPr sz="900" b="1">
                <a:solidFill>
                  <a:srgbClr val="1B1D19"/>
                </a:solidFill>
                <a:latin typeface="Arial"/>
                <a:ea typeface="Arial"/>
                <a:cs typeface="Arial"/>
              </a:rPr>
              <a:t>EXPERT-REVIEWED GUIDANCE</a:t>
            </a:r>
          </a:p>
        </p:txBody>
      </p:sp>
      <p:sp>
        <p:nvSpPr>
          <p:cNvPr id="16" name="Text 14">
            <a:extLst xmlns:a="http://schemas.openxmlformats.org/drawingml/2006/main">
              <a:ext uri="{FF2B5EF4-FFF2-40B4-BE49-F238E27FC236}">
                <a16:creationId xmlns:a16="http://schemas.microsoft.com/office/drawing/2014/main" id="{361107B9-83C6-4E30-97E1-A9BDA82C10B5}"/>
              </a:ext>
            </a:extLst>
          </p:cNvPr>
          <p:cNvSpPr>
            <a:spLocks xmlns:a="http://schemas.openxmlformats.org/drawingml/2006/main" noGrp="1"/>
          </p:cNvSpPr>
          <p:nvPr/>
        </p:nvSpPr>
        <p:spPr>
          <a:xfrm xmlns:a="http://schemas.openxmlformats.org/drawingml/2006/main">
            <a:off x="381000" y="4455319"/>
            <a:ext cx="5682505" cy="1704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42"/>
              </a:lnSpc>
              <a:spcBef>
                <a:spcPts val="2200"/>
              </a:spcBef>
              <a:buNone/>
            </a:pPr>
            <a:r>
              <a:rPr sz="1100" b="1">
                <a:solidFill>
                  <a:srgbClr val="1B1D19"/>
                </a:solidFill>
                <a:latin typeface="Arial"/>
                <a:ea typeface="Arial"/>
                <a:cs typeface="Arial"/>
              </a:rPr>
              <a:t>github.com/EdwinjJ1/akeso</a:t>
            </a:r>
          </a:p>
        </p:txBody>
      </p:sp>
      <p:sp>
        <p:nvSpPr>
          <p:cNvPr id="17" name="Text 15">
            <a:extLst xmlns:a="http://schemas.openxmlformats.org/drawingml/2006/main">
              <a:ext uri="{FF2B5EF4-FFF2-40B4-BE49-F238E27FC236}">
                <a16:creationId xmlns:a16="http://schemas.microsoft.com/office/drawing/2014/main" id="{687A336E-4614-4C61-A40E-7B9237932D64}"/>
              </a:ext>
            </a:extLst>
          </p:cNvPr>
          <p:cNvSpPr>
            <a:spLocks xmlns:a="http://schemas.openxmlformats.org/drawingml/2006/main" noGrp="1"/>
          </p:cNvSpPr>
          <p:nvPr/>
        </p:nvSpPr>
        <p:spPr>
          <a:xfrm xmlns:a="http://schemas.openxmlformats.org/drawingml/2006/main">
            <a:off x="6383834" y="1157883"/>
            <a:ext cx="2379166" cy="3111401"/>
          </a:xfrm>
          <a:prstGeom xmlns:a="http://schemas.openxmlformats.org/drawingml/2006/main" prst="roundRect">
            <a:avLst>
              <a:gd name="adj" fmla="val 16014"/>
            </a:avLst>
          </a:prstGeom>
          <a:solidFill xmlns:a="http://schemas.openxmlformats.org/drawingml/2006/main">
            <a:srgbClr val="1B1D19"/>
          </a:solidFill>
          <a:ln xmlns:a="http://schemas.openxmlformats.org/drawingml/2006/main" w="19050">
            <a:solidFill>
              <a:srgbClr val="1B1D19"/>
            </a:solidFill>
          </a:ln>
        </p:spPr>
        <p:txBody>
          <a:bodyPr xmlns:a="http://schemas.openxmlformats.org/drawingml/2006/main" wrap="square" anchor="ctr"/>
          <a:lstStyle xmlns:a="http://schemas.openxmlformats.org/drawingml/2006/main"/>
          <a:p xmlns:a="http://schemas.openxmlformats.org/drawingml/2006/main">
            <a:pPr marL="0" indent="0">
              <a:buNone/>
            </a:pPr>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29357d49415c49ca"/>
          <a:stretch xmlns:a="http://schemas.openxmlformats.org/drawingml/2006/main">
            <a:fillRect l="0" t="0" r="0" b="0"/>
          </a:stretch>
        </p:blipFill>
        <p:spPr>
          <a:xfrm xmlns:a="http://schemas.openxmlformats.org/drawingml/2006/main">
            <a:off x="6239917" y="1583234"/>
            <a:ext cx="2667000" cy="2667000"/>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20488771-D6A5-40F9-B28B-805D5607CAB7}"/>
              </a:ext>
            </a:extLst>
          </p:cNvPr>
          <p:cNvSpPr>
            <a:spLocks xmlns:a="http://schemas.openxmlformats.org/drawingml/2006/main" noGrp="1"/>
          </p:cNvSpPr>
          <p:nvPr/>
        </p:nvSpPr>
        <p:spPr>
          <a:xfrm xmlns:a="http://schemas.openxmlformats.org/drawingml/2006/main">
            <a:off x="381000" y="4925913"/>
            <a:ext cx="2214679"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1B1D19"/>
                </a:solidFill>
                <a:latin typeface="Arial"/>
                <a:ea typeface="Arial"/>
                <a:cs typeface="Arial"/>
              </a:rPr>
              <a:t>AKESO · LESS GRIND. BETTER TIMING.</a:t>
            </a:r>
          </a:p>
        </p:txBody>
      </p:sp>
      <p:sp>
        <p:nvSpPr>
          <p:cNvPr id="20" name="Text 17">
            <a:extLst xmlns:a="http://schemas.openxmlformats.org/drawingml/2006/main">
              <a:ext uri="{FF2B5EF4-FFF2-40B4-BE49-F238E27FC236}">
                <a16:creationId xmlns:a16="http://schemas.microsoft.com/office/drawing/2014/main" id="{FDC499F8-B89D-4670-BF4F-EB7547293875}"/>
              </a:ext>
            </a:extLst>
          </p:cNvPr>
          <p:cNvSpPr>
            <a:spLocks xmlns:a="http://schemas.openxmlformats.org/drawingml/2006/main" noGrp="1"/>
          </p:cNvSpPr>
          <p:nvPr/>
        </p:nvSpPr>
        <p:spPr>
          <a:xfrm xmlns:a="http://schemas.openxmlformats.org/drawingml/2006/main">
            <a:off x="8636645" y="4925913"/>
            <a:ext cx="128882" cy="11608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15"/>
              </a:lnSpc>
              <a:buNone/>
            </a:pPr>
            <a:r>
              <a:rPr sz="750" b="1">
                <a:solidFill>
                  <a:srgbClr val="1B1D19"/>
                </a:solidFill>
                <a:latin typeface="Arial"/>
                <a:ea typeface="Arial"/>
                <a:cs typeface="Arial"/>
              </a:rPr>
              <a:t>09</a:t>
            </a:r>
          </a:p>
        </p:txBody>
      </p:sp>
    </p:spTree>
    <p:extLst>
      <p:ext uri="{BB962C8B-B14F-4D97-AF65-F5344CB8AC3E}">
        <p14:creationId xmlns:p14="http://schemas.microsoft.com/office/powerpoint/2010/main" val="145773134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2026-07-24T08:13:40.1530000Z</dcterms:created>
  <dcterms:modified xsi:type="dcterms:W3CDTF">2026-07-24T08:13:40.1530000Z</dcterms:modified>
</coreProperties>
</file>
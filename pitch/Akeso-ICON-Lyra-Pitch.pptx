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joke, but immediately make the serious point. The internet describes energy as either complete chaos or total calm. We do not claim to measure cortisol. What we care about is the question underneath the meme: why does my energy feel so different from one day to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people know when they feel tired, but they do not know what may be contributing to it. Nutrition, sleep, hydration, stress and mood are not five separate problems. They are connected signals shaping one daily energy state. Existing apps usually track only one category, so the relationship between the signals stays invisible.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Akeso is a personal energy and nutrition coach in your pocket. Our difference is not five separate trackers. Akeso connects daily signals into one energy picture. Today, the MVP provides connected check-ins, explainable energy context and nutrition guidance. A dedicated emotion coach is explicitly part of our next stage, not a feature we are claiming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experience is deliberately lightweight. First, the user checks in on energy, sleep, food and hydration, with stress and mood recorded as contextual signals where available. Second, Akeso connects those inputs into an explainable energy picture. Third, it recommends meals from the user's own fridge. Planning is useful, but it is only one small output of the larger energy and nutrition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important distinction. Akeso does not diagnose iron deficiency from a meal log. Instead, it can notice that someone repeatedly records meals with very few iron-rich foods. It can explain that pattern, suggest practical options such as spinach, eggs or salmon already in the fridge, and recommend professional advice if symptoms persist. Useful guidance without pretending to be a doctor.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hackathon asks us to demonstrate time saved. In our demo workflow, manually checking a calendar, ranking tasks, deciding what to eat and building a plan took around twelve minutes. Akeso produces the first useful recommendation after a short check-in. We will replace these sample values with the final measured trial before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designed Akeso to be explainable and safe. The app is built with Expo, an Express API and Supabase. Deterministic TypeScript services calculate the energy result and recommendations. AI explains validated outputs rather than inventing the score. Our hardest challenge was turning noisy lifestyle signals into something useful without making medical claims, so we separate reported energy, possible context and professional escalation.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Akeso's long-term vision is to understand energy over weeks, not just one day. The current product connects daily energy and nutrition signals. Next, we want a dedicated emotion coach, faster food logging through photos, wearable integrations, stronger longitudinal pattern detection, and guidance reviewed with nutrition professionals. Our goal is simple: help people understand their energy and feed it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2E8"/>
        </a:solidFill>
      </p:bgPr>
    </p:bg>
    <p:spTree>
      <p:nvGrpSpPr>
        <p:cNvPr id="1" name=""/>
        <p:cNvGrpSpPr/>
        <p:nvPr/>
      </p:nvGrpSpPr>
      <p:grpSpPr>
        <a:xfrm>
          <a:off x="0" y="0"/>
          <a:ext cx="0" cy="0"/>
          <a:chOff x="0" y="0"/>
          <a:chExt cx="0" cy="0"/>
        </a:xfrm>
      </p:grpSpPr>
      <p:sp>
        <p:nvSpPr>
          <p:cNvPr id="2" name="Text 0"/>
          <p:cNvSpPr/>
          <p:nvPr/>
        </p:nvSpPr>
        <p:spPr>
          <a:xfrm>
            <a:off x="381000" y="330101"/>
            <a:ext cx="8549640" cy="131564"/>
          </a:xfrm>
          <a:prstGeom prst="rect">
            <a:avLst/>
          </a:prstGeom>
          <a:noFill/>
          <a:ln/>
        </p:spPr>
        <p:txBody>
          <a:bodyPr wrap="square" lIns="0" tIns="0" rIns="0" bIns="0" rtlCol="0" anchor="t"/>
          <a:lstStyle/>
          <a:p>
            <a:pPr algn="l" indent="0" marL="0">
              <a:lnSpc>
                <a:spcPts val="1037"/>
              </a:lnSpc>
              <a:spcAft>
                <a:spcPts val="800"/>
              </a:spcAft>
              <a:buNone/>
            </a:pPr>
            <a:r>
              <a:rPr lang="en-US" sz="850" b="1" dirty="0">
                <a:solidFill>
                  <a:srgbClr val="667066"/>
                </a:solidFill>
                <a:latin typeface="Arial" pitchFamily="34" charset="0"/>
                <a:ea typeface="Arial" pitchFamily="34" charset="-122"/>
                <a:cs typeface="Arial" pitchFamily="34" charset="-120"/>
              </a:rPr>
              <a:t>THE PROBLEM, IN TWO MEMES</a:t>
            </a:r>
            <a:endParaRPr lang="en-US" sz="850" dirty="0"/>
          </a:p>
        </p:txBody>
      </p:sp>
      <p:sp>
        <p:nvSpPr>
          <p:cNvPr id="3" name="Text 1"/>
          <p:cNvSpPr/>
          <p:nvPr/>
        </p:nvSpPr>
        <p:spPr>
          <a:xfrm>
            <a:off x="381000" y="563166"/>
            <a:ext cx="8549640" cy="926604"/>
          </a:xfrm>
          <a:prstGeom prst="rect">
            <a:avLst/>
          </a:prstGeom>
          <a:noFill/>
          <a:ln/>
        </p:spPr>
        <p:txBody>
          <a:bodyPr wrap="square" lIns="0" tIns="0" rIns="0" bIns="0" rtlCol="0" anchor="t"/>
          <a:lstStyle/>
          <a:p>
            <a:pPr algn="l" indent="0" marL="0">
              <a:lnSpc>
                <a:spcPts val="3648"/>
              </a:lnSpc>
              <a:buNone/>
            </a:pPr>
            <a:r>
              <a:rPr lang="en-US" sz="3800" dirty="0">
                <a:solidFill>
                  <a:srgbClr val="1B1D19"/>
                </a:solidFill>
                <a:latin typeface="Impact" pitchFamily="34" charset="0"/>
                <a:ea typeface="Impact" pitchFamily="34" charset="-122"/>
                <a:cs typeface="Impact" pitchFamily="34" charset="-120"/>
              </a:rPr>
              <a:t>YOUR ENERGY IS TRYING</a:t>
            </a:r>
            <a:endParaRPr lang="en-US" sz="3800" dirty="0"/>
          </a:p>
          <a:p>
            <a:pPr algn="l" indent="0" marL="0">
              <a:lnSpc>
                <a:spcPts val="3648"/>
              </a:lnSpc>
              <a:buNone/>
            </a:pPr>
            <a:r>
              <a:rPr lang="en-US" sz="3800" dirty="0">
                <a:solidFill>
                  <a:srgbClr val="1B1D19"/>
                </a:solidFill>
                <a:latin typeface="Impact" pitchFamily="34" charset="0"/>
                <a:ea typeface="Impact" pitchFamily="34" charset="-122"/>
                <a:cs typeface="Impact" pitchFamily="34" charset="-120"/>
              </a:rPr>
              <a:t>TO TELL YOU SOMETHING.</a:t>
            </a:r>
            <a:endParaRPr lang="en-US" sz="3800" dirty="0"/>
          </a:p>
        </p:txBody>
      </p:sp>
      <p:sp>
        <p:nvSpPr>
          <p:cNvPr id="4" name="Text 2"/>
          <p:cNvSpPr/>
          <p:nvPr/>
        </p:nvSpPr>
        <p:spPr>
          <a:xfrm>
            <a:off x="381000" y="1692920"/>
            <a:ext cx="4076700" cy="2806601"/>
          </a:xfrm>
          <a:prstGeom prst="roundRect">
            <a:avLst>
              <a:gd name="adj" fmla="val 6335"/>
            </a:avLst>
          </a:prstGeom>
          <a:solidFill>
            <a:srgbClr val="F49C86"/>
          </a:solidFill>
          <a:ln w="19050">
            <a:solidFill>
              <a:srgbClr val="30342E"/>
            </a:solidFill>
          </a:ln>
        </p:spPr>
        <p:txBody>
          <a:bodyPr wrap="square" rtlCol="0" anchor="ctr"/>
          <a:lstStyle/>
          <a:p>
            <a:pPr indent="0" marL="0">
              <a:buNone/>
            </a:pPr>
            <a:endParaRPr lang="en-US" dirty="0"/>
          </a:p>
        </p:txBody>
      </p:sp>
      <p:pic>
        <p:nvPicPr>
          <p:cNvPr id="5" name="Image 0" descr="/Users/edwinj/Edwin/second-brain/01-projects/UNSWHac/pitch/assets/meme-high-cortisol.jpg">    </p:cNvPr>
          <p:cNvPicPr>
            <a:picLocks noChangeAspect="1"/>
          </p:cNvPicPr>
          <p:nvPr/>
        </p:nvPicPr>
        <p:blipFill>
          <a:blip r:embed="rId1"/>
          <a:stretch>
            <a:fillRect/>
          </a:stretch>
        </p:blipFill>
        <p:spPr>
          <a:xfrm>
            <a:off x="501551" y="1813471"/>
            <a:ext cx="3848100" cy="2197001"/>
          </a:xfrm>
          <a:prstGeom prst="rect">
            <a:avLst/>
          </a:prstGeom>
        </p:spPr>
      </p:pic>
      <p:sp>
        <p:nvSpPr>
          <p:cNvPr id="6" name="Text 3"/>
          <p:cNvSpPr/>
          <p:nvPr/>
        </p:nvSpPr>
        <p:spPr>
          <a:xfrm>
            <a:off x="501551" y="4099322"/>
            <a:ext cx="3912310" cy="154781"/>
          </a:xfrm>
          <a:prstGeom prst="rect">
            <a:avLst/>
          </a:prstGeom>
          <a:noFill/>
          <a:ln/>
        </p:spPr>
        <p:txBody>
          <a:bodyPr wrap="square" lIns="0" tIns="0" rIns="0" bIns="0" rtlCol="0" anchor="t"/>
          <a:lstStyle/>
          <a:p>
            <a:pPr algn="l" indent="0" marL="0">
              <a:lnSpc>
                <a:spcPts val="1220"/>
              </a:lnSpc>
              <a:spcBef>
                <a:spcPts val="700"/>
              </a:spcBef>
              <a:buNone/>
            </a:pPr>
            <a:r>
              <a:rPr lang="en-US" sz="1000" b="1" dirty="0">
                <a:solidFill>
                  <a:srgbClr val="1B1D19"/>
                </a:solidFill>
                <a:latin typeface="Arial" pitchFamily="34" charset="0"/>
                <a:ea typeface="Arial" pitchFamily="34" charset="-122"/>
                <a:cs typeface="Arial" pitchFamily="34" charset="-120"/>
              </a:rPr>
              <a:t>WHEN YOUR BODY FEELS LIKE AN ALARM</a:t>
            </a:r>
            <a:endParaRPr lang="en-US" sz="1000" dirty="0"/>
          </a:p>
        </p:txBody>
      </p:sp>
      <p:sp>
        <p:nvSpPr>
          <p:cNvPr id="7" name="Text 4"/>
          <p:cNvSpPr/>
          <p:nvPr/>
        </p:nvSpPr>
        <p:spPr>
          <a:xfrm>
            <a:off x="4686300" y="1692920"/>
            <a:ext cx="4076700" cy="2806601"/>
          </a:xfrm>
          <a:prstGeom prst="roundRect">
            <a:avLst>
              <a:gd name="adj" fmla="val 6335"/>
            </a:avLst>
          </a:prstGeom>
          <a:solidFill>
            <a:srgbClr val="72B56E"/>
          </a:solidFill>
          <a:ln w="19050">
            <a:solidFill>
              <a:srgbClr val="30342E"/>
            </a:solidFill>
          </a:ln>
        </p:spPr>
        <p:txBody>
          <a:bodyPr wrap="square" rtlCol="0" anchor="ctr"/>
          <a:lstStyle/>
          <a:p>
            <a:pPr indent="0" marL="0">
              <a:buNone/>
            </a:pPr>
            <a:endParaRPr lang="en-US" dirty="0"/>
          </a:p>
        </p:txBody>
      </p:sp>
      <p:pic>
        <p:nvPicPr>
          <p:cNvPr id="8" name="Image 1" descr="/Users/edwinj/Edwin/second-brain/01-projects/UNSWHac/pitch/assets/meme-low-cortisol.jpg">    </p:cNvPr>
          <p:cNvPicPr>
            <a:picLocks noChangeAspect="1"/>
          </p:cNvPicPr>
          <p:nvPr/>
        </p:nvPicPr>
        <p:blipFill>
          <a:blip r:embed="rId2"/>
          <a:stretch>
            <a:fillRect/>
          </a:stretch>
        </p:blipFill>
        <p:spPr>
          <a:xfrm>
            <a:off x="4806851" y="1813471"/>
            <a:ext cx="3848100" cy="2197001"/>
          </a:xfrm>
          <a:prstGeom prst="rect">
            <a:avLst/>
          </a:prstGeom>
        </p:spPr>
      </p:pic>
      <p:sp>
        <p:nvSpPr>
          <p:cNvPr id="9" name="Text 5"/>
          <p:cNvSpPr/>
          <p:nvPr/>
        </p:nvSpPr>
        <p:spPr>
          <a:xfrm>
            <a:off x="4806851" y="4099322"/>
            <a:ext cx="3912310" cy="154781"/>
          </a:xfrm>
          <a:prstGeom prst="rect">
            <a:avLst/>
          </a:prstGeom>
          <a:noFill/>
          <a:ln/>
        </p:spPr>
        <p:txBody>
          <a:bodyPr wrap="square" lIns="0" tIns="0" rIns="0" bIns="0" rtlCol="0" anchor="t"/>
          <a:lstStyle/>
          <a:p>
            <a:pPr algn="l" indent="0" marL="0">
              <a:lnSpc>
                <a:spcPts val="1220"/>
              </a:lnSpc>
              <a:spcBef>
                <a:spcPts val="700"/>
              </a:spcBef>
              <a:buNone/>
            </a:pPr>
            <a:r>
              <a:rPr lang="en-US" sz="1000" b="1" dirty="0">
                <a:solidFill>
                  <a:srgbClr val="1B1D19"/>
                </a:solidFill>
                <a:latin typeface="Arial" pitchFamily="34" charset="0"/>
                <a:ea typeface="Arial" pitchFamily="34" charset="-122"/>
                <a:cs typeface="Arial" pitchFamily="34" charset="-120"/>
              </a:rPr>
              <a:t>WHEN EVERYTHING FINALLY FEELS EASY</a:t>
            </a:r>
            <a:endParaRPr lang="en-US" sz="1000" dirty="0"/>
          </a:p>
        </p:txBody>
      </p:sp>
      <p:sp>
        <p:nvSpPr>
          <p:cNvPr id="10" name="Text 6"/>
          <p:cNvSpPr/>
          <p:nvPr/>
        </p:nvSpPr>
        <p:spPr>
          <a:xfrm>
            <a:off x="381000" y="4613821"/>
            <a:ext cx="8549640" cy="114300"/>
          </a:xfrm>
          <a:prstGeom prst="rect">
            <a:avLst/>
          </a:prstGeom>
          <a:noFill/>
          <a:ln/>
        </p:spPr>
        <p:txBody>
          <a:bodyPr wrap="square" lIns="0" tIns="0" rIns="0" bIns="0" rtlCol="0" anchor="t"/>
          <a:lstStyle/>
          <a:p>
            <a:pPr algn="l" indent="0" marL="0">
              <a:lnSpc>
                <a:spcPts val="900"/>
              </a:lnSpc>
              <a:spcBef>
                <a:spcPts val="900"/>
              </a:spcBef>
              <a:buNone/>
            </a:pPr>
            <a:r>
              <a:rPr lang="en-US" sz="750" dirty="0">
                <a:solidFill>
                  <a:srgbClr val="667066"/>
                </a:solidFill>
                <a:latin typeface="Arial" pitchFamily="34" charset="0"/>
                <a:ea typeface="Arial" pitchFamily="34" charset="-122"/>
                <a:cs typeface="Arial" pitchFamily="34" charset="-120"/>
              </a:rPr>
              <a:t>The memes are the hook — Akeso does not measure or diagnose cortisol.</a:t>
            </a:r>
            <a:endParaRPr lang="en-US" sz="750" dirty="0"/>
          </a:p>
        </p:txBody>
      </p:sp>
      <p:sp>
        <p:nvSpPr>
          <p:cNvPr id="11" name="Text 7"/>
          <p:cNvSpPr/>
          <p:nvPr/>
        </p:nvSpPr>
        <p:spPr>
          <a:xfrm>
            <a:off x="381000" y="4925913"/>
            <a:ext cx="2278740" cy="116086"/>
          </a:xfrm>
          <a:prstGeom prst="rect">
            <a:avLst/>
          </a:prstGeom>
          <a:noFill/>
          <a:ln/>
        </p:spPr>
        <p:txBody>
          <a:bodyPr wrap="square" lIns="0" tIns="0" rIns="0" bIns="0" rtlCol="0" anchor="t"/>
          <a:lstStyle/>
          <a:p>
            <a:pPr algn="l" indent="0" marL="0">
              <a:lnSpc>
                <a:spcPts val="915"/>
              </a:lnSpc>
              <a:buNone/>
            </a:pPr>
            <a:r>
              <a:rPr lang="en-US" sz="750" b="1" dirty="0">
                <a:solidFill>
                  <a:srgbClr val="667066"/>
                </a:solidFill>
                <a:latin typeface="Arial" pitchFamily="34" charset="0"/>
                <a:ea typeface="Arial" pitchFamily="34" charset="-122"/>
                <a:cs typeface="Arial" pitchFamily="34" charset="-120"/>
              </a:rPr>
              <a:t>AKESO · ICON × LYRA HACKATHON 2026</a:t>
            </a:r>
            <a:endParaRPr lang="en-US" sz="750" dirty="0"/>
          </a:p>
        </p:txBody>
      </p:sp>
      <p:sp>
        <p:nvSpPr>
          <p:cNvPr id="12" name="Text 8"/>
          <p:cNvSpPr/>
          <p:nvPr/>
        </p:nvSpPr>
        <p:spPr>
          <a:xfrm>
            <a:off x="8636645" y="4925913"/>
            <a:ext cx="128882" cy="116086"/>
          </a:xfrm>
          <a:prstGeom prst="rect">
            <a:avLst/>
          </a:prstGeom>
          <a:noFill/>
          <a:ln/>
        </p:spPr>
        <p:txBody>
          <a:bodyPr wrap="square" lIns="0" tIns="0" rIns="0" bIns="0" rtlCol="0" anchor="t"/>
          <a:lstStyle/>
          <a:p>
            <a:pPr algn="l" indent="0" marL="0">
              <a:lnSpc>
                <a:spcPts val="915"/>
              </a:lnSpc>
              <a:buNone/>
            </a:pPr>
            <a:r>
              <a:rPr lang="en-US" sz="750" b="1" dirty="0">
                <a:solidFill>
                  <a:srgbClr val="667066"/>
                </a:solidFill>
                <a:latin typeface="Arial" pitchFamily="34" charset="0"/>
                <a:ea typeface="Arial" pitchFamily="34" charset="-122"/>
                <a:cs typeface="Arial" pitchFamily="34" charset="-120"/>
              </a:rPr>
              <a:t>01</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8"/>
        </a:solidFill>
      </p:bgPr>
    </p:bg>
    <p:spTree>
      <p:nvGrpSpPr>
        <p:cNvPr id="1" name=""/>
        <p:cNvGrpSpPr/>
        <p:nvPr/>
      </p:nvGrpSpPr>
      <p:grpSpPr>
        <a:xfrm>
          <a:off x="0" y="0"/>
          <a:ext cx="0" cy="0"/>
          <a:chOff x="0" y="0"/>
          <a:chExt cx="0" cy="0"/>
        </a:xfrm>
      </p:grpSpPr>
      <p:sp>
        <p:nvSpPr>
          <p:cNvPr id="2" name="Text 0"/>
          <p:cNvSpPr/>
          <p:nvPr/>
        </p:nvSpPr>
        <p:spPr>
          <a:xfrm>
            <a:off x="381000" y="330101"/>
            <a:ext cx="8549640" cy="131564"/>
          </a:xfrm>
          <a:prstGeom prst="rect">
            <a:avLst/>
          </a:prstGeom>
          <a:noFill/>
          <a:ln/>
        </p:spPr>
        <p:txBody>
          <a:bodyPr wrap="square" lIns="0" tIns="0" rIns="0" bIns="0" rtlCol="0" anchor="t"/>
          <a:lstStyle/>
          <a:p>
            <a:pPr algn="l" indent="0" marL="0">
              <a:lnSpc>
                <a:spcPts val="1037"/>
              </a:lnSpc>
              <a:spcAft>
                <a:spcPts val="800"/>
              </a:spcAft>
              <a:buNone/>
            </a:pPr>
            <a:r>
              <a:rPr lang="en-US" sz="850" b="1" dirty="0">
                <a:solidFill>
                  <a:srgbClr val="667066"/>
                </a:solidFill>
                <a:latin typeface="Arial" pitchFamily="34" charset="0"/>
                <a:ea typeface="Arial" pitchFamily="34" charset="-122"/>
                <a:cs typeface="Arial" pitchFamily="34" charset="-120"/>
              </a:rPr>
              <a:t>01 · THE REAL PROBLEM</a:t>
            </a:r>
            <a:endParaRPr lang="en-US" sz="850" dirty="0"/>
          </a:p>
        </p:txBody>
      </p:sp>
      <p:sp>
        <p:nvSpPr>
          <p:cNvPr id="3" name="Text 1"/>
          <p:cNvSpPr/>
          <p:nvPr/>
        </p:nvSpPr>
        <p:spPr>
          <a:xfrm>
            <a:off x="381000" y="563166"/>
            <a:ext cx="5440680" cy="1389906"/>
          </a:xfrm>
          <a:prstGeom prst="rect">
            <a:avLst/>
          </a:prstGeom>
          <a:noFill/>
          <a:ln/>
        </p:spPr>
        <p:txBody>
          <a:bodyPr wrap="square" lIns="0" tIns="0" rIns="0" bIns="0" rtlCol="0" anchor="t"/>
          <a:lstStyle/>
          <a:p>
            <a:pPr algn="l" indent="0" marL="0">
              <a:lnSpc>
                <a:spcPts val="3648"/>
              </a:lnSpc>
              <a:buNone/>
            </a:pPr>
            <a:r>
              <a:rPr lang="en-US" sz="3800" dirty="0">
                <a:solidFill>
                  <a:srgbClr val="1B1D19"/>
                </a:solidFill>
                <a:latin typeface="Impact" pitchFamily="34" charset="0"/>
                <a:ea typeface="Impact" pitchFamily="34" charset="-122"/>
                <a:cs typeface="Impact" pitchFamily="34" charset="-120"/>
              </a:rPr>
              <a:t>TIRED</a:t>
            </a:r>
            <a:endParaRPr lang="en-US" sz="3800" dirty="0"/>
          </a:p>
          <a:p>
            <a:pPr algn="l" indent="0" marL="0">
              <a:lnSpc>
                <a:spcPts val="3648"/>
              </a:lnSpc>
              <a:buNone/>
            </a:pPr>
            <a:r>
              <a:rPr lang="en-US" sz="3800" dirty="0">
                <a:solidFill>
                  <a:srgbClr val="1B1D19"/>
                </a:solidFill>
                <a:latin typeface="Impact" pitchFamily="34" charset="0"/>
                <a:ea typeface="Impact" pitchFamily="34" charset="-122"/>
                <a:cs typeface="Impact" pitchFamily="34" charset="-120"/>
              </a:rPr>
              <a:t>DOESN’T MEAN</a:t>
            </a:r>
            <a:endParaRPr lang="en-US" sz="3800" dirty="0"/>
          </a:p>
          <a:p>
            <a:pPr algn="l" indent="0" marL="0">
              <a:lnSpc>
                <a:spcPts val="3648"/>
              </a:lnSpc>
              <a:buNone/>
            </a:pPr>
            <a:r>
              <a:rPr lang="en-US" sz="3800" dirty="0">
                <a:solidFill>
                  <a:srgbClr val="1B1D19"/>
                </a:solidFill>
                <a:latin typeface="Impact" pitchFamily="34" charset="0"/>
                <a:ea typeface="Impact" pitchFamily="34" charset="-122"/>
                <a:cs typeface="Impact" pitchFamily="34" charset="-120"/>
              </a:rPr>
              <a:t>LAZY.</a:t>
            </a:r>
            <a:endParaRPr lang="en-US" sz="3800" dirty="0"/>
          </a:p>
        </p:txBody>
      </p:sp>
      <p:sp>
        <p:nvSpPr>
          <p:cNvPr id="4" name="Text 2"/>
          <p:cNvSpPr/>
          <p:nvPr/>
        </p:nvSpPr>
        <p:spPr>
          <a:xfrm>
            <a:off x="381000" y="2156222"/>
            <a:ext cx="5052060" cy="507802"/>
          </a:xfrm>
          <a:prstGeom prst="rect">
            <a:avLst/>
          </a:prstGeom>
          <a:noFill/>
          <a:ln/>
        </p:spPr>
        <p:txBody>
          <a:bodyPr wrap="square" lIns="0" tIns="0" rIns="0" bIns="0" rtlCol="0" anchor="t"/>
          <a:lstStyle/>
          <a:p>
            <a:pPr algn="l" indent="0" marL="0">
              <a:lnSpc>
                <a:spcPts val="2000"/>
              </a:lnSpc>
              <a:spcBef>
                <a:spcPts val="1600"/>
              </a:spcBef>
              <a:buNone/>
            </a:pPr>
            <a:r>
              <a:rPr lang="en-US" sz="1600" b="1" dirty="0">
                <a:solidFill>
                  <a:srgbClr val="1B1D19"/>
                </a:solidFill>
                <a:latin typeface="Arial" pitchFamily="34" charset="0"/>
                <a:ea typeface="Arial" pitchFamily="34" charset="-122"/>
                <a:cs typeface="Arial" pitchFamily="34" charset="-120"/>
              </a:rPr>
              <a:t>People feel the outcome — low energy — but the connected signals behind it stay scattered.</a:t>
            </a:r>
            <a:endParaRPr lang="en-US" sz="1600" dirty="0"/>
          </a:p>
        </p:txBody>
      </p:sp>
      <p:sp>
        <p:nvSpPr>
          <p:cNvPr id="5" name="Text 3"/>
          <p:cNvSpPr/>
          <p:nvPr/>
        </p:nvSpPr>
        <p:spPr>
          <a:xfrm>
            <a:off x="6350050" y="563166"/>
            <a:ext cx="2412950" cy="2412950"/>
          </a:xfrm>
          <a:prstGeom prst="roundRect">
            <a:avLst>
              <a:gd name="adj" fmla="val 37896"/>
            </a:avLst>
          </a:prstGeom>
          <a:solidFill>
            <a:srgbClr val="F6EA7B"/>
          </a:solidFill>
          <a:ln w="19050">
            <a:solidFill>
              <a:srgbClr val="1B1D19"/>
            </a:solidFill>
          </a:ln>
        </p:spPr>
        <p:txBody>
          <a:bodyPr wrap="square" rtlCol="0" anchor="ctr"/>
          <a:lstStyle/>
          <a:p>
            <a:pPr indent="0" marL="0">
              <a:buNone/>
            </a:pPr>
            <a:endParaRPr lang="en-US" dirty="0"/>
          </a:p>
        </p:txBody>
      </p:sp>
      <p:pic>
        <p:nvPicPr>
          <p:cNvPr id="6" name="Image 0" descr="/Users/edwinj/Edwin/second-brain/01-projects/UNSWHac/pitch/assets/mascot-steady.png">    </p:cNvPr>
          <p:cNvPicPr>
            <a:picLocks noChangeAspect="1"/>
          </p:cNvPicPr>
          <p:nvPr/>
        </p:nvPicPr>
        <p:blipFill>
          <a:blip r:embed="rId1"/>
          <a:stretch>
            <a:fillRect/>
          </a:stretch>
        </p:blipFill>
        <p:spPr>
          <a:xfrm>
            <a:off x="6515100" y="728216"/>
            <a:ext cx="2082701" cy="2082701"/>
          </a:xfrm>
          <a:prstGeom prst="rect">
            <a:avLst/>
          </a:prstGeom>
        </p:spPr>
      </p:pic>
      <p:sp>
        <p:nvSpPr>
          <p:cNvPr id="7" name="Text 4"/>
          <p:cNvSpPr/>
          <p:nvPr/>
        </p:nvSpPr>
        <p:spPr>
          <a:xfrm>
            <a:off x="381000" y="3204716"/>
            <a:ext cx="2616101" cy="994916"/>
          </a:xfrm>
          <a:prstGeom prst="roundRect">
            <a:avLst>
              <a:gd name="adj" fmla="val 17871"/>
            </a:avLst>
          </a:prstGeom>
          <a:solidFill>
            <a:srgbClr val="FFFFFF"/>
          </a:solidFill>
          <a:ln w="19050">
            <a:solidFill>
              <a:srgbClr val="30342E"/>
            </a:solidFill>
          </a:ln>
        </p:spPr>
        <p:txBody>
          <a:bodyPr wrap="square" rtlCol="0" anchor="ctr"/>
          <a:lstStyle/>
          <a:p>
            <a:pPr indent="0" marL="0">
              <a:buNone/>
            </a:pPr>
            <a:endParaRPr lang="en-US" dirty="0"/>
          </a:p>
        </p:txBody>
      </p:sp>
      <p:sp>
        <p:nvSpPr>
          <p:cNvPr id="8" name="Text 5"/>
          <p:cNvSpPr/>
          <p:nvPr/>
        </p:nvSpPr>
        <p:spPr>
          <a:xfrm>
            <a:off x="565100" y="3388816"/>
            <a:ext cx="2292858" cy="131564"/>
          </a:xfrm>
          <a:prstGeom prst="rect">
            <a:avLst/>
          </a:prstGeom>
          <a:noFill/>
          <a:ln/>
        </p:spPr>
        <p:txBody>
          <a:bodyPr wrap="square" lIns="0" tIns="0" rIns="0" bIns="0" rtlCol="0" anchor="t"/>
          <a:lstStyle/>
          <a:p>
            <a:pPr algn="l" indent="0" marL="0">
              <a:lnSpc>
                <a:spcPts val="1037"/>
              </a:lnSpc>
              <a:spcAft>
                <a:spcPts val="400"/>
              </a:spcAft>
              <a:buNone/>
            </a:pPr>
            <a:r>
              <a:rPr lang="en-US" sz="850" b="1" dirty="0">
                <a:solidFill>
                  <a:srgbClr val="667066"/>
                </a:solidFill>
                <a:latin typeface="Arial" pitchFamily="34" charset="0"/>
                <a:ea typeface="Arial" pitchFamily="34" charset="-122"/>
                <a:cs typeface="Arial" pitchFamily="34" charset="-120"/>
              </a:rPr>
              <a:t>ONE SYSTEM</a:t>
            </a:r>
            <a:endParaRPr lang="en-US" sz="850" dirty="0"/>
          </a:p>
        </p:txBody>
      </p:sp>
      <p:sp>
        <p:nvSpPr>
          <p:cNvPr id="9" name="Text 6"/>
          <p:cNvSpPr/>
          <p:nvPr/>
        </p:nvSpPr>
        <p:spPr>
          <a:xfrm>
            <a:off x="565100" y="3571131"/>
            <a:ext cx="2292858" cy="209550"/>
          </a:xfrm>
          <a:prstGeom prst="rect">
            <a:avLst/>
          </a:prstGeom>
          <a:noFill/>
          <a:ln/>
        </p:spPr>
        <p:txBody>
          <a:bodyPr wrap="square" lIns="0" tIns="0" rIns="0" bIns="0" rtlCol="0" anchor="t"/>
          <a:lstStyle/>
          <a:p>
            <a:pPr algn="l" indent="0" marL="0">
              <a:lnSpc>
                <a:spcPts val="1650"/>
              </a:lnSpc>
              <a:buNone/>
            </a:pPr>
            <a:r>
              <a:rPr lang="en-US" sz="1500" b="1" dirty="0">
                <a:solidFill>
                  <a:srgbClr val="1B1D19"/>
                </a:solidFill>
                <a:latin typeface="Arial" pitchFamily="34" charset="0"/>
                <a:ea typeface="Arial" pitchFamily="34" charset="-122"/>
                <a:cs typeface="Arial" pitchFamily="34" charset="-120"/>
              </a:rPr>
              <a:t>Food · Sleep · Water</a:t>
            </a:r>
            <a:endParaRPr lang="en-US" sz="1500" dirty="0"/>
          </a:p>
        </p:txBody>
      </p:sp>
      <p:sp>
        <p:nvSpPr>
          <p:cNvPr id="10" name="Text 7"/>
          <p:cNvSpPr/>
          <p:nvPr/>
        </p:nvSpPr>
        <p:spPr>
          <a:xfrm>
            <a:off x="565100" y="3856881"/>
            <a:ext cx="2292858" cy="158651"/>
          </a:xfrm>
          <a:prstGeom prst="rect">
            <a:avLst/>
          </a:prstGeom>
          <a:noFill/>
          <a:ln/>
        </p:spPr>
        <p:txBody>
          <a:bodyPr wrap="square" lIns="0" tIns="0" rIns="0" bIns="0" rtlCol="0" anchor="t"/>
          <a:lstStyle/>
          <a:p>
            <a:pPr algn="l" indent="0" marL="0">
              <a:lnSpc>
                <a:spcPts val="1250"/>
              </a:lnSpc>
              <a:spcBef>
                <a:spcPts val="600"/>
              </a:spcBef>
              <a:buNone/>
            </a:pPr>
            <a:r>
              <a:rPr lang="en-US" sz="1000" dirty="0">
                <a:solidFill>
                  <a:srgbClr val="667066"/>
                </a:solidFill>
                <a:latin typeface="Arial" pitchFamily="34" charset="0"/>
                <a:ea typeface="Arial" pitchFamily="34" charset="-122"/>
                <a:cs typeface="Arial" pitchFamily="34" charset="-120"/>
              </a:rPr>
              <a:t>Plus stress and mood context.</a:t>
            </a:r>
            <a:endParaRPr lang="en-US" sz="1000" dirty="0"/>
          </a:p>
        </p:txBody>
      </p:sp>
      <p:sp>
        <p:nvSpPr>
          <p:cNvPr id="11" name="Text 8"/>
          <p:cNvSpPr/>
          <p:nvPr/>
        </p:nvSpPr>
        <p:spPr>
          <a:xfrm>
            <a:off x="3149501" y="3204716"/>
            <a:ext cx="2616101" cy="994916"/>
          </a:xfrm>
          <a:prstGeom prst="roundRect">
            <a:avLst>
              <a:gd name="adj" fmla="val 17871"/>
            </a:avLst>
          </a:prstGeom>
          <a:solidFill>
            <a:srgbClr val="B9D7F2"/>
          </a:solidFill>
          <a:ln w="19050">
            <a:solidFill>
              <a:srgbClr val="30342E"/>
            </a:solidFill>
          </a:ln>
        </p:spPr>
        <p:txBody>
          <a:bodyPr wrap="square" rtlCol="0" anchor="ctr"/>
          <a:lstStyle/>
          <a:p>
            <a:pPr indent="0" marL="0">
              <a:buNone/>
            </a:pPr>
            <a:endParaRPr lang="en-US" dirty="0"/>
          </a:p>
        </p:txBody>
      </p:sp>
      <p:sp>
        <p:nvSpPr>
          <p:cNvPr id="12" name="Text 9"/>
          <p:cNvSpPr/>
          <p:nvPr/>
        </p:nvSpPr>
        <p:spPr>
          <a:xfrm>
            <a:off x="3333601" y="3388816"/>
            <a:ext cx="2292858" cy="131564"/>
          </a:xfrm>
          <a:prstGeom prst="rect">
            <a:avLst/>
          </a:prstGeom>
          <a:noFill/>
          <a:ln/>
        </p:spPr>
        <p:txBody>
          <a:bodyPr wrap="square" lIns="0" tIns="0" rIns="0" bIns="0" rtlCol="0" anchor="t"/>
          <a:lstStyle/>
          <a:p>
            <a:pPr algn="l" indent="0" marL="0">
              <a:lnSpc>
                <a:spcPts val="1037"/>
              </a:lnSpc>
              <a:spcAft>
                <a:spcPts val="400"/>
              </a:spcAft>
              <a:buNone/>
            </a:pPr>
            <a:r>
              <a:rPr lang="en-US" sz="850" b="1" dirty="0">
                <a:solidFill>
                  <a:srgbClr val="667066"/>
                </a:solidFill>
                <a:latin typeface="Arial" pitchFamily="34" charset="0"/>
                <a:ea typeface="Arial" pitchFamily="34" charset="-122"/>
                <a:cs typeface="Arial" pitchFamily="34" charset="-120"/>
              </a:rPr>
              <a:t>OUTCOME</a:t>
            </a:r>
            <a:endParaRPr lang="en-US" sz="850" dirty="0"/>
          </a:p>
        </p:txBody>
      </p:sp>
      <p:sp>
        <p:nvSpPr>
          <p:cNvPr id="13" name="Text 10"/>
          <p:cNvSpPr/>
          <p:nvPr/>
        </p:nvSpPr>
        <p:spPr>
          <a:xfrm>
            <a:off x="3333601" y="3571131"/>
            <a:ext cx="2292858" cy="209550"/>
          </a:xfrm>
          <a:prstGeom prst="rect">
            <a:avLst/>
          </a:prstGeom>
          <a:noFill/>
          <a:ln/>
        </p:spPr>
        <p:txBody>
          <a:bodyPr wrap="square" lIns="0" tIns="0" rIns="0" bIns="0" rtlCol="0" anchor="t"/>
          <a:lstStyle/>
          <a:p>
            <a:pPr algn="l" indent="0" marL="0">
              <a:lnSpc>
                <a:spcPts val="1650"/>
              </a:lnSpc>
              <a:buNone/>
            </a:pPr>
            <a:r>
              <a:rPr lang="en-US" sz="1500" b="1" dirty="0">
                <a:solidFill>
                  <a:srgbClr val="1B1D19"/>
                </a:solidFill>
                <a:latin typeface="Arial" pitchFamily="34" charset="0"/>
                <a:ea typeface="Arial" pitchFamily="34" charset="-122"/>
                <a:cs typeface="Arial" pitchFamily="34" charset="-120"/>
              </a:rPr>
              <a:t>“Why am I so low?”</a:t>
            </a:r>
            <a:endParaRPr lang="en-US" sz="1500" dirty="0"/>
          </a:p>
        </p:txBody>
      </p:sp>
      <p:sp>
        <p:nvSpPr>
          <p:cNvPr id="14" name="Text 11"/>
          <p:cNvSpPr/>
          <p:nvPr/>
        </p:nvSpPr>
        <p:spPr>
          <a:xfrm>
            <a:off x="3333601" y="3856881"/>
            <a:ext cx="2292858" cy="158651"/>
          </a:xfrm>
          <a:prstGeom prst="rect">
            <a:avLst/>
          </a:prstGeom>
          <a:noFill/>
          <a:ln/>
        </p:spPr>
        <p:txBody>
          <a:bodyPr wrap="square" lIns="0" tIns="0" rIns="0" bIns="0" rtlCol="0" anchor="t"/>
          <a:lstStyle/>
          <a:p>
            <a:pPr algn="l" indent="0" marL="0">
              <a:lnSpc>
                <a:spcPts val="1250"/>
              </a:lnSpc>
              <a:spcBef>
                <a:spcPts val="600"/>
              </a:spcBef>
              <a:buNone/>
            </a:pPr>
            <a:r>
              <a:rPr lang="en-US" sz="1000" dirty="0">
                <a:solidFill>
                  <a:srgbClr val="667066"/>
                </a:solidFill>
                <a:latin typeface="Arial" pitchFamily="34" charset="0"/>
                <a:ea typeface="Arial" pitchFamily="34" charset="-122"/>
                <a:cs typeface="Arial" pitchFamily="34" charset="-120"/>
              </a:rPr>
              <a:t>The pattern is hard to see.</a:t>
            </a:r>
            <a:endParaRPr lang="en-US" sz="1000" dirty="0"/>
          </a:p>
        </p:txBody>
      </p:sp>
      <p:sp>
        <p:nvSpPr>
          <p:cNvPr id="15" name="Text 12"/>
          <p:cNvSpPr/>
          <p:nvPr/>
        </p:nvSpPr>
        <p:spPr>
          <a:xfrm>
            <a:off x="5918002" y="3204716"/>
            <a:ext cx="2616101" cy="994916"/>
          </a:xfrm>
          <a:prstGeom prst="roundRect">
            <a:avLst>
              <a:gd name="adj" fmla="val 17871"/>
            </a:avLst>
          </a:prstGeom>
          <a:solidFill>
            <a:srgbClr val="F49C86"/>
          </a:solidFill>
          <a:ln w="19050">
            <a:solidFill>
              <a:srgbClr val="30342E"/>
            </a:solidFill>
          </a:ln>
        </p:spPr>
        <p:txBody>
          <a:bodyPr wrap="square" rtlCol="0" anchor="ctr"/>
          <a:lstStyle/>
          <a:p>
            <a:pPr indent="0" marL="0">
              <a:buNone/>
            </a:pPr>
            <a:endParaRPr lang="en-US" dirty="0"/>
          </a:p>
        </p:txBody>
      </p:sp>
      <p:sp>
        <p:nvSpPr>
          <p:cNvPr id="16" name="Text 13"/>
          <p:cNvSpPr/>
          <p:nvPr/>
        </p:nvSpPr>
        <p:spPr>
          <a:xfrm>
            <a:off x="6102102" y="3388816"/>
            <a:ext cx="2292858" cy="131564"/>
          </a:xfrm>
          <a:prstGeom prst="rect">
            <a:avLst/>
          </a:prstGeom>
          <a:noFill/>
          <a:ln/>
        </p:spPr>
        <p:txBody>
          <a:bodyPr wrap="square" lIns="0" tIns="0" rIns="0" bIns="0" rtlCol="0" anchor="t"/>
          <a:lstStyle/>
          <a:p>
            <a:pPr algn="l" indent="0" marL="0">
              <a:lnSpc>
                <a:spcPts val="1037"/>
              </a:lnSpc>
              <a:spcAft>
                <a:spcPts val="400"/>
              </a:spcAft>
              <a:buNone/>
            </a:pPr>
            <a:r>
              <a:rPr lang="en-US" sz="850" b="1" dirty="0">
                <a:solidFill>
                  <a:srgbClr val="667066"/>
                </a:solidFill>
                <a:latin typeface="Arial" pitchFamily="34" charset="0"/>
                <a:ea typeface="Arial" pitchFamily="34" charset="-122"/>
                <a:cs typeface="Arial" pitchFamily="34" charset="-120"/>
              </a:rPr>
              <a:t>CURRENT TOOLS</a:t>
            </a:r>
            <a:endParaRPr lang="en-US" sz="850" dirty="0"/>
          </a:p>
        </p:txBody>
      </p:sp>
      <p:sp>
        <p:nvSpPr>
          <p:cNvPr id="17" name="Text 14"/>
          <p:cNvSpPr/>
          <p:nvPr/>
        </p:nvSpPr>
        <p:spPr>
          <a:xfrm>
            <a:off x="6102102" y="3571131"/>
            <a:ext cx="2292858" cy="209550"/>
          </a:xfrm>
          <a:prstGeom prst="rect">
            <a:avLst/>
          </a:prstGeom>
          <a:noFill/>
          <a:ln/>
        </p:spPr>
        <p:txBody>
          <a:bodyPr wrap="square" lIns="0" tIns="0" rIns="0" bIns="0" rtlCol="0" anchor="t"/>
          <a:lstStyle/>
          <a:p>
            <a:pPr algn="l" indent="0" marL="0">
              <a:lnSpc>
                <a:spcPts val="1650"/>
              </a:lnSpc>
              <a:buNone/>
            </a:pPr>
            <a:r>
              <a:rPr lang="en-US" sz="1500" b="1" dirty="0">
                <a:solidFill>
                  <a:srgbClr val="1B1D19"/>
                </a:solidFill>
                <a:latin typeface="Arial" pitchFamily="34" charset="0"/>
                <a:ea typeface="Arial" pitchFamily="34" charset="-122"/>
                <a:cs typeface="Arial" pitchFamily="34" charset="-120"/>
              </a:rPr>
              <a:t>Tasks, not the person</a:t>
            </a:r>
            <a:endParaRPr lang="en-US" sz="1500" dirty="0"/>
          </a:p>
        </p:txBody>
      </p:sp>
      <p:sp>
        <p:nvSpPr>
          <p:cNvPr id="18" name="Text 15"/>
          <p:cNvSpPr/>
          <p:nvPr/>
        </p:nvSpPr>
        <p:spPr>
          <a:xfrm>
            <a:off x="6102102" y="3856881"/>
            <a:ext cx="2292858" cy="158651"/>
          </a:xfrm>
          <a:prstGeom prst="rect">
            <a:avLst/>
          </a:prstGeom>
          <a:noFill/>
          <a:ln/>
        </p:spPr>
        <p:txBody>
          <a:bodyPr wrap="square" lIns="0" tIns="0" rIns="0" bIns="0" rtlCol="0" anchor="t"/>
          <a:lstStyle/>
          <a:p>
            <a:pPr algn="l" indent="0" marL="0">
              <a:lnSpc>
                <a:spcPts val="1250"/>
              </a:lnSpc>
              <a:spcBef>
                <a:spcPts val="600"/>
              </a:spcBef>
              <a:buNone/>
            </a:pPr>
            <a:r>
              <a:rPr lang="en-US" sz="1000" dirty="0">
                <a:solidFill>
                  <a:srgbClr val="667066"/>
                </a:solidFill>
                <a:latin typeface="Arial" pitchFamily="34" charset="0"/>
                <a:ea typeface="Arial" pitchFamily="34" charset="-122"/>
                <a:cs typeface="Arial" pitchFamily="34" charset="-120"/>
              </a:rPr>
              <a:t>Every hour looks identical.</a:t>
            </a:r>
            <a:endParaRPr lang="en-US" sz="1000" dirty="0"/>
          </a:p>
        </p:txBody>
      </p:sp>
      <p:sp>
        <p:nvSpPr>
          <p:cNvPr id="19" name="Text 16"/>
          <p:cNvSpPr/>
          <p:nvPr/>
        </p:nvSpPr>
        <p:spPr>
          <a:xfrm>
            <a:off x="381000" y="4925913"/>
            <a:ext cx="2278740" cy="116086"/>
          </a:xfrm>
          <a:prstGeom prst="rect">
            <a:avLst/>
          </a:prstGeom>
          <a:noFill/>
          <a:ln/>
        </p:spPr>
        <p:txBody>
          <a:bodyPr wrap="square" lIns="0" tIns="0" rIns="0" bIns="0" rtlCol="0" anchor="t"/>
          <a:lstStyle/>
          <a:p>
            <a:pPr algn="l" indent="0" marL="0">
              <a:lnSpc>
                <a:spcPts val="915"/>
              </a:lnSpc>
              <a:buNone/>
            </a:pPr>
            <a:r>
              <a:rPr lang="en-US" sz="750" b="1" dirty="0">
                <a:solidFill>
                  <a:srgbClr val="667066"/>
                </a:solidFill>
                <a:latin typeface="Arial" pitchFamily="34" charset="0"/>
                <a:ea typeface="Arial" pitchFamily="34" charset="-122"/>
                <a:cs typeface="Arial" pitchFamily="34" charset="-120"/>
              </a:rPr>
              <a:t>AKESO · ICON × LYRA HACKATHON 2026</a:t>
            </a:r>
            <a:endParaRPr lang="en-US" sz="750" dirty="0"/>
          </a:p>
        </p:txBody>
      </p:sp>
      <p:sp>
        <p:nvSpPr>
          <p:cNvPr id="20" name="Text 17"/>
          <p:cNvSpPr/>
          <p:nvPr/>
        </p:nvSpPr>
        <p:spPr>
          <a:xfrm>
            <a:off x="8636645" y="4925913"/>
            <a:ext cx="128882" cy="116086"/>
          </a:xfrm>
          <a:prstGeom prst="rect">
            <a:avLst/>
          </a:prstGeom>
          <a:noFill/>
          <a:ln/>
        </p:spPr>
        <p:txBody>
          <a:bodyPr wrap="square" lIns="0" tIns="0" rIns="0" bIns="0" rtlCol="0" anchor="t"/>
          <a:lstStyle/>
          <a:p>
            <a:pPr algn="l" indent="0" marL="0">
              <a:lnSpc>
                <a:spcPts val="915"/>
              </a:lnSpc>
              <a:buNone/>
            </a:pPr>
            <a:r>
              <a:rPr lang="en-US" sz="750" b="1" dirty="0">
                <a:solidFill>
                  <a:srgbClr val="667066"/>
                </a:solidFill>
                <a:latin typeface="Arial" pitchFamily="34" charset="0"/>
                <a:ea typeface="Arial" pitchFamily="34" charset="-122"/>
                <a:cs typeface="Arial" pitchFamily="34" charset="-120"/>
              </a:rPr>
              <a:t>02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2E8"/>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1B1D19"/>
          </a:solidFill>
          <a:ln/>
        </p:spPr>
        <p:txBody>
          <a:bodyPr wrap="square" rtlCol="0" anchor="ctr"/>
          <a:lstStyle/>
          <a:p>
            <a:pPr indent="0" marL="0">
              <a:buNone/>
            </a:pPr>
            <a:endParaRPr lang="en-US" dirty="0"/>
          </a:p>
        </p:txBody>
      </p:sp>
      <p:sp>
        <p:nvSpPr>
          <p:cNvPr id="3" name="Text 1"/>
          <p:cNvSpPr/>
          <p:nvPr/>
        </p:nvSpPr>
        <p:spPr>
          <a:xfrm>
            <a:off x="381000" y="330101"/>
            <a:ext cx="8549640" cy="131564"/>
          </a:xfrm>
          <a:prstGeom prst="rect">
            <a:avLst/>
          </a:prstGeom>
          <a:noFill/>
          <a:ln/>
        </p:spPr>
        <p:txBody>
          <a:bodyPr wrap="square" lIns="0" tIns="0" rIns="0" bIns="0" rtlCol="0" anchor="t"/>
          <a:lstStyle/>
          <a:p>
            <a:pPr algn="l" indent="0" marL="0">
              <a:lnSpc>
                <a:spcPts val="1037"/>
              </a:lnSpc>
              <a:spcAft>
                <a:spcPts val="800"/>
              </a:spcAft>
              <a:buNone/>
            </a:pPr>
            <a:r>
              <a:rPr lang="en-US" sz="850" b="1" dirty="0">
                <a:solidFill>
                  <a:srgbClr val="C8F23D"/>
                </a:solidFill>
                <a:latin typeface="Arial" pitchFamily="34" charset="0"/>
                <a:ea typeface="Arial" pitchFamily="34" charset="-122"/>
                <a:cs typeface="Arial" pitchFamily="34" charset="-120"/>
              </a:rPr>
              <a:t>02 · OUR SOLUTION</a:t>
            </a:r>
            <a:endParaRPr lang="en-US" sz="850" dirty="0"/>
          </a:p>
        </p:txBody>
      </p:sp>
      <p:sp>
        <p:nvSpPr>
          <p:cNvPr id="4" name="Text 2"/>
          <p:cNvSpPr/>
          <p:nvPr/>
        </p:nvSpPr>
        <p:spPr>
          <a:xfrm>
            <a:off x="381000" y="924967"/>
            <a:ext cx="5246370" cy="1572518"/>
          </a:xfrm>
          <a:prstGeom prst="rect">
            <a:avLst/>
          </a:prstGeom>
          <a:noFill/>
          <a:ln/>
        </p:spPr>
        <p:txBody>
          <a:bodyPr wrap="square" lIns="0" tIns="0" rIns="0" bIns="0" rtlCol="0" anchor="t"/>
          <a:lstStyle/>
          <a:p>
            <a:pPr algn="l" indent="0" marL="0">
              <a:lnSpc>
                <a:spcPts val="4128"/>
              </a:lnSpc>
              <a:buNone/>
            </a:pPr>
            <a:r>
              <a:rPr lang="en-US" sz="4300" dirty="0">
                <a:solidFill>
                  <a:srgbClr val="F5F2E8"/>
                </a:solidFill>
                <a:latin typeface="Impact" pitchFamily="34" charset="0"/>
                <a:ea typeface="Impact" pitchFamily="34" charset="-122"/>
                <a:cs typeface="Impact" pitchFamily="34" charset="-120"/>
              </a:rPr>
              <a:t>A PERSONAL</a:t>
            </a:r>
            <a:endParaRPr lang="en-US" sz="4300" dirty="0"/>
          </a:p>
          <a:p>
            <a:pPr algn="l" indent="0" marL="0">
              <a:lnSpc>
                <a:spcPts val="4128"/>
              </a:lnSpc>
              <a:buNone/>
            </a:pPr>
            <a:r>
              <a:rPr lang="en-US" sz="4300" dirty="0">
                <a:solidFill>
                  <a:srgbClr val="F5F2E8"/>
                </a:solidFill>
                <a:latin typeface="Impact" pitchFamily="34" charset="0"/>
                <a:ea typeface="Impact" pitchFamily="34" charset="-122"/>
                <a:cs typeface="Impact" pitchFamily="34" charset="-120"/>
              </a:rPr>
              <a:t>ENERGY + NUTRITION</a:t>
            </a:r>
            <a:endParaRPr lang="en-US" sz="4300" dirty="0"/>
          </a:p>
          <a:p>
            <a:pPr algn="l" indent="0" marL="0">
              <a:lnSpc>
                <a:spcPts val="4128"/>
              </a:lnSpc>
              <a:buNone/>
            </a:pPr>
            <a:r>
              <a:rPr lang="en-US" sz="4300" dirty="0">
                <a:solidFill>
                  <a:srgbClr val="F5F2E8"/>
                </a:solidFill>
                <a:latin typeface="Impact" pitchFamily="34" charset="0"/>
                <a:ea typeface="Impact" pitchFamily="34" charset="-122"/>
                <a:cs typeface="Impact" pitchFamily="34" charset="-120"/>
              </a:rPr>
              <a:t>COACH.</a:t>
            </a:r>
            <a:endParaRPr lang="en-US" sz="4300" dirty="0"/>
          </a:p>
        </p:txBody>
      </p:sp>
      <p:sp>
        <p:nvSpPr>
          <p:cNvPr id="5" name="Text 3"/>
          <p:cNvSpPr/>
          <p:nvPr/>
        </p:nvSpPr>
        <p:spPr>
          <a:xfrm>
            <a:off x="381000" y="2726085"/>
            <a:ext cx="5246370" cy="761702"/>
          </a:xfrm>
          <a:prstGeom prst="rect">
            <a:avLst/>
          </a:prstGeom>
          <a:noFill/>
          <a:ln/>
        </p:spPr>
        <p:txBody>
          <a:bodyPr wrap="square" lIns="0" tIns="0" rIns="0" bIns="0" rtlCol="0" anchor="t"/>
          <a:lstStyle/>
          <a:p>
            <a:pPr algn="l" indent="0" marL="0">
              <a:lnSpc>
                <a:spcPts val="2000"/>
              </a:lnSpc>
              <a:spcBef>
                <a:spcPts val="1800"/>
              </a:spcBef>
              <a:buNone/>
            </a:pPr>
            <a:r>
              <a:rPr lang="en-US" sz="1600" dirty="0">
                <a:solidFill>
                  <a:srgbClr val="DDE1D8"/>
                </a:solidFill>
                <a:latin typeface="Arial" pitchFamily="34" charset="0"/>
                <a:ea typeface="Arial" pitchFamily="34" charset="-122"/>
                <a:cs typeface="Arial" pitchFamily="34" charset="-120"/>
              </a:rPr>
              <a:t>Understand what may be shaping your energy — then turn that insight into food and routine choices you can actually follow.</a:t>
            </a:r>
            <a:endParaRPr lang="en-US" sz="1600" dirty="0"/>
          </a:p>
        </p:txBody>
      </p:sp>
      <p:sp>
        <p:nvSpPr>
          <p:cNvPr id="6" name="Text 4"/>
          <p:cNvSpPr/>
          <p:nvPr/>
        </p:nvSpPr>
        <p:spPr>
          <a:xfrm>
            <a:off x="381000" y="3741688"/>
            <a:ext cx="1917650" cy="285155"/>
          </a:xfrm>
          <a:prstGeom prst="roundRect">
            <a:avLst>
              <a:gd name="adj" fmla="val 4449264"/>
            </a:avLst>
          </a:prstGeom>
          <a:solidFill>
            <a:srgbClr val="C8F23D"/>
          </a:solidFill>
          <a:ln w="9525">
            <a:solidFill>
              <a:srgbClr val="1B1D19"/>
            </a:solidFill>
          </a:ln>
        </p:spPr>
        <p:txBody>
          <a:bodyPr wrap="square" rtlCol="0" anchor="ctr"/>
          <a:lstStyle/>
          <a:p>
            <a:pPr indent="0" marL="0">
              <a:buNone/>
            </a:pPr>
            <a:endParaRPr lang="en-US" dirty="0"/>
          </a:p>
        </p:txBody>
      </p:sp>
      <p:sp>
        <p:nvSpPr>
          <p:cNvPr id="7" name="Text 5"/>
          <p:cNvSpPr/>
          <p:nvPr/>
        </p:nvSpPr>
        <p:spPr>
          <a:xfrm>
            <a:off x="517475" y="3814614"/>
            <a:ext cx="1677594" cy="139303"/>
          </a:xfrm>
          <a:prstGeom prst="rect">
            <a:avLst/>
          </a:prstGeom>
          <a:noFill/>
          <a:ln/>
        </p:spPr>
        <p:txBody>
          <a:bodyPr wrap="square" lIns="0" tIns="0" rIns="0" bIns="0" rtlCol="0" anchor="t"/>
          <a:lstStyle/>
          <a:p>
            <a:pPr algn="l" indent="0" marL="0">
              <a:lnSpc>
                <a:spcPts val="1098"/>
              </a:lnSpc>
              <a:buNone/>
            </a:pPr>
            <a:r>
              <a:rPr lang="en-US" sz="900" b="1" dirty="0">
                <a:solidFill>
                  <a:srgbClr val="1B1D19"/>
                </a:solidFill>
                <a:latin typeface="Arial" pitchFamily="34" charset="0"/>
                <a:ea typeface="Arial" pitchFamily="34" charset="-122"/>
                <a:cs typeface="Arial" pitchFamily="34" charset="-120"/>
              </a:rPr>
              <a:t>NOW · CONNECTED SIGNALS</a:t>
            </a:r>
            <a:endParaRPr lang="en-US" sz="900" dirty="0"/>
          </a:p>
        </p:txBody>
      </p:sp>
      <p:sp>
        <p:nvSpPr>
          <p:cNvPr id="8" name="Text 6"/>
          <p:cNvSpPr/>
          <p:nvPr/>
        </p:nvSpPr>
        <p:spPr>
          <a:xfrm>
            <a:off x="2400151" y="3741688"/>
            <a:ext cx="1917502" cy="285155"/>
          </a:xfrm>
          <a:prstGeom prst="roundRect">
            <a:avLst>
              <a:gd name="adj" fmla="val 4449264"/>
            </a:avLst>
          </a:prstGeom>
          <a:solidFill>
            <a:srgbClr val="F6EA7B"/>
          </a:solidFill>
          <a:ln w="9525">
            <a:solidFill>
              <a:srgbClr val="1B1D19"/>
            </a:solidFill>
          </a:ln>
        </p:spPr>
        <p:txBody>
          <a:bodyPr wrap="square" rtlCol="0" anchor="ctr"/>
          <a:lstStyle/>
          <a:p>
            <a:pPr indent="0" marL="0">
              <a:buNone/>
            </a:pPr>
            <a:endParaRPr lang="en-US" dirty="0"/>
          </a:p>
        </p:txBody>
      </p:sp>
      <p:sp>
        <p:nvSpPr>
          <p:cNvPr id="9" name="Text 7"/>
          <p:cNvSpPr/>
          <p:nvPr/>
        </p:nvSpPr>
        <p:spPr>
          <a:xfrm>
            <a:off x="2536627" y="3814614"/>
            <a:ext cx="1677442" cy="139303"/>
          </a:xfrm>
          <a:prstGeom prst="rect">
            <a:avLst/>
          </a:prstGeom>
          <a:noFill/>
          <a:ln/>
        </p:spPr>
        <p:txBody>
          <a:bodyPr wrap="square" lIns="0" tIns="0" rIns="0" bIns="0" rtlCol="0" anchor="t"/>
          <a:lstStyle/>
          <a:p>
            <a:pPr algn="l" indent="0" marL="0">
              <a:lnSpc>
                <a:spcPts val="1098"/>
              </a:lnSpc>
              <a:buNone/>
            </a:pPr>
            <a:r>
              <a:rPr lang="en-US" sz="900" b="1" dirty="0">
                <a:solidFill>
                  <a:srgbClr val="1B1D19"/>
                </a:solidFill>
                <a:latin typeface="Arial" pitchFamily="34" charset="0"/>
                <a:ea typeface="Arial" pitchFamily="34" charset="-122"/>
                <a:cs typeface="Arial" pitchFamily="34" charset="-120"/>
              </a:rPr>
              <a:t>NOW · NUTRITION GUIDANCE</a:t>
            </a:r>
            <a:endParaRPr lang="en-US" sz="900" dirty="0"/>
          </a:p>
        </p:txBody>
      </p:sp>
      <p:sp>
        <p:nvSpPr>
          <p:cNvPr id="10" name="Text 8"/>
          <p:cNvSpPr/>
          <p:nvPr/>
        </p:nvSpPr>
        <p:spPr>
          <a:xfrm>
            <a:off x="381000" y="4217194"/>
            <a:ext cx="1663601" cy="285155"/>
          </a:xfrm>
          <a:prstGeom prst="roundRect">
            <a:avLst>
              <a:gd name="adj" fmla="val 4449264"/>
            </a:avLst>
          </a:prstGeom>
          <a:solidFill>
            <a:srgbClr val="B9D7F2"/>
          </a:solidFill>
          <a:ln w="9525">
            <a:solidFill>
              <a:srgbClr val="1B1D19"/>
            </a:solidFill>
          </a:ln>
        </p:spPr>
        <p:txBody>
          <a:bodyPr wrap="square" rtlCol="0" anchor="ctr"/>
          <a:lstStyle/>
          <a:p>
            <a:pPr indent="0" marL="0">
              <a:buNone/>
            </a:pPr>
            <a:endParaRPr lang="en-US" dirty="0"/>
          </a:p>
        </p:txBody>
      </p:sp>
      <p:sp>
        <p:nvSpPr>
          <p:cNvPr id="11" name="Text 9"/>
          <p:cNvSpPr/>
          <p:nvPr/>
        </p:nvSpPr>
        <p:spPr>
          <a:xfrm>
            <a:off x="517475" y="4290120"/>
            <a:ext cx="1418463" cy="139303"/>
          </a:xfrm>
          <a:prstGeom prst="rect">
            <a:avLst/>
          </a:prstGeom>
          <a:noFill/>
          <a:ln/>
        </p:spPr>
        <p:txBody>
          <a:bodyPr wrap="square" lIns="0" tIns="0" rIns="0" bIns="0" rtlCol="0" anchor="t"/>
          <a:lstStyle/>
          <a:p>
            <a:pPr algn="l" indent="0" marL="0">
              <a:lnSpc>
                <a:spcPts val="1098"/>
              </a:lnSpc>
              <a:buNone/>
            </a:pPr>
            <a:r>
              <a:rPr lang="en-US" sz="900" b="1" dirty="0">
                <a:solidFill>
                  <a:srgbClr val="1B1D19"/>
                </a:solidFill>
                <a:latin typeface="Arial" pitchFamily="34" charset="0"/>
                <a:ea typeface="Arial" pitchFamily="34" charset="-122"/>
                <a:cs typeface="Arial" pitchFamily="34" charset="-120"/>
              </a:rPr>
              <a:t>NEXT · EMOTION COACH</a:t>
            </a:r>
            <a:endParaRPr lang="en-US" sz="900" dirty="0"/>
          </a:p>
        </p:txBody>
      </p:sp>
      <p:sp>
        <p:nvSpPr>
          <p:cNvPr id="12" name="Text 10"/>
          <p:cNvSpPr/>
          <p:nvPr/>
        </p:nvSpPr>
        <p:spPr>
          <a:xfrm>
            <a:off x="5880050" y="808583"/>
            <a:ext cx="2514600" cy="3810000"/>
          </a:xfrm>
          <a:prstGeom prst="roundRect">
            <a:avLst>
              <a:gd name="adj" fmla="val 7071"/>
            </a:avLst>
          </a:prstGeom>
          <a:solidFill>
            <a:srgbClr val="72B56E"/>
          </a:solidFill>
          <a:ln w="47625">
            <a:solidFill>
              <a:srgbClr val="C8F23D"/>
            </a:solidFill>
          </a:ln>
        </p:spPr>
        <p:txBody>
          <a:bodyPr wrap="square" rtlCol="0" anchor="ctr"/>
          <a:lstStyle/>
          <a:p>
            <a:pPr indent="0" marL="0">
              <a:buNone/>
            </a:pPr>
            <a:endParaRPr lang="en-US" dirty="0"/>
          </a:p>
        </p:txBody>
      </p:sp>
      <p:pic>
        <p:nvPicPr>
          <p:cNvPr id="13" name="Image 0" descr="/Users/edwinj/Edwin/second-brain/01-projects/UNSWHac/pitch/assets/akeso-today.jpg">    </p:cNvPr>
          <p:cNvPicPr>
            <a:picLocks noChangeAspect="1"/>
          </p:cNvPicPr>
          <p:nvPr/>
        </p:nvPicPr>
        <p:blipFill>
          <a:blip r:embed="rId1"/>
          <a:stretch>
            <a:fillRect/>
          </a:stretch>
        </p:blipFill>
        <p:spPr>
          <a:xfrm>
            <a:off x="6029176" y="957709"/>
            <a:ext cx="2286000" cy="3581400"/>
          </a:xfrm>
          <a:prstGeom prst="rect">
            <a:avLst/>
          </a:prstGeom>
        </p:spPr>
      </p:pic>
      <p:sp>
        <p:nvSpPr>
          <p:cNvPr id="14" name="Text 11"/>
          <p:cNvSpPr/>
          <p:nvPr/>
        </p:nvSpPr>
        <p:spPr>
          <a:xfrm>
            <a:off x="381000" y="4925913"/>
            <a:ext cx="2278740" cy="116086"/>
          </a:xfrm>
          <a:prstGeom prst="rect">
            <a:avLst/>
          </a:prstGeom>
          <a:noFill/>
          <a:ln/>
        </p:spPr>
        <p:txBody>
          <a:bodyPr wrap="square" lIns="0" tIns="0" rIns="0" bIns="0" rtlCol="0" anchor="t"/>
          <a:lstStyle/>
          <a:p>
            <a:pPr algn="l" indent="0" marL="0">
              <a:lnSpc>
                <a:spcPts val="915"/>
              </a:lnSpc>
              <a:buNone/>
            </a:pPr>
            <a:r>
              <a:rPr lang="en-US" sz="750" b="1" dirty="0">
                <a:solidFill>
                  <a:srgbClr val="AEB5AA"/>
                </a:solidFill>
                <a:latin typeface="Arial" pitchFamily="34" charset="0"/>
                <a:ea typeface="Arial" pitchFamily="34" charset="-122"/>
                <a:cs typeface="Arial" pitchFamily="34" charset="-120"/>
              </a:rPr>
              <a:t>AKESO · ICON × LYRA HACKATHON 2026</a:t>
            </a:r>
            <a:endParaRPr lang="en-US" sz="750" dirty="0"/>
          </a:p>
        </p:txBody>
      </p:sp>
      <p:sp>
        <p:nvSpPr>
          <p:cNvPr id="15" name="Text 12"/>
          <p:cNvSpPr/>
          <p:nvPr/>
        </p:nvSpPr>
        <p:spPr>
          <a:xfrm>
            <a:off x="8636645" y="4925913"/>
            <a:ext cx="128882" cy="116086"/>
          </a:xfrm>
          <a:prstGeom prst="rect">
            <a:avLst/>
          </a:prstGeom>
          <a:noFill/>
          <a:ln/>
        </p:spPr>
        <p:txBody>
          <a:bodyPr wrap="square" lIns="0" tIns="0" rIns="0" bIns="0" rtlCol="0" anchor="t"/>
          <a:lstStyle/>
          <a:p>
            <a:pPr algn="l" indent="0" marL="0">
              <a:lnSpc>
                <a:spcPts val="915"/>
              </a:lnSpc>
              <a:buNone/>
            </a:pPr>
            <a:r>
              <a:rPr lang="en-US" sz="750" b="1" dirty="0">
                <a:solidFill>
                  <a:srgbClr val="AEB5AA"/>
                </a:solidFill>
                <a:latin typeface="Arial" pitchFamily="34" charset="0"/>
                <a:ea typeface="Arial" pitchFamily="34" charset="-122"/>
                <a:cs typeface="Arial" pitchFamily="34" charset="-120"/>
              </a:rPr>
              <a:t>03</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2E8"/>
        </a:solidFill>
      </p:bgPr>
    </p:bg>
    <p:spTree>
      <p:nvGrpSpPr>
        <p:cNvPr id="1" name=""/>
        <p:cNvGrpSpPr/>
        <p:nvPr/>
      </p:nvGrpSpPr>
      <p:grpSpPr>
        <a:xfrm>
          <a:off x="0" y="0"/>
          <a:ext cx="0" cy="0"/>
          <a:chOff x="0" y="0"/>
          <a:chExt cx="0" cy="0"/>
        </a:xfrm>
      </p:grpSpPr>
      <p:sp>
        <p:nvSpPr>
          <p:cNvPr id="2" name="Text 0"/>
          <p:cNvSpPr/>
          <p:nvPr/>
        </p:nvSpPr>
        <p:spPr>
          <a:xfrm>
            <a:off x="381000" y="330101"/>
            <a:ext cx="8549640" cy="131564"/>
          </a:xfrm>
          <a:prstGeom prst="rect">
            <a:avLst/>
          </a:prstGeom>
          <a:noFill/>
          <a:ln/>
        </p:spPr>
        <p:txBody>
          <a:bodyPr wrap="square" lIns="0" tIns="0" rIns="0" bIns="0" rtlCol="0" anchor="t"/>
          <a:lstStyle/>
          <a:p>
            <a:pPr algn="l" indent="0" marL="0">
              <a:lnSpc>
                <a:spcPts val="1037"/>
              </a:lnSpc>
              <a:spcAft>
                <a:spcPts val="800"/>
              </a:spcAft>
              <a:buNone/>
            </a:pPr>
            <a:r>
              <a:rPr lang="en-US" sz="850" b="1" dirty="0">
                <a:solidFill>
                  <a:srgbClr val="667066"/>
                </a:solidFill>
                <a:latin typeface="Arial" pitchFamily="34" charset="0"/>
                <a:ea typeface="Arial" pitchFamily="34" charset="-122"/>
                <a:cs typeface="Arial" pitchFamily="34" charset="-120"/>
              </a:rPr>
              <a:t>03 · HOW IT WORKS</a:t>
            </a:r>
            <a:endParaRPr lang="en-US" sz="850" dirty="0"/>
          </a:p>
        </p:txBody>
      </p:sp>
      <p:sp>
        <p:nvSpPr>
          <p:cNvPr id="3" name="Text 1"/>
          <p:cNvSpPr/>
          <p:nvPr/>
        </p:nvSpPr>
        <p:spPr>
          <a:xfrm>
            <a:off x="381000" y="563166"/>
            <a:ext cx="8549640" cy="926604"/>
          </a:xfrm>
          <a:prstGeom prst="rect">
            <a:avLst/>
          </a:prstGeom>
          <a:noFill/>
          <a:ln/>
        </p:spPr>
        <p:txBody>
          <a:bodyPr wrap="square" lIns="0" tIns="0" rIns="0" bIns="0" rtlCol="0" anchor="t"/>
          <a:lstStyle/>
          <a:p>
            <a:pPr algn="l" indent="0" marL="0">
              <a:lnSpc>
                <a:spcPts val="3648"/>
              </a:lnSpc>
              <a:buNone/>
            </a:pPr>
            <a:r>
              <a:rPr lang="en-US" sz="3800" dirty="0">
                <a:solidFill>
                  <a:srgbClr val="1B1D19"/>
                </a:solidFill>
                <a:latin typeface="Impact" pitchFamily="34" charset="0"/>
                <a:ea typeface="Impact" pitchFamily="34" charset="-122"/>
                <a:cs typeface="Impact" pitchFamily="34" charset="-120"/>
              </a:rPr>
              <a:t>20 SECONDS IN.</a:t>
            </a:r>
            <a:endParaRPr lang="en-US" sz="3800" dirty="0"/>
          </a:p>
          <a:p>
            <a:pPr algn="l" indent="0" marL="0">
              <a:lnSpc>
                <a:spcPts val="3648"/>
              </a:lnSpc>
              <a:buNone/>
            </a:pPr>
            <a:r>
              <a:rPr lang="en-US" sz="3800" dirty="0">
                <a:solidFill>
                  <a:srgbClr val="1B1D19"/>
                </a:solidFill>
                <a:latin typeface="Impact" pitchFamily="34" charset="0"/>
                <a:ea typeface="Impact" pitchFamily="34" charset="-122"/>
                <a:cs typeface="Impact" pitchFamily="34" charset="-120"/>
              </a:rPr>
              <a:t>A CLEARER DAY OUT.</a:t>
            </a:r>
            <a:endParaRPr lang="en-US" sz="3800" dirty="0"/>
          </a:p>
        </p:txBody>
      </p:sp>
      <p:sp>
        <p:nvSpPr>
          <p:cNvPr id="4" name="Text 2"/>
          <p:cNvSpPr/>
          <p:nvPr/>
        </p:nvSpPr>
        <p:spPr>
          <a:xfrm>
            <a:off x="819150" y="1616720"/>
            <a:ext cx="1727150" cy="2489150"/>
          </a:xfrm>
          <a:prstGeom prst="roundRect">
            <a:avLst>
              <a:gd name="adj" fmla="val 10294"/>
            </a:avLst>
          </a:prstGeom>
          <a:solidFill>
            <a:srgbClr val="F6EA7B"/>
          </a:solidFill>
          <a:ln w="19050">
            <a:solidFill>
              <a:srgbClr val="30342E"/>
            </a:solidFill>
          </a:ln>
        </p:spPr>
        <p:txBody>
          <a:bodyPr wrap="square" rtlCol="0" anchor="ctr"/>
          <a:lstStyle/>
          <a:p>
            <a:pPr indent="0" marL="0">
              <a:buNone/>
            </a:pPr>
            <a:endParaRPr lang="en-US" dirty="0"/>
          </a:p>
        </p:txBody>
      </p:sp>
      <p:pic>
        <p:nvPicPr>
          <p:cNvPr id="5" name="Image 0" descr="/Users/edwinj/Edwin/second-brain/01-projects/UNSWHac/pitch/assets/akeso-checkin.jpg">    </p:cNvPr>
          <p:cNvPicPr>
            <a:picLocks noChangeAspect="1"/>
          </p:cNvPicPr>
          <p:nvPr/>
        </p:nvPicPr>
        <p:blipFill>
          <a:blip r:embed="rId1"/>
          <a:stretch>
            <a:fillRect/>
          </a:stretch>
        </p:blipFill>
        <p:spPr>
          <a:xfrm>
            <a:off x="901601" y="1699171"/>
            <a:ext cx="1574750" cy="2324100"/>
          </a:xfrm>
          <a:prstGeom prst="rect">
            <a:avLst/>
          </a:prstGeom>
        </p:spPr>
      </p:pic>
      <p:sp>
        <p:nvSpPr>
          <p:cNvPr id="6" name="Text 3"/>
          <p:cNvSpPr/>
          <p:nvPr/>
        </p:nvSpPr>
        <p:spPr>
          <a:xfrm>
            <a:off x="1187351" y="4194721"/>
            <a:ext cx="990600" cy="285155"/>
          </a:xfrm>
          <a:prstGeom prst="roundRect">
            <a:avLst>
              <a:gd name="adj" fmla="val 4449264"/>
            </a:avLst>
          </a:prstGeom>
          <a:solidFill>
            <a:srgbClr val="F6EA7B"/>
          </a:solidFill>
          <a:ln w="9525">
            <a:solidFill>
              <a:srgbClr val="1B1D19"/>
            </a:solidFill>
          </a:ln>
        </p:spPr>
        <p:txBody>
          <a:bodyPr wrap="square" rtlCol="0" anchor="ctr"/>
          <a:lstStyle/>
          <a:p>
            <a:pPr indent="0" marL="0">
              <a:buNone/>
            </a:pPr>
            <a:endParaRPr lang="en-US" dirty="0"/>
          </a:p>
        </p:txBody>
      </p:sp>
      <p:sp>
        <p:nvSpPr>
          <p:cNvPr id="7" name="Text 4"/>
          <p:cNvSpPr/>
          <p:nvPr/>
        </p:nvSpPr>
        <p:spPr>
          <a:xfrm>
            <a:off x="1323826" y="4267646"/>
            <a:ext cx="732002" cy="139303"/>
          </a:xfrm>
          <a:prstGeom prst="rect">
            <a:avLst/>
          </a:prstGeom>
          <a:noFill/>
          <a:ln/>
        </p:spPr>
        <p:txBody>
          <a:bodyPr wrap="square" lIns="0" tIns="0" rIns="0" bIns="0" rtlCol="0" anchor="t"/>
          <a:lstStyle/>
          <a:p>
            <a:pPr algn="l" indent="0" marL="0">
              <a:lnSpc>
                <a:spcPts val="1098"/>
              </a:lnSpc>
              <a:buNone/>
            </a:pPr>
            <a:r>
              <a:rPr lang="en-US" sz="900" b="1" dirty="0">
                <a:solidFill>
                  <a:srgbClr val="1B1D19"/>
                </a:solidFill>
                <a:latin typeface="Arial" pitchFamily="34" charset="0"/>
                <a:ea typeface="Arial" pitchFamily="34" charset="-122"/>
                <a:cs typeface="Arial" pitchFamily="34" charset="-120"/>
              </a:rPr>
              <a:t>1 · CHECK IN</a:t>
            </a:r>
            <a:endParaRPr lang="en-US" sz="900" dirty="0"/>
          </a:p>
        </p:txBody>
      </p:sp>
      <p:sp>
        <p:nvSpPr>
          <p:cNvPr id="8" name="Text 5"/>
          <p:cNvSpPr/>
          <p:nvPr/>
        </p:nvSpPr>
        <p:spPr>
          <a:xfrm>
            <a:off x="1002412" y="4543276"/>
            <a:ext cx="1360625" cy="158651"/>
          </a:xfrm>
          <a:prstGeom prst="rect">
            <a:avLst/>
          </a:prstGeom>
          <a:noFill/>
          <a:ln/>
        </p:spPr>
        <p:txBody>
          <a:bodyPr wrap="square" lIns="0" tIns="0" rIns="0" bIns="0" rtlCol="0" anchor="t"/>
          <a:lstStyle/>
          <a:p>
            <a:pPr algn="ctr" indent="0" marL="0">
              <a:lnSpc>
                <a:spcPts val="1250"/>
              </a:lnSpc>
              <a:spcBef>
                <a:spcPts val="500"/>
              </a:spcBef>
              <a:buNone/>
            </a:pPr>
            <a:r>
              <a:rPr lang="en-US" sz="1000" dirty="0">
                <a:solidFill>
                  <a:srgbClr val="667066"/>
                </a:solidFill>
                <a:latin typeface="Arial" pitchFamily="34" charset="0"/>
                <a:ea typeface="Arial" pitchFamily="34" charset="-122"/>
                <a:cs typeface="Arial" pitchFamily="34" charset="-120"/>
              </a:rPr>
              <a:t>Daily signals, one place</a:t>
            </a:r>
            <a:endParaRPr lang="en-US" sz="1000" dirty="0"/>
          </a:p>
        </p:txBody>
      </p:sp>
      <p:sp>
        <p:nvSpPr>
          <p:cNvPr id="9" name="Text 6"/>
          <p:cNvSpPr/>
          <p:nvPr/>
        </p:nvSpPr>
        <p:spPr>
          <a:xfrm>
            <a:off x="3625751" y="1616720"/>
            <a:ext cx="1727150" cy="2489150"/>
          </a:xfrm>
          <a:prstGeom prst="roundRect">
            <a:avLst>
              <a:gd name="adj" fmla="val 10294"/>
            </a:avLst>
          </a:prstGeom>
          <a:solidFill>
            <a:srgbClr val="72B56E"/>
          </a:solidFill>
          <a:ln w="19050">
            <a:solidFill>
              <a:srgbClr val="30342E"/>
            </a:solidFill>
          </a:ln>
        </p:spPr>
        <p:txBody>
          <a:bodyPr wrap="square" rtlCol="0" anchor="ctr"/>
          <a:lstStyle/>
          <a:p>
            <a:pPr indent="0" marL="0">
              <a:buNone/>
            </a:pPr>
            <a:endParaRPr lang="en-US" dirty="0"/>
          </a:p>
        </p:txBody>
      </p:sp>
      <p:pic>
        <p:nvPicPr>
          <p:cNvPr id="10" name="Image 1" descr="/Users/edwinj/Edwin/second-brain/01-projects/UNSWHac/pitch/assets/akeso-today.jpg">    </p:cNvPr>
          <p:cNvPicPr>
            <a:picLocks noChangeAspect="1"/>
          </p:cNvPicPr>
          <p:nvPr/>
        </p:nvPicPr>
        <p:blipFill>
          <a:blip r:embed="rId2"/>
          <a:stretch>
            <a:fillRect/>
          </a:stretch>
        </p:blipFill>
        <p:spPr>
          <a:xfrm>
            <a:off x="3708202" y="1699171"/>
            <a:ext cx="1574750" cy="2324100"/>
          </a:xfrm>
          <a:prstGeom prst="rect">
            <a:avLst/>
          </a:prstGeom>
        </p:spPr>
      </p:pic>
      <p:sp>
        <p:nvSpPr>
          <p:cNvPr id="11" name="Text 7"/>
          <p:cNvSpPr/>
          <p:nvPr/>
        </p:nvSpPr>
        <p:spPr>
          <a:xfrm>
            <a:off x="3987701" y="4194721"/>
            <a:ext cx="1003250" cy="285155"/>
          </a:xfrm>
          <a:prstGeom prst="roundRect">
            <a:avLst>
              <a:gd name="adj" fmla="val 4449264"/>
            </a:avLst>
          </a:prstGeom>
          <a:solidFill>
            <a:srgbClr val="72B56E"/>
          </a:solidFill>
          <a:ln w="9525">
            <a:solidFill>
              <a:srgbClr val="1B1D19"/>
            </a:solidFill>
          </a:ln>
        </p:spPr>
        <p:txBody>
          <a:bodyPr wrap="square" rtlCol="0" anchor="ctr"/>
          <a:lstStyle/>
          <a:p>
            <a:pPr indent="0" marL="0">
              <a:buNone/>
            </a:pPr>
            <a:endParaRPr lang="en-US" dirty="0"/>
          </a:p>
        </p:txBody>
      </p:sp>
      <p:sp>
        <p:nvSpPr>
          <p:cNvPr id="12" name="Text 8"/>
          <p:cNvSpPr/>
          <p:nvPr/>
        </p:nvSpPr>
        <p:spPr>
          <a:xfrm>
            <a:off x="4124176" y="4267646"/>
            <a:ext cx="744906" cy="139303"/>
          </a:xfrm>
          <a:prstGeom prst="rect">
            <a:avLst/>
          </a:prstGeom>
          <a:noFill/>
          <a:ln/>
        </p:spPr>
        <p:txBody>
          <a:bodyPr wrap="square" lIns="0" tIns="0" rIns="0" bIns="0" rtlCol="0" anchor="t"/>
          <a:lstStyle/>
          <a:p>
            <a:pPr algn="l" indent="0" marL="0">
              <a:lnSpc>
                <a:spcPts val="1098"/>
              </a:lnSpc>
              <a:buNone/>
            </a:pPr>
            <a:r>
              <a:rPr lang="en-US" sz="900" b="1" dirty="0">
                <a:solidFill>
                  <a:srgbClr val="1B1D19"/>
                </a:solidFill>
                <a:latin typeface="Arial" pitchFamily="34" charset="0"/>
                <a:ea typeface="Arial" pitchFamily="34" charset="-122"/>
                <a:cs typeface="Arial" pitchFamily="34" charset="-120"/>
              </a:rPr>
              <a:t>2 · CONNECT</a:t>
            </a:r>
            <a:endParaRPr lang="en-US" sz="900" dirty="0"/>
          </a:p>
        </p:txBody>
      </p:sp>
      <p:sp>
        <p:nvSpPr>
          <p:cNvPr id="13" name="Text 9"/>
          <p:cNvSpPr/>
          <p:nvPr/>
        </p:nvSpPr>
        <p:spPr>
          <a:xfrm>
            <a:off x="3592845" y="4543276"/>
            <a:ext cx="1792813" cy="158651"/>
          </a:xfrm>
          <a:prstGeom prst="rect">
            <a:avLst/>
          </a:prstGeom>
          <a:noFill/>
          <a:ln/>
        </p:spPr>
        <p:txBody>
          <a:bodyPr wrap="square" lIns="0" tIns="0" rIns="0" bIns="0" rtlCol="0" anchor="t"/>
          <a:lstStyle/>
          <a:p>
            <a:pPr algn="ctr" indent="0" marL="0">
              <a:lnSpc>
                <a:spcPts val="1250"/>
              </a:lnSpc>
              <a:spcBef>
                <a:spcPts val="500"/>
              </a:spcBef>
              <a:buNone/>
            </a:pPr>
            <a:r>
              <a:rPr lang="en-US" sz="1000" dirty="0">
                <a:solidFill>
                  <a:srgbClr val="667066"/>
                </a:solidFill>
                <a:latin typeface="Arial" pitchFamily="34" charset="0"/>
                <a:ea typeface="Arial" pitchFamily="34" charset="-122"/>
                <a:cs typeface="Arial" pitchFamily="34" charset="-120"/>
              </a:rPr>
              <a:t>One explainable energy picture</a:t>
            </a:r>
            <a:endParaRPr lang="en-US" sz="1000" dirty="0"/>
          </a:p>
        </p:txBody>
      </p:sp>
      <p:sp>
        <p:nvSpPr>
          <p:cNvPr id="14" name="Text 10"/>
          <p:cNvSpPr/>
          <p:nvPr/>
        </p:nvSpPr>
        <p:spPr>
          <a:xfrm>
            <a:off x="6432352" y="1616720"/>
            <a:ext cx="1727150" cy="2489150"/>
          </a:xfrm>
          <a:prstGeom prst="roundRect">
            <a:avLst>
              <a:gd name="adj" fmla="val 10294"/>
            </a:avLst>
          </a:prstGeom>
          <a:solidFill>
            <a:srgbClr val="B9D7F2"/>
          </a:solidFill>
          <a:ln w="19050">
            <a:solidFill>
              <a:srgbClr val="30342E"/>
            </a:solidFill>
          </a:ln>
        </p:spPr>
        <p:txBody>
          <a:bodyPr wrap="square" rtlCol="0" anchor="ctr"/>
          <a:lstStyle/>
          <a:p>
            <a:pPr indent="0" marL="0">
              <a:buNone/>
            </a:pPr>
            <a:endParaRPr lang="en-US" dirty="0"/>
          </a:p>
        </p:txBody>
      </p:sp>
      <p:pic>
        <p:nvPicPr>
          <p:cNvPr id="15" name="Image 2" descr="/Users/edwinj/Edwin/second-brain/01-projects/UNSWHac/pitch/assets/akeso-nutrition.jpg">    </p:cNvPr>
          <p:cNvPicPr>
            <a:picLocks noChangeAspect="1"/>
          </p:cNvPicPr>
          <p:nvPr/>
        </p:nvPicPr>
        <p:blipFill>
          <a:blip r:embed="rId3"/>
          <a:stretch>
            <a:fillRect/>
          </a:stretch>
        </p:blipFill>
        <p:spPr>
          <a:xfrm>
            <a:off x="6514802" y="1699171"/>
            <a:ext cx="1574750" cy="2324100"/>
          </a:xfrm>
          <a:prstGeom prst="rect">
            <a:avLst/>
          </a:prstGeom>
        </p:spPr>
      </p:pic>
      <p:sp>
        <p:nvSpPr>
          <p:cNvPr id="16" name="Text 11"/>
          <p:cNvSpPr/>
          <p:nvPr/>
        </p:nvSpPr>
        <p:spPr>
          <a:xfrm>
            <a:off x="6692652" y="4194721"/>
            <a:ext cx="1206401" cy="285155"/>
          </a:xfrm>
          <a:prstGeom prst="roundRect">
            <a:avLst>
              <a:gd name="adj" fmla="val 4449264"/>
            </a:avLst>
          </a:prstGeom>
          <a:solidFill>
            <a:srgbClr val="B9D7F2"/>
          </a:solidFill>
          <a:ln w="9525">
            <a:solidFill>
              <a:srgbClr val="1B1D19"/>
            </a:solidFill>
          </a:ln>
        </p:spPr>
        <p:txBody>
          <a:bodyPr wrap="square" rtlCol="0" anchor="ctr"/>
          <a:lstStyle/>
          <a:p>
            <a:pPr indent="0" marL="0">
              <a:buNone/>
            </a:pPr>
            <a:endParaRPr lang="en-US" dirty="0"/>
          </a:p>
        </p:txBody>
      </p:sp>
      <p:sp>
        <p:nvSpPr>
          <p:cNvPr id="17" name="Text 12"/>
          <p:cNvSpPr/>
          <p:nvPr/>
        </p:nvSpPr>
        <p:spPr>
          <a:xfrm>
            <a:off x="6829127" y="4267646"/>
            <a:ext cx="952119" cy="139303"/>
          </a:xfrm>
          <a:prstGeom prst="rect">
            <a:avLst/>
          </a:prstGeom>
          <a:noFill/>
          <a:ln/>
        </p:spPr>
        <p:txBody>
          <a:bodyPr wrap="square" lIns="0" tIns="0" rIns="0" bIns="0" rtlCol="0" anchor="t"/>
          <a:lstStyle/>
          <a:p>
            <a:pPr algn="l" indent="0" marL="0">
              <a:lnSpc>
                <a:spcPts val="1098"/>
              </a:lnSpc>
              <a:buNone/>
            </a:pPr>
            <a:r>
              <a:rPr lang="en-US" sz="900" b="1" dirty="0">
                <a:solidFill>
                  <a:srgbClr val="1B1D19"/>
                </a:solidFill>
                <a:latin typeface="Arial" pitchFamily="34" charset="0"/>
                <a:ea typeface="Arial" pitchFamily="34" charset="-122"/>
                <a:cs typeface="Arial" pitchFamily="34" charset="-120"/>
              </a:rPr>
              <a:t>3 · TAKE ACTION</a:t>
            </a:r>
            <a:endParaRPr lang="en-US" sz="900" dirty="0"/>
          </a:p>
        </p:txBody>
      </p:sp>
      <p:sp>
        <p:nvSpPr>
          <p:cNvPr id="18" name="Text 13"/>
          <p:cNvSpPr/>
          <p:nvPr/>
        </p:nvSpPr>
        <p:spPr>
          <a:xfrm>
            <a:off x="6540017" y="4543276"/>
            <a:ext cx="1511671" cy="158651"/>
          </a:xfrm>
          <a:prstGeom prst="rect">
            <a:avLst/>
          </a:prstGeom>
          <a:noFill/>
          <a:ln/>
        </p:spPr>
        <p:txBody>
          <a:bodyPr wrap="square" lIns="0" tIns="0" rIns="0" bIns="0" rtlCol="0" anchor="t"/>
          <a:lstStyle/>
          <a:p>
            <a:pPr algn="ctr" indent="0" marL="0">
              <a:lnSpc>
                <a:spcPts val="1250"/>
              </a:lnSpc>
              <a:spcBef>
                <a:spcPts val="500"/>
              </a:spcBef>
              <a:buNone/>
            </a:pPr>
            <a:r>
              <a:rPr lang="en-US" sz="1000" dirty="0">
                <a:solidFill>
                  <a:srgbClr val="667066"/>
                </a:solidFill>
                <a:latin typeface="Arial" pitchFamily="34" charset="0"/>
                <a:ea typeface="Arial" pitchFamily="34" charset="-122"/>
                <a:cs typeface="Arial" pitchFamily="34" charset="-120"/>
              </a:rPr>
              <a:t>Meals from what you have</a:t>
            </a:r>
            <a:endParaRPr lang="en-US" sz="1000" dirty="0"/>
          </a:p>
        </p:txBody>
      </p:sp>
      <p:sp>
        <p:nvSpPr>
          <p:cNvPr id="19" name="Text 14"/>
          <p:cNvSpPr/>
          <p:nvPr/>
        </p:nvSpPr>
        <p:spPr>
          <a:xfrm>
            <a:off x="381000" y="4925913"/>
            <a:ext cx="2278740" cy="116086"/>
          </a:xfrm>
          <a:prstGeom prst="rect">
            <a:avLst/>
          </a:prstGeom>
          <a:noFill/>
          <a:ln/>
        </p:spPr>
        <p:txBody>
          <a:bodyPr wrap="square" lIns="0" tIns="0" rIns="0" bIns="0" rtlCol="0" anchor="t"/>
          <a:lstStyle/>
          <a:p>
            <a:pPr algn="l" indent="0" marL="0">
              <a:lnSpc>
                <a:spcPts val="915"/>
              </a:lnSpc>
              <a:buNone/>
            </a:pPr>
            <a:r>
              <a:rPr lang="en-US" sz="750" b="1" dirty="0">
                <a:solidFill>
                  <a:srgbClr val="667066"/>
                </a:solidFill>
                <a:latin typeface="Arial" pitchFamily="34" charset="0"/>
                <a:ea typeface="Arial" pitchFamily="34" charset="-122"/>
                <a:cs typeface="Arial" pitchFamily="34" charset="-120"/>
              </a:rPr>
              <a:t>AKESO · ICON × LYRA HACKATHON 2026</a:t>
            </a:r>
            <a:endParaRPr lang="en-US" sz="750" dirty="0"/>
          </a:p>
        </p:txBody>
      </p:sp>
      <p:sp>
        <p:nvSpPr>
          <p:cNvPr id="20" name="Text 15"/>
          <p:cNvSpPr/>
          <p:nvPr/>
        </p:nvSpPr>
        <p:spPr>
          <a:xfrm>
            <a:off x="8636645" y="4925913"/>
            <a:ext cx="128882" cy="116086"/>
          </a:xfrm>
          <a:prstGeom prst="rect">
            <a:avLst/>
          </a:prstGeom>
          <a:noFill/>
          <a:ln/>
        </p:spPr>
        <p:txBody>
          <a:bodyPr wrap="square" lIns="0" tIns="0" rIns="0" bIns="0" rtlCol="0" anchor="t"/>
          <a:lstStyle/>
          <a:p>
            <a:pPr algn="l" indent="0" marL="0">
              <a:lnSpc>
                <a:spcPts val="915"/>
              </a:lnSpc>
              <a:buNone/>
            </a:pPr>
            <a:r>
              <a:rPr lang="en-US" sz="750" b="1" dirty="0">
                <a:solidFill>
                  <a:srgbClr val="667066"/>
                </a:solidFill>
                <a:latin typeface="Arial" pitchFamily="34" charset="0"/>
                <a:ea typeface="Arial" pitchFamily="34" charset="-122"/>
                <a:cs typeface="Arial" pitchFamily="34" charset="-120"/>
              </a:rPr>
              <a:t>04</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2E8"/>
        </a:solidFill>
      </p:bgPr>
    </p:bg>
    <p:spTree>
      <p:nvGrpSpPr>
        <p:cNvPr id="1" name=""/>
        <p:cNvGrpSpPr/>
        <p:nvPr/>
      </p:nvGrpSpPr>
      <p:grpSpPr>
        <a:xfrm>
          <a:off x="0" y="0"/>
          <a:ext cx="0" cy="0"/>
          <a:chOff x="0" y="0"/>
          <a:chExt cx="0" cy="0"/>
        </a:xfrm>
      </p:grpSpPr>
      <p:sp>
        <p:nvSpPr>
          <p:cNvPr id="2" name="Text 0"/>
          <p:cNvSpPr/>
          <p:nvPr/>
        </p:nvSpPr>
        <p:spPr>
          <a:xfrm>
            <a:off x="381000" y="330101"/>
            <a:ext cx="8549640" cy="131564"/>
          </a:xfrm>
          <a:prstGeom prst="rect">
            <a:avLst/>
          </a:prstGeom>
          <a:noFill/>
          <a:ln/>
        </p:spPr>
        <p:txBody>
          <a:bodyPr wrap="square" lIns="0" tIns="0" rIns="0" bIns="0" rtlCol="0" anchor="t"/>
          <a:lstStyle/>
          <a:p>
            <a:pPr algn="l" indent="0" marL="0">
              <a:lnSpc>
                <a:spcPts val="1037"/>
              </a:lnSpc>
              <a:spcAft>
                <a:spcPts val="800"/>
              </a:spcAft>
              <a:buNone/>
            </a:pPr>
            <a:r>
              <a:rPr lang="en-US" sz="850" b="1" dirty="0">
                <a:solidFill>
                  <a:srgbClr val="667066"/>
                </a:solidFill>
                <a:latin typeface="Arial" pitchFamily="34" charset="0"/>
                <a:ea typeface="Arial" pitchFamily="34" charset="-122"/>
                <a:cs typeface="Arial" pitchFamily="34" charset="-120"/>
              </a:rPr>
              <a:t>04 · PERSONALISED, NOT MEDICALISED</a:t>
            </a:r>
            <a:endParaRPr lang="en-US" sz="850" dirty="0"/>
          </a:p>
        </p:txBody>
      </p:sp>
      <p:sp>
        <p:nvSpPr>
          <p:cNvPr id="3" name="Text 1"/>
          <p:cNvSpPr/>
          <p:nvPr/>
        </p:nvSpPr>
        <p:spPr>
          <a:xfrm>
            <a:off x="381000" y="563166"/>
            <a:ext cx="8549640" cy="926604"/>
          </a:xfrm>
          <a:prstGeom prst="rect">
            <a:avLst/>
          </a:prstGeom>
          <a:noFill/>
          <a:ln/>
        </p:spPr>
        <p:txBody>
          <a:bodyPr wrap="square" lIns="0" tIns="0" rIns="0" bIns="0" rtlCol="0" anchor="t"/>
          <a:lstStyle/>
          <a:p>
            <a:pPr algn="l" indent="0" marL="0">
              <a:lnSpc>
                <a:spcPts val="3648"/>
              </a:lnSpc>
              <a:buNone/>
            </a:pPr>
            <a:r>
              <a:rPr lang="en-US" sz="3800" dirty="0">
                <a:solidFill>
                  <a:srgbClr val="1B1D19"/>
                </a:solidFill>
                <a:latin typeface="Impact" pitchFamily="34" charset="0"/>
                <a:ea typeface="Impact" pitchFamily="34" charset="-122"/>
                <a:cs typeface="Impact" pitchFamily="34" charset="-120"/>
              </a:rPr>
              <a:t>NOT A DIAGNOSIS.</a:t>
            </a:r>
            <a:endParaRPr lang="en-US" sz="3800" dirty="0"/>
          </a:p>
          <a:p>
            <a:pPr algn="l" indent="0" marL="0">
              <a:lnSpc>
                <a:spcPts val="3648"/>
              </a:lnSpc>
              <a:buNone/>
            </a:pPr>
            <a:r>
              <a:rPr lang="en-US" sz="3800" dirty="0">
                <a:solidFill>
                  <a:srgbClr val="1B1D19"/>
                </a:solidFill>
                <a:latin typeface="Impact" pitchFamily="34" charset="0"/>
                <a:ea typeface="Impact" pitchFamily="34" charset="-122"/>
                <a:cs typeface="Impact" pitchFamily="34" charset="-120"/>
              </a:rPr>
              <a:t>A USEFUL PATTERN.</a:t>
            </a:r>
            <a:endParaRPr lang="en-US" sz="3800" dirty="0"/>
          </a:p>
        </p:txBody>
      </p:sp>
      <p:sp>
        <p:nvSpPr>
          <p:cNvPr id="4" name="Text 2"/>
          <p:cNvSpPr/>
          <p:nvPr/>
        </p:nvSpPr>
        <p:spPr>
          <a:xfrm>
            <a:off x="381000" y="1718370"/>
            <a:ext cx="2997101" cy="3301901"/>
          </a:xfrm>
          <a:prstGeom prst="roundRect">
            <a:avLst>
              <a:gd name="adj" fmla="val 5932"/>
            </a:avLst>
          </a:prstGeom>
          <a:solidFill>
            <a:srgbClr val="72B56E"/>
          </a:solidFill>
          <a:ln w="19050">
            <a:solidFill>
              <a:srgbClr val="30342E"/>
            </a:solidFill>
          </a:ln>
        </p:spPr>
        <p:txBody>
          <a:bodyPr wrap="square" rtlCol="0" anchor="ctr"/>
          <a:lstStyle/>
          <a:p>
            <a:pPr indent="0" marL="0">
              <a:buNone/>
            </a:pPr>
            <a:endParaRPr lang="en-US" dirty="0"/>
          </a:p>
        </p:txBody>
      </p:sp>
      <p:pic>
        <p:nvPicPr>
          <p:cNvPr id="5" name="Image 0" descr="/Users/edwinj/Edwin/second-brain/01-projects/UNSWHac/pitch/assets/akeso-nutrition.jpg">    </p:cNvPr>
          <p:cNvPicPr>
            <a:picLocks noChangeAspect="1"/>
          </p:cNvPicPr>
          <p:nvPr/>
        </p:nvPicPr>
        <p:blipFill>
          <a:blip r:embed="rId1"/>
          <a:stretch>
            <a:fillRect/>
          </a:stretch>
        </p:blipFill>
        <p:spPr>
          <a:xfrm>
            <a:off x="488900" y="1826270"/>
            <a:ext cx="2793950" cy="3098750"/>
          </a:xfrm>
          <a:prstGeom prst="rect">
            <a:avLst/>
          </a:prstGeom>
        </p:spPr>
      </p:pic>
      <p:sp>
        <p:nvSpPr>
          <p:cNvPr id="6" name="Text 3"/>
          <p:cNvSpPr/>
          <p:nvPr/>
        </p:nvSpPr>
        <p:spPr>
          <a:xfrm>
            <a:off x="3606701" y="1718370"/>
            <a:ext cx="4889450" cy="736550"/>
          </a:xfrm>
          <a:prstGeom prst="roundRect">
            <a:avLst>
              <a:gd name="adj" fmla="val 24140"/>
            </a:avLst>
          </a:prstGeom>
          <a:solidFill>
            <a:srgbClr val="FFFFFF"/>
          </a:solidFill>
          <a:ln w="19050">
            <a:solidFill>
              <a:srgbClr val="30342E"/>
            </a:solidFill>
          </a:ln>
        </p:spPr>
        <p:txBody>
          <a:bodyPr wrap="square" rtlCol="0" anchor="ctr"/>
          <a:lstStyle/>
          <a:p>
            <a:pPr indent="0" marL="0">
              <a:buNone/>
            </a:pPr>
            <a:endParaRPr lang="en-US" dirty="0"/>
          </a:p>
        </p:txBody>
      </p:sp>
      <p:sp>
        <p:nvSpPr>
          <p:cNvPr id="7" name="Text 4"/>
          <p:cNvSpPr/>
          <p:nvPr/>
        </p:nvSpPr>
        <p:spPr>
          <a:xfrm>
            <a:off x="3778151" y="1889820"/>
            <a:ext cx="393650" cy="393650"/>
          </a:xfrm>
          <a:prstGeom prst="roundRect">
            <a:avLst>
              <a:gd name="adj" fmla="val 232288"/>
            </a:avLst>
          </a:prstGeom>
          <a:solidFill>
            <a:srgbClr val="F49C86"/>
          </a:solidFill>
          <a:ln/>
        </p:spPr>
        <p:txBody>
          <a:bodyPr wrap="square" rtlCol="0" anchor="ctr"/>
          <a:lstStyle/>
          <a:p>
            <a:pPr indent="0" marL="0">
              <a:buNone/>
            </a:pPr>
            <a:endParaRPr lang="en-US" dirty="0"/>
          </a:p>
        </p:txBody>
      </p:sp>
      <p:sp>
        <p:nvSpPr>
          <p:cNvPr id="8" name="Text 5"/>
          <p:cNvSpPr/>
          <p:nvPr/>
        </p:nvSpPr>
        <p:spPr>
          <a:xfrm>
            <a:off x="3929063" y="1985963"/>
            <a:ext cx="93663" cy="201216"/>
          </a:xfrm>
          <a:prstGeom prst="rect">
            <a:avLst/>
          </a:prstGeom>
          <a:noFill/>
          <a:ln/>
        </p:spPr>
        <p:txBody>
          <a:bodyPr wrap="square" lIns="0" tIns="0" rIns="0" bIns="0" rtlCol="0" anchor="t"/>
          <a:lstStyle/>
          <a:p>
            <a:pPr algn="l" indent="0" marL="0">
              <a:lnSpc>
                <a:spcPts val="1586"/>
              </a:lnSpc>
              <a:buNone/>
            </a:pPr>
            <a:r>
              <a:rPr lang="en-US" sz="1300" b="1" dirty="0">
                <a:solidFill>
                  <a:srgbClr val="1B1D19"/>
                </a:solidFill>
                <a:latin typeface="Arial" pitchFamily="34" charset="0"/>
                <a:ea typeface="Arial" pitchFamily="34" charset="-122"/>
                <a:cs typeface="Arial" pitchFamily="34" charset="-120"/>
              </a:rPr>
              <a:t>1</a:t>
            </a:r>
            <a:endParaRPr lang="en-US" sz="1300" dirty="0"/>
          </a:p>
        </p:txBody>
      </p:sp>
      <p:sp>
        <p:nvSpPr>
          <p:cNvPr id="9" name="Text 6"/>
          <p:cNvSpPr/>
          <p:nvPr/>
        </p:nvSpPr>
        <p:spPr>
          <a:xfrm>
            <a:off x="4324201" y="1902470"/>
            <a:ext cx="2994499" cy="209550"/>
          </a:xfrm>
          <a:prstGeom prst="rect">
            <a:avLst/>
          </a:prstGeom>
          <a:noFill/>
          <a:ln/>
        </p:spPr>
        <p:txBody>
          <a:bodyPr wrap="square" lIns="0" tIns="0" rIns="0" bIns="0" rtlCol="0" anchor="t"/>
          <a:lstStyle/>
          <a:p>
            <a:pPr algn="l" indent="0" marL="0">
              <a:lnSpc>
                <a:spcPts val="1650"/>
              </a:lnSpc>
              <a:buNone/>
            </a:pPr>
            <a:r>
              <a:rPr lang="en-US" sz="1500" b="1" dirty="0">
                <a:solidFill>
                  <a:srgbClr val="1B1D19"/>
                </a:solidFill>
                <a:latin typeface="Arial" pitchFamily="34" charset="0"/>
                <a:ea typeface="Arial" pitchFamily="34" charset="-122"/>
                <a:cs typeface="Arial" pitchFamily="34" charset="-120"/>
              </a:rPr>
              <a:t>Repeated food pattern</a:t>
            </a:r>
            <a:endParaRPr lang="en-US" sz="1500" dirty="0"/>
          </a:p>
        </p:txBody>
      </p:sp>
      <p:sp>
        <p:nvSpPr>
          <p:cNvPr id="10" name="Text 7"/>
          <p:cNvSpPr/>
          <p:nvPr/>
        </p:nvSpPr>
        <p:spPr>
          <a:xfrm>
            <a:off x="4324201" y="2112020"/>
            <a:ext cx="2994499" cy="158651"/>
          </a:xfrm>
          <a:prstGeom prst="rect">
            <a:avLst/>
          </a:prstGeom>
          <a:noFill/>
          <a:ln/>
        </p:spPr>
        <p:txBody>
          <a:bodyPr wrap="square" lIns="0" tIns="0" rIns="0" bIns="0" rtlCol="0" anchor="t"/>
          <a:lstStyle/>
          <a:p>
            <a:pPr algn="l" indent="0" marL="0">
              <a:lnSpc>
                <a:spcPts val="1250"/>
              </a:lnSpc>
              <a:buNone/>
            </a:pPr>
            <a:r>
              <a:rPr lang="en-US" sz="1000" dirty="0">
                <a:solidFill>
                  <a:srgbClr val="667066"/>
                </a:solidFill>
                <a:latin typeface="Arial" pitchFamily="34" charset="0"/>
                <a:ea typeface="Arial" pitchFamily="34" charset="-122"/>
                <a:cs typeface="Arial" pitchFamily="34" charset="-120"/>
              </a:rPr>
              <a:t>Very few iron-rich foods logged across several days.</a:t>
            </a:r>
            <a:endParaRPr lang="en-US" sz="1000" dirty="0"/>
          </a:p>
        </p:txBody>
      </p:sp>
      <p:sp>
        <p:nvSpPr>
          <p:cNvPr id="11" name="Text 8"/>
          <p:cNvSpPr/>
          <p:nvPr/>
        </p:nvSpPr>
        <p:spPr>
          <a:xfrm>
            <a:off x="3606701" y="2569220"/>
            <a:ext cx="4889450" cy="736550"/>
          </a:xfrm>
          <a:prstGeom prst="roundRect">
            <a:avLst>
              <a:gd name="adj" fmla="val 24140"/>
            </a:avLst>
          </a:prstGeom>
          <a:solidFill>
            <a:srgbClr val="F6EA7B"/>
          </a:solidFill>
          <a:ln w="19050">
            <a:solidFill>
              <a:srgbClr val="30342E"/>
            </a:solidFill>
          </a:ln>
        </p:spPr>
        <p:txBody>
          <a:bodyPr wrap="square" rtlCol="0" anchor="ctr"/>
          <a:lstStyle/>
          <a:p>
            <a:pPr indent="0" marL="0">
              <a:buNone/>
            </a:pPr>
            <a:endParaRPr lang="en-US" dirty="0"/>
          </a:p>
        </p:txBody>
      </p:sp>
      <p:sp>
        <p:nvSpPr>
          <p:cNvPr id="12" name="Text 9"/>
          <p:cNvSpPr/>
          <p:nvPr/>
        </p:nvSpPr>
        <p:spPr>
          <a:xfrm>
            <a:off x="3778151" y="2740670"/>
            <a:ext cx="393650" cy="393650"/>
          </a:xfrm>
          <a:prstGeom prst="roundRect">
            <a:avLst>
              <a:gd name="adj" fmla="val 232288"/>
            </a:avLst>
          </a:prstGeom>
          <a:solidFill>
            <a:srgbClr val="C8F23D"/>
          </a:solidFill>
          <a:ln/>
        </p:spPr>
        <p:txBody>
          <a:bodyPr wrap="square" rtlCol="0" anchor="ctr"/>
          <a:lstStyle/>
          <a:p>
            <a:pPr indent="0" marL="0">
              <a:buNone/>
            </a:pPr>
            <a:endParaRPr lang="en-US" dirty="0"/>
          </a:p>
        </p:txBody>
      </p:sp>
      <p:sp>
        <p:nvSpPr>
          <p:cNvPr id="13" name="Text 10"/>
          <p:cNvSpPr/>
          <p:nvPr/>
        </p:nvSpPr>
        <p:spPr>
          <a:xfrm>
            <a:off x="3929063" y="2836813"/>
            <a:ext cx="93663" cy="201216"/>
          </a:xfrm>
          <a:prstGeom prst="rect">
            <a:avLst/>
          </a:prstGeom>
          <a:noFill/>
          <a:ln/>
        </p:spPr>
        <p:txBody>
          <a:bodyPr wrap="square" lIns="0" tIns="0" rIns="0" bIns="0" rtlCol="0" anchor="t"/>
          <a:lstStyle/>
          <a:p>
            <a:pPr algn="l" indent="0" marL="0">
              <a:lnSpc>
                <a:spcPts val="1586"/>
              </a:lnSpc>
              <a:buNone/>
            </a:pPr>
            <a:r>
              <a:rPr lang="en-US" sz="1300" b="1" dirty="0">
                <a:solidFill>
                  <a:srgbClr val="1B1D19"/>
                </a:solidFill>
                <a:latin typeface="Arial" pitchFamily="34" charset="0"/>
                <a:ea typeface="Arial" pitchFamily="34" charset="-122"/>
                <a:cs typeface="Arial" pitchFamily="34" charset="-120"/>
              </a:rPr>
              <a:t>2</a:t>
            </a:r>
            <a:endParaRPr lang="en-US" sz="1300" dirty="0"/>
          </a:p>
        </p:txBody>
      </p:sp>
      <p:sp>
        <p:nvSpPr>
          <p:cNvPr id="14" name="Text 11"/>
          <p:cNvSpPr/>
          <p:nvPr/>
        </p:nvSpPr>
        <p:spPr>
          <a:xfrm>
            <a:off x="4324201" y="2753320"/>
            <a:ext cx="2579921" cy="209550"/>
          </a:xfrm>
          <a:prstGeom prst="rect">
            <a:avLst/>
          </a:prstGeom>
          <a:noFill/>
          <a:ln/>
        </p:spPr>
        <p:txBody>
          <a:bodyPr wrap="square" lIns="0" tIns="0" rIns="0" bIns="0" rtlCol="0" anchor="t"/>
          <a:lstStyle/>
          <a:p>
            <a:pPr algn="l" indent="0" marL="0">
              <a:lnSpc>
                <a:spcPts val="1650"/>
              </a:lnSpc>
              <a:buNone/>
            </a:pPr>
            <a:r>
              <a:rPr lang="en-US" sz="1500" b="1" dirty="0">
                <a:solidFill>
                  <a:srgbClr val="1B1D19"/>
                </a:solidFill>
                <a:latin typeface="Arial" pitchFamily="34" charset="0"/>
                <a:ea typeface="Arial" pitchFamily="34" charset="-122"/>
                <a:cs typeface="Arial" pitchFamily="34" charset="-120"/>
              </a:rPr>
              <a:t>Explain, without diagnosing</a:t>
            </a:r>
            <a:endParaRPr lang="en-US" sz="1500" dirty="0"/>
          </a:p>
        </p:txBody>
      </p:sp>
      <p:sp>
        <p:nvSpPr>
          <p:cNvPr id="15" name="Text 12"/>
          <p:cNvSpPr/>
          <p:nvPr/>
        </p:nvSpPr>
        <p:spPr>
          <a:xfrm>
            <a:off x="4324201" y="2962870"/>
            <a:ext cx="2579921" cy="158651"/>
          </a:xfrm>
          <a:prstGeom prst="rect">
            <a:avLst/>
          </a:prstGeom>
          <a:noFill/>
          <a:ln/>
        </p:spPr>
        <p:txBody>
          <a:bodyPr wrap="square" lIns="0" tIns="0" rIns="0" bIns="0" rtlCol="0" anchor="t"/>
          <a:lstStyle/>
          <a:p>
            <a:pPr algn="l" indent="0" marL="0">
              <a:lnSpc>
                <a:spcPts val="1250"/>
              </a:lnSpc>
              <a:buNone/>
            </a:pPr>
            <a:r>
              <a:rPr lang="en-US" sz="1000" dirty="0">
                <a:solidFill>
                  <a:srgbClr val="667066"/>
                </a:solidFill>
                <a:latin typeface="Arial" pitchFamily="34" charset="0"/>
                <a:ea typeface="Arial" pitchFamily="34" charset="-122"/>
                <a:cs typeface="Arial" pitchFamily="34" charset="-120"/>
              </a:rPr>
              <a:t>“This pattern may be worth addressing.”</a:t>
            </a:r>
            <a:endParaRPr lang="en-US" sz="1000" dirty="0"/>
          </a:p>
        </p:txBody>
      </p:sp>
      <p:sp>
        <p:nvSpPr>
          <p:cNvPr id="16" name="Text 13"/>
          <p:cNvSpPr/>
          <p:nvPr/>
        </p:nvSpPr>
        <p:spPr>
          <a:xfrm>
            <a:off x="3606701" y="3420070"/>
            <a:ext cx="4889450" cy="736550"/>
          </a:xfrm>
          <a:prstGeom prst="roundRect">
            <a:avLst>
              <a:gd name="adj" fmla="val 24140"/>
            </a:avLst>
          </a:prstGeom>
          <a:solidFill>
            <a:srgbClr val="B9D7F2"/>
          </a:solidFill>
          <a:ln w="19050">
            <a:solidFill>
              <a:srgbClr val="30342E"/>
            </a:solidFill>
          </a:ln>
        </p:spPr>
        <p:txBody>
          <a:bodyPr wrap="square" rtlCol="0" anchor="ctr"/>
          <a:lstStyle/>
          <a:p>
            <a:pPr indent="0" marL="0">
              <a:buNone/>
            </a:pPr>
            <a:endParaRPr lang="en-US" dirty="0"/>
          </a:p>
        </p:txBody>
      </p:sp>
      <p:sp>
        <p:nvSpPr>
          <p:cNvPr id="17" name="Text 14"/>
          <p:cNvSpPr/>
          <p:nvPr/>
        </p:nvSpPr>
        <p:spPr>
          <a:xfrm>
            <a:off x="3778151" y="3591520"/>
            <a:ext cx="393650" cy="393650"/>
          </a:xfrm>
          <a:prstGeom prst="roundRect">
            <a:avLst>
              <a:gd name="adj" fmla="val 232288"/>
            </a:avLst>
          </a:prstGeom>
          <a:solidFill>
            <a:srgbClr val="72B56E"/>
          </a:solidFill>
          <a:ln/>
        </p:spPr>
        <p:txBody>
          <a:bodyPr wrap="square" rtlCol="0" anchor="ctr"/>
          <a:lstStyle/>
          <a:p>
            <a:pPr indent="0" marL="0">
              <a:buNone/>
            </a:pPr>
            <a:endParaRPr lang="en-US" dirty="0"/>
          </a:p>
        </p:txBody>
      </p:sp>
      <p:sp>
        <p:nvSpPr>
          <p:cNvPr id="18" name="Text 15"/>
          <p:cNvSpPr/>
          <p:nvPr/>
        </p:nvSpPr>
        <p:spPr>
          <a:xfrm>
            <a:off x="3929063" y="3687663"/>
            <a:ext cx="93663" cy="201216"/>
          </a:xfrm>
          <a:prstGeom prst="rect">
            <a:avLst/>
          </a:prstGeom>
          <a:noFill/>
          <a:ln/>
        </p:spPr>
        <p:txBody>
          <a:bodyPr wrap="square" lIns="0" tIns="0" rIns="0" bIns="0" rtlCol="0" anchor="t"/>
          <a:lstStyle/>
          <a:p>
            <a:pPr algn="l" indent="0" marL="0">
              <a:lnSpc>
                <a:spcPts val="1586"/>
              </a:lnSpc>
              <a:buNone/>
            </a:pPr>
            <a:r>
              <a:rPr lang="en-US" sz="1300" b="1" dirty="0">
                <a:solidFill>
                  <a:srgbClr val="1B1D19"/>
                </a:solidFill>
                <a:latin typeface="Arial" pitchFamily="34" charset="0"/>
                <a:ea typeface="Arial" pitchFamily="34" charset="-122"/>
                <a:cs typeface="Arial" pitchFamily="34" charset="-120"/>
              </a:rPr>
              <a:t>3</a:t>
            </a:r>
            <a:endParaRPr lang="en-US" sz="1300" dirty="0"/>
          </a:p>
        </p:txBody>
      </p:sp>
      <p:sp>
        <p:nvSpPr>
          <p:cNvPr id="19" name="Text 16"/>
          <p:cNvSpPr/>
          <p:nvPr/>
        </p:nvSpPr>
        <p:spPr>
          <a:xfrm>
            <a:off x="4324201" y="3604171"/>
            <a:ext cx="3294617" cy="209550"/>
          </a:xfrm>
          <a:prstGeom prst="rect">
            <a:avLst/>
          </a:prstGeom>
          <a:noFill/>
          <a:ln/>
        </p:spPr>
        <p:txBody>
          <a:bodyPr wrap="square" lIns="0" tIns="0" rIns="0" bIns="0" rtlCol="0" anchor="t"/>
          <a:lstStyle/>
          <a:p>
            <a:pPr algn="l" indent="0" marL="0">
              <a:lnSpc>
                <a:spcPts val="1650"/>
              </a:lnSpc>
              <a:buNone/>
            </a:pPr>
            <a:r>
              <a:rPr lang="en-US" sz="1500" b="1" dirty="0">
                <a:solidFill>
                  <a:srgbClr val="1B1D19"/>
                </a:solidFill>
                <a:latin typeface="Arial" pitchFamily="34" charset="0"/>
                <a:ea typeface="Arial" pitchFamily="34" charset="-122"/>
                <a:cs typeface="Arial" pitchFamily="34" charset="-120"/>
              </a:rPr>
              <a:t>One realistic next action</a:t>
            </a:r>
            <a:endParaRPr lang="en-US" sz="1500" dirty="0"/>
          </a:p>
        </p:txBody>
      </p:sp>
      <p:sp>
        <p:nvSpPr>
          <p:cNvPr id="20" name="Text 17"/>
          <p:cNvSpPr/>
          <p:nvPr/>
        </p:nvSpPr>
        <p:spPr>
          <a:xfrm>
            <a:off x="4324201" y="3813721"/>
            <a:ext cx="3294617" cy="158651"/>
          </a:xfrm>
          <a:prstGeom prst="rect">
            <a:avLst/>
          </a:prstGeom>
          <a:noFill/>
          <a:ln/>
        </p:spPr>
        <p:txBody>
          <a:bodyPr wrap="square" lIns="0" tIns="0" rIns="0" bIns="0" rtlCol="0" anchor="t"/>
          <a:lstStyle/>
          <a:p>
            <a:pPr algn="l" indent="0" marL="0">
              <a:lnSpc>
                <a:spcPts val="1250"/>
              </a:lnSpc>
              <a:buNone/>
            </a:pPr>
            <a:r>
              <a:rPr lang="en-US" sz="1000" dirty="0">
                <a:solidFill>
                  <a:srgbClr val="667066"/>
                </a:solidFill>
                <a:latin typeface="Arial" pitchFamily="34" charset="0"/>
                <a:ea typeface="Arial" pitchFamily="34" charset="-122"/>
                <a:cs typeface="Arial" pitchFamily="34" charset="-120"/>
              </a:rPr>
              <a:t>Spinach, eggs or salmon — using what is already nearby.</a:t>
            </a:r>
            <a:endParaRPr lang="en-US" sz="1000" dirty="0"/>
          </a:p>
        </p:txBody>
      </p:sp>
      <p:sp>
        <p:nvSpPr>
          <p:cNvPr id="21" name="Text 18"/>
          <p:cNvSpPr/>
          <p:nvPr/>
        </p:nvSpPr>
        <p:spPr>
          <a:xfrm>
            <a:off x="3606701" y="4309021"/>
            <a:ext cx="4987239" cy="114300"/>
          </a:xfrm>
          <a:prstGeom prst="rect">
            <a:avLst/>
          </a:prstGeom>
          <a:noFill/>
          <a:ln/>
        </p:spPr>
        <p:txBody>
          <a:bodyPr wrap="square" lIns="0" tIns="0" rIns="0" bIns="0" rtlCol="0" anchor="t"/>
          <a:lstStyle/>
          <a:p>
            <a:pPr algn="l" indent="0" marL="0">
              <a:lnSpc>
                <a:spcPts val="900"/>
              </a:lnSpc>
              <a:spcBef>
                <a:spcPts val="300"/>
              </a:spcBef>
              <a:buNone/>
            </a:pPr>
            <a:r>
              <a:rPr lang="en-US" sz="750" dirty="0">
                <a:solidFill>
                  <a:srgbClr val="667066"/>
                </a:solidFill>
                <a:latin typeface="Arial" pitchFamily="34" charset="0"/>
                <a:ea typeface="Arial" pitchFamily="34" charset="-122"/>
                <a:cs typeface="Arial" pitchFamily="34" charset="-120"/>
              </a:rPr>
              <a:t>Persistent dizziness or fatigue should be discussed with a qualified health professional.</a:t>
            </a:r>
            <a:endParaRPr lang="en-US" sz="750" dirty="0"/>
          </a:p>
        </p:txBody>
      </p:sp>
      <p:sp>
        <p:nvSpPr>
          <p:cNvPr id="22" name="Text 19"/>
          <p:cNvSpPr/>
          <p:nvPr/>
        </p:nvSpPr>
        <p:spPr>
          <a:xfrm>
            <a:off x="381000" y="4925913"/>
            <a:ext cx="2278740" cy="116086"/>
          </a:xfrm>
          <a:prstGeom prst="rect">
            <a:avLst/>
          </a:prstGeom>
          <a:noFill/>
          <a:ln/>
        </p:spPr>
        <p:txBody>
          <a:bodyPr wrap="square" lIns="0" tIns="0" rIns="0" bIns="0" rtlCol="0" anchor="t"/>
          <a:lstStyle/>
          <a:p>
            <a:pPr algn="l" indent="0" marL="0">
              <a:lnSpc>
                <a:spcPts val="915"/>
              </a:lnSpc>
              <a:buNone/>
            </a:pPr>
            <a:r>
              <a:rPr lang="en-US" sz="750" b="1" dirty="0">
                <a:solidFill>
                  <a:srgbClr val="667066"/>
                </a:solidFill>
                <a:latin typeface="Arial" pitchFamily="34" charset="0"/>
                <a:ea typeface="Arial" pitchFamily="34" charset="-122"/>
                <a:cs typeface="Arial" pitchFamily="34" charset="-120"/>
              </a:rPr>
              <a:t>AKESO · ICON × LYRA HACKATHON 2026</a:t>
            </a:r>
            <a:endParaRPr lang="en-US" sz="750" dirty="0"/>
          </a:p>
        </p:txBody>
      </p:sp>
      <p:sp>
        <p:nvSpPr>
          <p:cNvPr id="23" name="Text 20"/>
          <p:cNvSpPr/>
          <p:nvPr/>
        </p:nvSpPr>
        <p:spPr>
          <a:xfrm>
            <a:off x="8636645" y="4925913"/>
            <a:ext cx="128882" cy="116086"/>
          </a:xfrm>
          <a:prstGeom prst="rect">
            <a:avLst/>
          </a:prstGeom>
          <a:noFill/>
          <a:ln/>
        </p:spPr>
        <p:txBody>
          <a:bodyPr wrap="square" lIns="0" tIns="0" rIns="0" bIns="0" rtlCol="0" anchor="t"/>
          <a:lstStyle/>
          <a:p>
            <a:pPr algn="l" indent="0" marL="0">
              <a:lnSpc>
                <a:spcPts val="915"/>
              </a:lnSpc>
              <a:buNone/>
            </a:pPr>
            <a:r>
              <a:rPr lang="en-US" sz="750" b="1" dirty="0">
                <a:solidFill>
                  <a:srgbClr val="667066"/>
                </a:solidFill>
                <a:latin typeface="Arial" pitchFamily="34" charset="0"/>
                <a:ea typeface="Arial" pitchFamily="34" charset="-122"/>
                <a:cs typeface="Arial" pitchFamily="34" charset="-120"/>
              </a:rPr>
              <a:t>05</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2E8"/>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6EA7B"/>
          </a:solidFill>
          <a:ln/>
        </p:spPr>
        <p:txBody>
          <a:bodyPr wrap="square" rtlCol="0" anchor="ctr"/>
          <a:lstStyle/>
          <a:p>
            <a:pPr indent="0" marL="0">
              <a:buNone/>
            </a:pPr>
            <a:endParaRPr lang="en-US" dirty="0"/>
          </a:p>
        </p:txBody>
      </p:sp>
      <p:sp>
        <p:nvSpPr>
          <p:cNvPr id="3" name="Text 1"/>
          <p:cNvSpPr/>
          <p:nvPr/>
        </p:nvSpPr>
        <p:spPr>
          <a:xfrm>
            <a:off x="381000" y="330101"/>
            <a:ext cx="8549640" cy="131564"/>
          </a:xfrm>
          <a:prstGeom prst="rect">
            <a:avLst/>
          </a:prstGeom>
          <a:noFill/>
          <a:ln/>
        </p:spPr>
        <p:txBody>
          <a:bodyPr wrap="square" lIns="0" tIns="0" rIns="0" bIns="0" rtlCol="0" anchor="t"/>
          <a:lstStyle/>
          <a:p>
            <a:pPr algn="l" indent="0" marL="0">
              <a:lnSpc>
                <a:spcPts val="1037"/>
              </a:lnSpc>
              <a:spcAft>
                <a:spcPts val="800"/>
              </a:spcAft>
              <a:buNone/>
            </a:pPr>
            <a:r>
              <a:rPr lang="en-US" sz="850" b="1" dirty="0">
                <a:solidFill>
                  <a:srgbClr val="667066"/>
                </a:solidFill>
                <a:latin typeface="Arial" pitchFamily="34" charset="0"/>
                <a:ea typeface="Arial" pitchFamily="34" charset="-122"/>
                <a:cs typeface="Arial" pitchFamily="34" charset="-120"/>
              </a:rPr>
              <a:t>05 · MEASURABLE TIME SAVED</a:t>
            </a:r>
            <a:endParaRPr lang="en-US" sz="850" dirty="0"/>
          </a:p>
        </p:txBody>
      </p:sp>
      <p:sp>
        <p:nvSpPr>
          <p:cNvPr id="4" name="Text 2"/>
          <p:cNvSpPr/>
          <p:nvPr/>
        </p:nvSpPr>
        <p:spPr>
          <a:xfrm>
            <a:off x="381000" y="563166"/>
            <a:ext cx="8549640" cy="926604"/>
          </a:xfrm>
          <a:prstGeom prst="rect">
            <a:avLst/>
          </a:prstGeom>
          <a:noFill/>
          <a:ln/>
        </p:spPr>
        <p:txBody>
          <a:bodyPr wrap="square" lIns="0" tIns="0" rIns="0" bIns="0" rtlCol="0" anchor="t"/>
          <a:lstStyle/>
          <a:p>
            <a:pPr algn="l" indent="0" marL="0">
              <a:lnSpc>
                <a:spcPts val="3648"/>
              </a:lnSpc>
              <a:buNone/>
            </a:pPr>
            <a:r>
              <a:rPr lang="en-US" sz="3800" dirty="0">
                <a:solidFill>
                  <a:srgbClr val="1B1D19"/>
                </a:solidFill>
                <a:latin typeface="Impact" pitchFamily="34" charset="0"/>
                <a:ea typeface="Impact" pitchFamily="34" charset="-122"/>
                <a:cs typeface="Impact" pitchFamily="34" charset="-120"/>
              </a:rPr>
              <a:t>FROM SCATTERED DECISIONS</a:t>
            </a:r>
            <a:endParaRPr lang="en-US" sz="3800" dirty="0"/>
          </a:p>
          <a:p>
            <a:pPr algn="l" indent="0" marL="0">
              <a:lnSpc>
                <a:spcPts val="3648"/>
              </a:lnSpc>
              <a:buNone/>
            </a:pPr>
            <a:r>
              <a:rPr lang="en-US" sz="3800" dirty="0">
                <a:solidFill>
                  <a:srgbClr val="1B1D19"/>
                </a:solidFill>
                <a:latin typeface="Impact" pitchFamily="34" charset="0"/>
                <a:ea typeface="Impact" pitchFamily="34" charset="-122"/>
                <a:cs typeface="Impact" pitchFamily="34" charset="-120"/>
              </a:rPr>
              <a:t>TO ONE GUIDED ROUTINE.</a:t>
            </a:r>
            <a:endParaRPr lang="en-US" sz="3800" dirty="0"/>
          </a:p>
        </p:txBody>
      </p:sp>
      <p:sp>
        <p:nvSpPr>
          <p:cNvPr id="5" name="Text 3"/>
          <p:cNvSpPr/>
          <p:nvPr/>
        </p:nvSpPr>
        <p:spPr>
          <a:xfrm>
            <a:off x="381000" y="1692920"/>
            <a:ext cx="3873401" cy="2095500"/>
          </a:xfrm>
          <a:prstGeom prst="roundRect">
            <a:avLst>
              <a:gd name="adj" fmla="val 8485"/>
            </a:avLst>
          </a:prstGeom>
          <a:solidFill>
            <a:srgbClr val="FFFFFF"/>
          </a:solidFill>
          <a:ln w="19050">
            <a:solidFill>
              <a:srgbClr val="30342E"/>
            </a:solidFill>
          </a:ln>
        </p:spPr>
        <p:txBody>
          <a:bodyPr wrap="square" rtlCol="0" anchor="ctr"/>
          <a:lstStyle/>
          <a:p>
            <a:pPr indent="0" marL="0">
              <a:buNone/>
            </a:pPr>
            <a:endParaRPr lang="en-US" dirty="0"/>
          </a:p>
        </p:txBody>
      </p:sp>
      <p:sp>
        <p:nvSpPr>
          <p:cNvPr id="6" name="Text 4"/>
          <p:cNvSpPr/>
          <p:nvPr/>
        </p:nvSpPr>
        <p:spPr>
          <a:xfrm>
            <a:off x="628650" y="1902470"/>
            <a:ext cx="3445663" cy="131564"/>
          </a:xfrm>
          <a:prstGeom prst="rect">
            <a:avLst/>
          </a:prstGeom>
          <a:noFill/>
          <a:ln/>
        </p:spPr>
        <p:txBody>
          <a:bodyPr wrap="square" lIns="0" tIns="0" rIns="0" bIns="0" rtlCol="0" anchor="t"/>
          <a:lstStyle/>
          <a:p>
            <a:pPr algn="l" indent="0" marL="0">
              <a:lnSpc>
                <a:spcPts val="1037"/>
              </a:lnSpc>
              <a:spcAft>
                <a:spcPts val="800"/>
              </a:spcAft>
              <a:buNone/>
            </a:pPr>
            <a:r>
              <a:rPr lang="en-US" sz="850" b="1" dirty="0">
                <a:solidFill>
                  <a:srgbClr val="667066"/>
                </a:solidFill>
                <a:latin typeface="Arial" pitchFamily="34" charset="0"/>
                <a:ea typeface="Arial" pitchFamily="34" charset="-122"/>
                <a:cs typeface="Arial" pitchFamily="34" charset="-120"/>
              </a:rPr>
              <a:t>BEFORE · MANUAL</a:t>
            </a:r>
            <a:endParaRPr lang="en-US" sz="850" dirty="0"/>
          </a:p>
        </p:txBody>
      </p:sp>
      <p:sp>
        <p:nvSpPr>
          <p:cNvPr id="7" name="Text 5"/>
          <p:cNvSpPr/>
          <p:nvPr/>
        </p:nvSpPr>
        <p:spPr>
          <a:xfrm>
            <a:off x="628650" y="2135535"/>
            <a:ext cx="3445663" cy="622250"/>
          </a:xfrm>
          <a:prstGeom prst="rect">
            <a:avLst/>
          </a:prstGeom>
          <a:noFill/>
          <a:ln/>
        </p:spPr>
        <p:txBody>
          <a:bodyPr wrap="square" lIns="0" tIns="0" rIns="0" bIns="0" rtlCol="0" anchor="t"/>
          <a:lstStyle/>
          <a:p>
            <a:pPr algn="l" indent="0" marL="0">
              <a:lnSpc>
                <a:spcPts val="4900"/>
              </a:lnSpc>
              <a:buNone/>
            </a:pPr>
            <a:r>
              <a:rPr lang="en-US" sz="4900" dirty="0">
                <a:solidFill>
                  <a:srgbClr val="1B1D19"/>
                </a:solidFill>
                <a:latin typeface="Impact" pitchFamily="34" charset="0"/>
                <a:ea typeface="Impact" pitchFamily="34" charset="-122"/>
                <a:cs typeface="Impact" pitchFamily="34" charset="-120"/>
              </a:rPr>
              <a:t>12:00</a:t>
            </a:r>
            <a:endParaRPr lang="en-US" sz="4900" dirty="0"/>
          </a:p>
        </p:txBody>
      </p:sp>
      <p:sp>
        <p:nvSpPr>
          <p:cNvPr id="8" name="Text 6"/>
          <p:cNvSpPr/>
          <p:nvPr/>
        </p:nvSpPr>
        <p:spPr>
          <a:xfrm>
            <a:off x="628650" y="3420219"/>
            <a:ext cx="3445663" cy="158651"/>
          </a:xfrm>
          <a:prstGeom prst="rect">
            <a:avLst/>
          </a:prstGeom>
          <a:noFill/>
          <a:ln/>
        </p:spPr>
        <p:txBody>
          <a:bodyPr wrap="square" lIns="0" tIns="0" rIns="0" bIns="0" rtlCol="0" anchor="t"/>
          <a:lstStyle/>
          <a:p>
            <a:pPr algn="l" indent="0" marL="0">
              <a:lnSpc>
                <a:spcPts val="1250"/>
              </a:lnSpc>
              <a:buNone/>
            </a:pPr>
            <a:r>
              <a:rPr lang="en-US" sz="1000" dirty="0">
                <a:solidFill>
                  <a:srgbClr val="667066"/>
                </a:solidFill>
                <a:latin typeface="Arial" pitchFamily="34" charset="0"/>
                <a:ea typeface="Arial" pitchFamily="34" charset="-122"/>
                <a:cs typeface="Arial" pitchFamily="34" charset="-120"/>
              </a:rPr>
              <a:t>Calendar + task triage + meal decision + time blocking</a:t>
            </a:r>
            <a:endParaRPr lang="en-US" sz="1000" dirty="0"/>
          </a:p>
        </p:txBody>
      </p:sp>
      <p:sp>
        <p:nvSpPr>
          <p:cNvPr id="9" name="Text 7"/>
          <p:cNvSpPr/>
          <p:nvPr/>
        </p:nvSpPr>
        <p:spPr>
          <a:xfrm>
            <a:off x="4483001" y="1692920"/>
            <a:ext cx="3873401" cy="2095500"/>
          </a:xfrm>
          <a:prstGeom prst="roundRect">
            <a:avLst>
              <a:gd name="adj" fmla="val 8485"/>
            </a:avLst>
          </a:prstGeom>
          <a:solidFill>
            <a:srgbClr val="1B1D19"/>
          </a:solidFill>
          <a:ln w="47625">
            <a:solidFill>
              <a:srgbClr val="C8F23D"/>
            </a:solidFill>
          </a:ln>
        </p:spPr>
        <p:txBody>
          <a:bodyPr wrap="square" rtlCol="0" anchor="ctr"/>
          <a:lstStyle/>
          <a:p>
            <a:pPr indent="0" marL="0">
              <a:buNone/>
            </a:pPr>
            <a:endParaRPr lang="en-US" dirty="0"/>
          </a:p>
        </p:txBody>
      </p:sp>
      <p:sp>
        <p:nvSpPr>
          <p:cNvPr id="10" name="Text 8"/>
          <p:cNvSpPr/>
          <p:nvPr/>
        </p:nvSpPr>
        <p:spPr>
          <a:xfrm>
            <a:off x="4759226" y="1931045"/>
            <a:ext cx="3387370" cy="131564"/>
          </a:xfrm>
          <a:prstGeom prst="rect">
            <a:avLst/>
          </a:prstGeom>
          <a:noFill/>
          <a:ln/>
        </p:spPr>
        <p:txBody>
          <a:bodyPr wrap="square" lIns="0" tIns="0" rIns="0" bIns="0" rtlCol="0" anchor="t"/>
          <a:lstStyle/>
          <a:p>
            <a:pPr algn="l" indent="0" marL="0">
              <a:lnSpc>
                <a:spcPts val="1037"/>
              </a:lnSpc>
              <a:spcAft>
                <a:spcPts val="800"/>
              </a:spcAft>
              <a:buNone/>
            </a:pPr>
            <a:r>
              <a:rPr lang="en-US" sz="850" b="1" dirty="0">
                <a:solidFill>
                  <a:srgbClr val="C8F23D"/>
                </a:solidFill>
                <a:latin typeface="Arial" pitchFamily="34" charset="0"/>
                <a:ea typeface="Arial" pitchFamily="34" charset="-122"/>
                <a:cs typeface="Arial" pitchFamily="34" charset="-120"/>
              </a:rPr>
              <a:t>WITH AKESO</a:t>
            </a:r>
            <a:endParaRPr lang="en-US" sz="850" dirty="0"/>
          </a:p>
        </p:txBody>
      </p:sp>
      <p:sp>
        <p:nvSpPr>
          <p:cNvPr id="11" name="Text 9"/>
          <p:cNvSpPr/>
          <p:nvPr/>
        </p:nvSpPr>
        <p:spPr>
          <a:xfrm>
            <a:off x="4759226" y="2164110"/>
            <a:ext cx="3387370" cy="622250"/>
          </a:xfrm>
          <a:prstGeom prst="rect">
            <a:avLst/>
          </a:prstGeom>
          <a:noFill/>
          <a:ln/>
        </p:spPr>
        <p:txBody>
          <a:bodyPr wrap="square" lIns="0" tIns="0" rIns="0" bIns="0" rtlCol="0" anchor="t"/>
          <a:lstStyle/>
          <a:p>
            <a:pPr algn="l" indent="0" marL="0">
              <a:lnSpc>
                <a:spcPts val="4900"/>
              </a:lnSpc>
              <a:buNone/>
            </a:pPr>
            <a:r>
              <a:rPr lang="en-US" sz="4900" dirty="0">
                <a:solidFill>
                  <a:srgbClr val="C8F23D"/>
                </a:solidFill>
                <a:latin typeface="Impact" pitchFamily="34" charset="0"/>
                <a:ea typeface="Impact" pitchFamily="34" charset="-122"/>
                <a:cs typeface="Impact" pitchFamily="34" charset="-120"/>
              </a:rPr>
              <a:t>0:25</a:t>
            </a:r>
            <a:endParaRPr lang="en-US" sz="4900" dirty="0"/>
          </a:p>
        </p:txBody>
      </p:sp>
      <p:sp>
        <p:nvSpPr>
          <p:cNvPr id="12" name="Text 10"/>
          <p:cNvSpPr/>
          <p:nvPr/>
        </p:nvSpPr>
        <p:spPr>
          <a:xfrm>
            <a:off x="4759226" y="3232993"/>
            <a:ext cx="3387370" cy="317302"/>
          </a:xfrm>
          <a:prstGeom prst="rect">
            <a:avLst/>
          </a:prstGeom>
          <a:noFill/>
          <a:ln/>
        </p:spPr>
        <p:txBody>
          <a:bodyPr wrap="square" lIns="0" tIns="0" rIns="0" bIns="0" rtlCol="0" anchor="t"/>
          <a:lstStyle/>
          <a:p>
            <a:pPr algn="l" indent="0" marL="0">
              <a:lnSpc>
                <a:spcPts val="1250"/>
              </a:lnSpc>
              <a:buNone/>
            </a:pPr>
            <a:r>
              <a:rPr lang="en-US" sz="1000" dirty="0">
                <a:solidFill>
                  <a:srgbClr val="DDE1D8"/>
                </a:solidFill>
                <a:latin typeface="Arial" pitchFamily="34" charset="0"/>
                <a:ea typeface="Arial" pitchFamily="34" charset="-122"/>
                <a:cs typeface="Arial" pitchFamily="34" charset="-120"/>
              </a:rPr>
              <a:t>One check-in → energy insight → meal + routine suggestion</a:t>
            </a:r>
            <a:endParaRPr lang="en-US" sz="1000" dirty="0"/>
          </a:p>
        </p:txBody>
      </p:sp>
      <p:sp>
        <p:nvSpPr>
          <p:cNvPr id="13" name="Text 11"/>
          <p:cNvSpPr/>
          <p:nvPr/>
        </p:nvSpPr>
        <p:spPr>
          <a:xfrm>
            <a:off x="381000" y="3940820"/>
            <a:ext cx="4635401" cy="347067"/>
          </a:xfrm>
          <a:prstGeom prst="roundRect">
            <a:avLst>
              <a:gd name="adj" fmla="val 3655577"/>
            </a:avLst>
          </a:prstGeom>
          <a:solidFill>
            <a:srgbClr val="72B56E"/>
          </a:solidFill>
          <a:ln w="9525">
            <a:solidFill>
              <a:srgbClr val="1B1D19"/>
            </a:solidFill>
          </a:ln>
        </p:spPr>
        <p:txBody>
          <a:bodyPr wrap="square" rtlCol="0" anchor="ctr"/>
          <a:lstStyle/>
          <a:p>
            <a:pPr indent="0" marL="0">
              <a:buNone/>
            </a:pPr>
            <a:endParaRPr lang="en-US" dirty="0"/>
          </a:p>
        </p:txBody>
      </p:sp>
      <p:sp>
        <p:nvSpPr>
          <p:cNvPr id="14" name="Text 12"/>
          <p:cNvSpPr/>
          <p:nvPr/>
        </p:nvSpPr>
        <p:spPr>
          <a:xfrm>
            <a:off x="1465362" y="4013746"/>
            <a:ext cx="2515859" cy="201216"/>
          </a:xfrm>
          <a:prstGeom prst="rect">
            <a:avLst/>
          </a:prstGeom>
          <a:noFill/>
          <a:ln/>
        </p:spPr>
        <p:txBody>
          <a:bodyPr wrap="square" lIns="0" tIns="0" rIns="0" bIns="0" rtlCol="0" anchor="t"/>
          <a:lstStyle/>
          <a:p>
            <a:pPr algn="l" indent="0" marL="0">
              <a:lnSpc>
                <a:spcPts val="1586"/>
              </a:lnSpc>
              <a:buNone/>
            </a:pPr>
            <a:r>
              <a:rPr lang="en-US" sz="1300" b="1" dirty="0">
                <a:solidFill>
                  <a:srgbClr val="1B1D19"/>
                </a:solidFill>
                <a:latin typeface="Arial" pitchFamily="34" charset="0"/>
                <a:ea typeface="Arial" pitchFamily="34" charset="-122"/>
                <a:cs typeface="Arial" pitchFamily="34" charset="-120"/>
              </a:rPr>
              <a:t>≈ 11 MINUTES SAVED PER DAY</a:t>
            </a:r>
            <a:endParaRPr lang="en-US" sz="1300" dirty="0"/>
          </a:p>
        </p:txBody>
      </p:sp>
      <p:sp>
        <p:nvSpPr>
          <p:cNvPr id="15" name="Text 13"/>
          <p:cNvSpPr/>
          <p:nvPr/>
        </p:nvSpPr>
        <p:spPr>
          <a:xfrm>
            <a:off x="381000" y="4351288"/>
            <a:ext cx="8549640" cy="114300"/>
          </a:xfrm>
          <a:prstGeom prst="rect">
            <a:avLst/>
          </a:prstGeom>
          <a:noFill/>
          <a:ln/>
        </p:spPr>
        <p:txBody>
          <a:bodyPr wrap="square" lIns="0" tIns="0" rIns="0" bIns="0" rtlCol="0" anchor="t"/>
          <a:lstStyle/>
          <a:p>
            <a:pPr algn="l" indent="0" marL="0">
              <a:lnSpc>
                <a:spcPts val="900"/>
              </a:lnSpc>
              <a:spcBef>
                <a:spcPts val="500"/>
              </a:spcBef>
              <a:buNone/>
            </a:pPr>
            <a:r>
              <a:rPr lang="en-US" sz="750" dirty="0">
                <a:solidFill>
                  <a:srgbClr val="667066"/>
                </a:solidFill>
                <a:latin typeface="Arial" pitchFamily="34" charset="0"/>
                <a:ea typeface="Arial" pitchFamily="34" charset="-122"/>
                <a:cs typeface="Arial" pitchFamily="34" charset="-120"/>
              </a:rPr>
              <a:t>Sample demo values — replace with the final measured median before presenting.</a:t>
            </a:r>
            <a:endParaRPr lang="en-US" sz="750" dirty="0"/>
          </a:p>
        </p:txBody>
      </p:sp>
      <p:sp>
        <p:nvSpPr>
          <p:cNvPr id="16" name="Text 14"/>
          <p:cNvSpPr/>
          <p:nvPr/>
        </p:nvSpPr>
        <p:spPr>
          <a:xfrm>
            <a:off x="381000" y="4925913"/>
            <a:ext cx="2278740" cy="116086"/>
          </a:xfrm>
          <a:prstGeom prst="rect">
            <a:avLst/>
          </a:prstGeom>
          <a:noFill/>
          <a:ln/>
        </p:spPr>
        <p:txBody>
          <a:bodyPr wrap="square" lIns="0" tIns="0" rIns="0" bIns="0" rtlCol="0" anchor="t"/>
          <a:lstStyle/>
          <a:p>
            <a:pPr algn="l" indent="0" marL="0">
              <a:lnSpc>
                <a:spcPts val="915"/>
              </a:lnSpc>
              <a:buNone/>
            </a:pPr>
            <a:r>
              <a:rPr lang="en-US" sz="750" b="1" dirty="0">
                <a:solidFill>
                  <a:srgbClr val="667066"/>
                </a:solidFill>
                <a:latin typeface="Arial" pitchFamily="34" charset="0"/>
                <a:ea typeface="Arial" pitchFamily="34" charset="-122"/>
                <a:cs typeface="Arial" pitchFamily="34" charset="-120"/>
              </a:rPr>
              <a:t>AKESO · ICON × LYRA HACKATHON 2026</a:t>
            </a:r>
            <a:endParaRPr lang="en-US" sz="750" dirty="0"/>
          </a:p>
        </p:txBody>
      </p:sp>
      <p:sp>
        <p:nvSpPr>
          <p:cNvPr id="17" name="Text 15"/>
          <p:cNvSpPr/>
          <p:nvPr/>
        </p:nvSpPr>
        <p:spPr>
          <a:xfrm>
            <a:off x="8636645" y="4925913"/>
            <a:ext cx="128882" cy="116086"/>
          </a:xfrm>
          <a:prstGeom prst="rect">
            <a:avLst/>
          </a:prstGeom>
          <a:noFill/>
          <a:ln/>
        </p:spPr>
        <p:txBody>
          <a:bodyPr wrap="square" lIns="0" tIns="0" rIns="0" bIns="0" rtlCol="0" anchor="t"/>
          <a:lstStyle/>
          <a:p>
            <a:pPr algn="l" indent="0" marL="0">
              <a:lnSpc>
                <a:spcPts val="915"/>
              </a:lnSpc>
              <a:buNone/>
            </a:pPr>
            <a:r>
              <a:rPr lang="en-US" sz="750" b="1" dirty="0">
                <a:solidFill>
                  <a:srgbClr val="667066"/>
                </a:solidFill>
                <a:latin typeface="Arial" pitchFamily="34" charset="0"/>
                <a:ea typeface="Arial" pitchFamily="34" charset="-122"/>
                <a:cs typeface="Arial" pitchFamily="34" charset="-120"/>
              </a:rPr>
              <a:t>06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2E8"/>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1B1D19"/>
          </a:solidFill>
          <a:ln/>
        </p:spPr>
        <p:txBody>
          <a:bodyPr wrap="square" rtlCol="0" anchor="ctr"/>
          <a:lstStyle/>
          <a:p>
            <a:pPr indent="0" marL="0">
              <a:buNone/>
            </a:pPr>
            <a:endParaRPr lang="en-US" dirty="0"/>
          </a:p>
        </p:txBody>
      </p:sp>
      <p:sp>
        <p:nvSpPr>
          <p:cNvPr id="3" name="Text 1"/>
          <p:cNvSpPr/>
          <p:nvPr/>
        </p:nvSpPr>
        <p:spPr>
          <a:xfrm>
            <a:off x="381000" y="330101"/>
            <a:ext cx="8549640" cy="131564"/>
          </a:xfrm>
          <a:prstGeom prst="rect">
            <a:avLst/>
          </a:prstGeom>
          <a:noFill/>
          <a:ln/>
        </p:spPr>
        <p:txBody>
          <a:bodyPr wrap="square" lIns="0" tIns="0" rIns="0" bIns="0" rtlCol="0" anchor="t"/>
          <a:lstStyle/>
          <a:p>
            <a:pPr algn="l" indent="0" marL="0">
              <a:lnSpc>
                <a:spcPts val="1037"/>
              </a:lnSpc>
              <a:spcAft>
                <a:spcPts val="800"/>
              </a:spcAft>
              <a:buNone/>
            </a:pPr>
            <a:r>
              <a:rPr lang="en-US" sz="850" b="1" dirty="0">
                <a:solidFill>
                  <a:srgbClr val="C8F23D"/>
                </a:solidFill>
                <a:latin typeface="Arial" pitchFamily="34" charset="0"/>
                <a:ea typeface="Arial" pitchFamily="34" charset="-122"/>
                <a:cs typeface="Arial" pitchFamily="34" charset="-120"/>
              </a:rPr>
              <a:t>06 · TECHNICAL EXECUTION</a:t>
            </a:r>
            <a:endParaRPr lang="en-US" sz="850" dirty="0"/>
          </a:p>
        </p:txBody>
      </p:sp>
      <p:sp>
        <p:nvSpPr>
          <p:cNvPr id="4" name="Text 2"/>
          <p:cNvSpPr/>
          <p:nvPr/>
        </p:nvSpPr>
        <p:spPr>
          <a:xfrm>
            <a:off x="381000" y="563166"/>
            <a:ext cx="8549640" cy="926604"/>
          </a:xfrm>
          <a:prstGeom prst="rect">
            <a:avLst/>
          </a:prstGeom>
          <a:noFill/>
          <a:ln/>
        </p:spPr>
        <p:txBody>
          <a:bodyPr wrap="square" lIns="0" tIns="0" rIns="0" bIns="0" rtlCol="0" anchor="t"/>
          <a:lstStyle/>
          <a:p>
            <a:pPr algn="l" indent="0" marL="0">
              <a:lnSpc>
                <a:spcPts val="3648"/>
              </a:lnSpc>
              <a:buNone/>
            </a:pPr>
            <a:r>
              <a:rPr lang="en-US" sz="3800" dirty="0">
                <a:solidFill>
                  <a:srgbClr val="F5F2E8"/>
                </a:solidFill>
                <a:latin typeface="Impact" pitchFamily="34" charset="0"/>
                <a:ea typeface="Impact" pitchFamily="34" charset="-122"/>
                <a:cs typeface="Impact" pitchFamily="34" charset="-120"/>
              </a:rPr>
              <a:t>BUILT TO EXPLAIN.</a:t>
            </a:r>
            <a:endParaRPr lang="en-US" sz="3800" dirty="0"/>
          </a:p>
          <a:p>
            <a:pPr algn="l" indent="0" marL="0">
              <a:lnSpc>
                <a:spcPts val="3648"/>
              </a:lnSpc>
              <a:buNone/>
            </a:pPr>
            <a:r>
              <a:rPr lang="en-US" sz="3800" dirty="0">
                <a:solidFill>
                  <a:srgbClr val="F5F2E8"/>
                </a:solidFill>
                <a:latin typeface="Impact" pitchFamily="34" charset="0"/>
                <a:ea typeface="Impact" pitchFamily="34" charset="-122"/>
                <a:cs typeface="Impact" pitchFamily="34" charset="-120"/>
              </a:rPr>
              <a:t>NOT TO PRETEND.</a:t>
            </a:r>
            <a:endParaRPr lang="en-US" sz="3800" dirty="0"/>
          </a:p>
        </p:txBody>
      </p:sp>
      <p:sp>
        <p:nvSpPr>
          <p:cNvPr id="5" name="Text 3"/>
          <p:cNvSpPr/>
          <p:nvPr/>
        </p:nvSpPr>
        <p:spPr>
          <a:xfrm>
            <a:off x="381000" y="1743670"/>
            <a:ext cx="1638300" cy="1134517"/>
          </a:xfrm>
          <a:prstGeom prst="roundRect">
            <a:avLst>
              <a:gd name="adj" fmla="val 15672"/>
            </a:avLst>
          </a:prstGeom>
          <a:solidFill>
            <a:srgbClr val="72B56E"/>
          </a:solidFill>
          <a:ln w="19050">
            <a:solidFill>
              <a:srgbClr val="30342E"/>
            </a:solidFill>
          </a:ln>
        </p:spPr>
        <p:txBody>
          <a:bodyPr wrap="square" rtlCol="0" anchor="ctr"/>
          <a:lstStyle/>
          <a:p>
            <a:pPr indent="0" marL="0">
              <a:buNone/>
            </a:pPr>
            <a:endParaRPr lang="en-US" dirty="0"/>
          </a:p>
        </p:txBody>
      </p:sp>
      <p:sp>
        <p:nvSpPr>
          <p:cNvPr id="6" name="Text 4"/>
          <p:cNvSpPr/>
          <p:nvPr/>
        </p:nvSpPr>
        <p:spPr>
          <a:xfrm>
            <a:off x="603200" y="1965871"/>
            <a:ext cx="1217777" cy="131564"/>
          </a:xfrm>
          <a:prstGeom prst="rect">
            <a:avLst/>
          </a:prstGeom>
          <a:noFill/>
          <a:ln/>
        </p:spPr>
        <p:txBody>
          <a:bodyPr wrap="square" lIns="0" tIns="0" rIns="0" bIns="0" rtlCol="0" anchor="t"/>
          <a:lstStyle/>
          <a:p>
            <a:pPr algn="l" indent="0" marL="0">
              <a:lnSpc>
                <a:spcPts val="1037"/>
              </a:lnSpc>
              <a:spcAft>
                <a:spcPts val="800"/>
              </a:spcAft>
              <a:buNone/>
            </a:pPr>
            <a:r>
              <a:rPr lang="en-US" sz="850" b="1" dirty="0">
                <a:solidFill>
                  <a:srgbClr val="1B1D19"/>
                </a:solidFill>
                <a:latin typeface="Arial" pitchFamily="34" charset="0"/>
                <a:ea typeface="Arial" pitchFamily="34" charset="-122"/>
                <a:cs typeface="Arial" pitchFamily="34" charset="-120"/>
              </a:rPr>
              <a:t>CLIENT</a:t>
            </a:r>
            <a:endParaRPr lang="en-US" sz="850" dirty="0"/>
          </a:p>
        </p:txBody>
      </p:sp>
      <p:sp>
        <p:nvSpPr>
          <p:cNvPr id="7" name="Text 5"/>
          <p:cNvSpPr/>
          <p:nvPr/>
        </p:nvSpPr>
        <p:spPr>
          <a:xfrm>
            <a:off x="603200" y="2198936"/>
            <a:ext cx="1217777" cy="209550"/>
          </a:xfrm>
          <a:prstGeom prst="rect">
            <a:avLst/>
          </a:prstGeom>
          <a:noFill/>
          <a:ln/>
        </p:spPr>
        <p:txBody>
          <a:bodyPr wrap="square" lIns="0" tIns="0" rIns="0" bIns="0" rtlCol="0" anchor="t"/>
          <a:lstStyle/>
          <a:p>
            <a:pPr algn="l" indent="0" marL="0">
              <a:lnSpc>
                <a:spcPts val="1650"/>
              </a:lnSpc>
              <a:buNone/>
            </a:pPr>
            <a:r>
              <a:rPr lang="en-US" sz="1500" b="1" dirty="0">
                <a:solidFill>
                  <a:srgbClr val="1B1D19"/>
                </a:solidFill>
                <a:latin typeface="Arial" pitchFamily="34" charset="0"/>
                <a:ea typeface="Arial" pitchFamily="34" charset="-122"/>
                <a:cs typeface="Arial" pitchFamily="34" charset="-120"/>
              </a:rPr>
              <a:t>Expo App</a:t>
            </a:r>
            <a:endParaRPr lang="en-US" sz="1500" dirty="0"/>
          </a:p>
        </p:txBody>
      </p:sp>
      <p:sp>
        <p:nvSpPr>
          <p:cNvPr id="8" name="Text 6"/>
          <p:cNvSpPr/>
          <p:nvPr/>
        </p:nvSpPr>
        <p:spPr>
          <a:xfrm>
            <a:off x="603200" y="2497336"/>
            <a:ext cx="1217777" cy="158651"/>
          </a:xfrm>
          <a:prstGeom prst="rect">
            <a:avLst/>
          </a:prstGeom>
          <a:noFill/>
          <a:ln/>
        </p:spPr>
        <p:txBody>
          <a:bodyPr wrap="square" lIns="0" tIns="0" rIns="0" bIns="0" rtlCol="0" anchor="t"/>
          <a:lstStyle/>
          <a:p>
            <a:pPr algn="l" indent="0" marL="0">
              <a:lnSpc>
                <a:spcPts val="1250"/>
              </a:lnSpc>
              <a:spcBef>
                <a:spcPts val="700"/>
              </a:spcBef>
              <a:buNone/>
            </a:pPr>
            <a:r>
              <a:rPr lang="en-US" sz="1000" dirty="0">
                <a:solidFill>
                  <a:srgbClr val="1B1D19"/>
                </a:solidFill>
                <a:latin typeface="Arial" pitchFamily="34" charset="0"/>
                <a:ea typeface="Arial" pitchFamily="34" charset="-122"/>
                <a:cs typeface="Arial" pitchFamily="34" charset="-120"/>
              </a:rPr>
              <a:t>Fast daily interaction</a:t>
            </a:r>
            <a:endParaRPr lang="en-US" sz="1000" dirty="0"/>
          </a:p>
        </p:txBody>
      </p:sp>
      <p:sp>
        <p:nvSpPr>
          <p:cNvPr id="9" name="Text 7"/>
          <p:cNvSpPr/>
          <p:nvPr/>
        </p:nvSpPr>
        <p:spPr>
          <a:xfrm>
            <a:off x="2168652" y="2124968"/>
            <a:ext cx="310896" cy="371773"/>
          </a:xfrm>
          <a:prstGeom prst="rect">
            <a:avLst/>
          </a:prstGeom>
          <a:noFill/>
          <a:ln/>
        </p:spPr>
        <p:txBody>
          <a:bodyPr wrap="square" lIns="0" tIns="0" rIns="0" bIns="0" rtlCol="0" anchor="t"/>
          <a:lstStyle/>
          <a:p>
            <a:pPr algn="ctr" indent="0" marL="0">
              <a:lnSpc>
                <a:spcPts val="2928"/>
              </a:lnSpc>
              <a:buNone/>
            </a:pPr>
            <a:r>
              <a:rPr lang="en-US" sz="2400" dirty="0">
                <a:solidFill>
                  <a:srgbClr val="C8F23D"/>
                </a:solidFill>
                <a:latin typeface="Arial" pitchFamily="34" charset="0"/>
                <a:ea typeface="Arial" pitchFamily="34" charset="-122"/>
                <a:cs typeface="Arial" pitchFamily="34" charset="-120"/>
              </a:rPr>
              <a:t>→</a:t>
            </a:r>
            <a:endParaRPr lang="en-US" sz="2400" dirty="0"/>
          </a:p>
        </p:txBody>
      </p:sp>
      <p:sp>
        <p:nvSpPr>
          <p:cNvPr id="10" name="Text 8"/>
          <p:cNvSpPr/>
          <p:nvPr/>
        </p:nvSpPr>
        <p:spPr>
          <a:xfrm>
            <a:off x="2628900" y="1743670"/>
            <a:ext cx="1638300" cy="1134517"/>
          </a:xfrm>
          <a:prstGeom prst="roundRect">
            <a:avLst>
              <a:gd name="adj" fmla="val 15672"/>
            </a:avLst>
          </a:prstGeom>
          <a:solidFill>
            <a:srgbClr val="F6EA7B"/>
          </a:solidFill>
          <a:ln w="19050">
            <a:solidFill>
              <a:srgbClr val="30342E"/>
            </a:solidFill>
          </a:ln>
        </p:spPr>
        <p:txBody>
          <a:bodyPr wrap="square" rtlCol="0" anchor="ctr"/>
          <a:lstStyle/>
          <a:p>
            <a:pPr indent="0" marL="0">
              <a:buNone/>
            </a:pPr>
            <a:endParaRPr lang="en-US" dirty="0"/>
          </a:p>
        </p:txBody>
      </p:sp>
      <p:sp>
        <p:nvSpPr>
          <p:cNvPr id="11" name="Text 9"/>
          <p:cNvSpPr/>
          <p:nvPr/>
        </p:nvSpPr>
        <p:spPr>
          <a:xfrm>
            <a:off x="2851100" y="1965871"/>
            <a:ext cx="1217777" cy="131564"/>
          </a:xfrm>
          <a:prstGeom prst="rect">
            <a:avLst/>
          </a:prstGeom>
          <a:noFill/>
          <a:ln/>
        </p:spPr>
        <p:txBody>
          <a:bodyPr wrap="square" lIns="0" tIns="0" rIns="0" bIns="0" rtlCol="0" anchor="t"/>
          <a:lstStyle/>
          <a:p>
            <a:pPr algn="l" indent="0" marL="0">
              <a:lnSpc>
                <a:spcPts val="1037"/>
              </a:lnSpc>
              <a:spcAft>
                <a:spcPts val="800"/>
              </a:spcAft>
              <a:buNone/>
            </a:pPr>
            <a:r>
              <a:rPr lang="en-US" sz="850" b="1" dirty="0">
                <a:solidFill>
                  <a:srgbClr val="1B1D19"/>
                </a:solidFill>
                <a:latin typeface="Arial" pitchFamily="34" charset="0"/>
                <a:ea typeface="Arial" pitchFamily="34" charset="-122"/>
                <a:cs typeface="Arial" pitchFamily="34" charset="-120"/>
              </a:rPr>
              <a:t>API</a:t>
            </a:r>
            <a:endParaRPr lang="en-US" sz="850" dirty="0"/>
          </a:p>
        </p:txBody>
      </p:sp>
      <p:sp>
        <p:nvSpPr>
          <p:cNvPr id="12" name="Text 10"/>
          <p:cNvSpPr/>
          <p:nvPr/>
        </p:nvSpPr>
        <p:spPr>
          <a:xfrm>
            <a:off x="2851100" y="2198936"/>
            <a:ext cx="1217777" cy="209550"/>
          </a:xfrm>
          <a:prstGeom prst="rect">
            <a:avLst/>
          </a:prstGeom>
          <a:noFill/>
          <a:ln/>
        </p:spPr>
        <p:txBody>
          <a:bodyPr wrap="square" lIns="0" tIns="0" rIns="0" bIns="0" rtlCol="0" anchor="t"/>
          <a:lstStyle/>
          <a:p>
            <a:pPr algn="l" indent="0" marL="0">
              <a:lnSpc>
                <a:spcPts val="1650"/>
              </a:lnSpc>
              <a:buNone/>
            </a:pPr>
            <a:r>
              <a:rPr lang="en-US" sz="1500" b="1" dirty="0">
                <a:solidFill>
                  <a:srgbClr val="1B1D19"/>
                </a:solidFill>
                <a:latin typeface="Arial" pitchFamily="34" charset="0"/>
                <a:ea typeface="Arial" pitchFamily="34" charset="-122"/>
                <a:cs typeface="Arial" pitchFamily="34" charset="-120"/>
              </a:rPr>
              <a:t>Express</a:t>
            </a:r>
            <a:endParaRPr lang="en-US" sz="1500" dirty="0"/>
          </a:p>
        </p:txBody>
      </p:sp>
      <p:sp>
        <p:nvSpPr>
          <p:cNvPr id="13" name="Text 11"/>
          <p:cNvSpPr/>
          <p:nvPr/>
        </p:nvSpPr>
        <p:spPr>
          <a:xfrm>
            <a:off x="2851100" y="2497336"/>
            <a:ext cx="1217777" cy="158651"/>
          </a:xfrm>
          <a:prstGeom prst="rect">
            <a:avLst/>
          </a:prstGeom>
          <a:noFill/>
          <a:ln/>
        </p:spPr>
        <p:txBody>
          <a:bodyPr wrap="square" lIns="0" tIns="0" rIns="0" bIns="0" rtlCol="0" anchor="t"/>
          <a:lstStyle/>
          <a:p>
            <a:pPr algn="l" indent="0" marL="0">
              <a:lnSpc>
                <a:spcPts val="1250"/>
              </a:lnSpc>
              <a:spcBef>
                <a:spcPts val="700"/>
              </a:spcBef>
              <a:buNone/>
            </a:pPr>
            <a:r>
              <a:rPr lang="en-US" sz="1000" dirty="0">
                <a:solidFill>
                  <a:srgbClr val="1B1D19"/>
                </a:solidFill>
                <a:latin typeface="Arial" pitchFamily="34" charset="0"/>
                <a:ea typeface="Arial" pitchFamily="34" charset="-122"/>
                <a:cs typeface="Arial" pitchFamily="34" charset="-120"/>
              </a:rPr>
              <a:t>Validated contracts</a:t>
            </a:r>
            <a:endParaRPr lang="en-US" sz="1000" dirty="0"/>
          </a:p>
        </p:txBody>
      </p:sp>
      <p:sp>
        <p:nvSpPr>
          <p:cNvPr id="14" name="Text 12"/>
          <p:cNvSpPr/>
          <p:nvPr/>
        </p:nvSpPr>
        <p:spPr>
          <a:xfrm>
            <a:off x="4416552" y="2124968"/>
            <a:ext cx="310896" cy="371773"/>
          </a:xfrm>
          <a:prstGeom prst="rect">
            <a:avLst/>
          </a:prstGeom>
          <a:noFill/>
          <a:ln/>
        </p:spPr>
        <p:txBody>
          <a:bodyPr wrap="square" lIns="0" tIns="0" rIns="0" bIns="0" rtlCol="0" anchor="t"/>
          <a:lstStyle/>
          <a:p>
            <a:pPr algn="ctr" indent="0" marL="0">
              <a:lnSpc>
                <a:spcPts val="2928"/>
              </a:lnSpc>
              <a:buNone/>
            </a:pPr>
            <a:r>
              <a:rPr lang="en-US" sz="2400" dirty="0">
                <a:solidFill>
                  <a:srgbClr val="C8F23D"/>
                </a:solidFill>
                <a:latin typeface="Arial" pitchFamily="34" charset="0"/>
                <a:ea typeface="Arial" pitchFamily="34" charset="-122"/>
                <a:cs typeface="Arial" pitchFamily="34" charset="-120"/>
              </a:rPr>
              <a:t>→</a:t>
            </a:r>
            <a:endParaRPr lang="en-US" sz="2400" dirty="0"/>
          </a:p>
        </p:txBody>
      </p:sp>
      <p:sp>
        <p:nvSpPr>
          <p:cNvPr id="15" name="Text 13"/>
          <p:cNvSpPr/>
          <p:nvPr/>
        </p:nvSpPr>
        <p:spPr>
          <a:xfrm>
            <a:off x="4876800" y="1743670"/>
            <a:ext cx="1638300" cy="1134517"/>
          </a:xfrm>
          <a:prstGeom prst="roundRect">
            <a:avLst>
              <a:gd name="adj" fmla="val 15672"/>
            </a:avLst>
          </a:prstGeom>
          <a:solidFill>
            <a:srgbClr val="B9D7F2"/>
          </a:solidFill>
          <a:ln w="19050">
            <a:solidFill>
              <a:srgbClr val="30342E"/>
            </a:solidFill>
          </a:ln>
        </p:spPr>
        <p:txBody>
          <a:bodyPr wrap="square" rtlCol="0" anchor="ctr"/>
          <a:lstStyle/>
          <a:p>
            <a:pPr indent="0" marL="0">
              <a:buNone/>
            </a:pPr>
            <a:endParaRPr lang="en-US" dirty="0"/>
          </a:p>
        </p:txBody>
      </p:sp>
      <p:sp>
        <p:nvSpPr>
          <p:cNvPr id="16" name="Text 14"/>
          <p:cNvSpPr/>
          <p:nvPr/>
        </p:nvSpPr>
        <p:spPr>
          <a:xfrm>
            <a:off x="5099000" y="1965871"/>
            <a:ext cx="1217777" cy="131564"/>
          </a:xfrm>
          <a:prstGeom prst="rect">
            <a:avLst/>
          </a:prstGeom>
          <a:noFill/>
          <a:ln/>
        </p:spPr>
        <p:txBody>
          <a:bodyPr wrap="square" lIns="0" tIns="0" rIns="0" bIns="0" rtlCol="0" anchor="t"/>
          <a:lstStyle/>
          <a:p>
            <a:pPr algn="l" indent="0" marL="0">
              <a:lnSpc>
                <a:spcPts val="1037"/>
              </a:lnSpc>
              <a:spcAft>
                <a:spcPts val="800"/>
              </a:spcAft>
              <a:buNone/>
            </a:pPr>
            <a:r>
              <a:rPr lang="en-US" sz="850" b="1" dirty="0">
                <a:solidFill>
                  <a:srgbClr val="1B1D19"/>
                </a:solidFill>
                <a:latin typeface="Arial" pitchFamily="34" charset="0"/>
                <a:ea typeface="Arial" pitchFamily="34" charset="-122"/>
                <a:cs typeface="Arial" pitchFamily="34" charset="-120"/>
              </a:rPr>
              <a:t>DATA</a:t>
            </a:r>
            <a:endParaRPr lang="en-US" sz="850" dirty="0"/>
          </a:p>
        </p:txBody>
      </p:sp>
      <p:sp>
        <p:nvSpPr>
          <p:cNvPr id="17" name="Text 15"/>
          <p:cNvSpPr/>
          <p:nvPr/>
        </p:nvSpPr>
        <p:spPr>
          <a:xfrm>
            <a:off x="5099000" y="2198936"/>
            <a:ext cx="1217777" cy="209550"/>
          </a:xfrm>
          <a:prstGeom prst="rect">
            <a:avLst/>
          </a:prstGeom>
          <a:noFill/>
          <a:ln/>
        </p:spPr>
        <p:txBody>
          <a:bodyPr wrap="square" lIns="0" tIns="0" rIns="0" bIns="0" rtlCol="0" anchor="t"/>
          <a:lstStyle/>
          <a:p>
            <a:pPr algn="l" indent="0" marL="0">
              <a:lnSpc>
                <a:spcPts val="1650"/>
              </a:lnSpc>
              <a:buNone/>
            </a:pPr>
            <a:r>
              <a:rPr lang="en-US" sz="1500" b="1" dirty="0">
                <a:solidFill>
                  <a:srgbClr val="1B1D19"/>
                </a:solidFill>
                <a:latin typeface="Arial" pitchFamily="34" charset="0"/>
                <a:ea typeface="Arial" pitchFamily="34" charset="-122"/>
                <a:cs typeface="Arial" pitchFamily="34" charset="-120"/>
              </a:rPr>
              <a:t>Supabase</a:t>
            </a:r>
            <a:endParaRPr lang="en-US" sz="1500" dirty="0"/>
          </a:p>
        </p:txBody>
      </p:sp>
      <p:sp>
        <p:nvSpPr>
          <p:cNvPr id="18" name="Text 16"/>
          <p:cNvSpPr/>
          <p:nvPr/>
        </p:nvSpPr>
        <p:spPr>
          <a:xfrm>
            <a:off x="5099000" y="2497336"/>
            <a:ext cx="1217777" cy="158651"/>
          </a:xfrm>
          <a:prstGeom prst="rect">
            <a:avLst/>
          </a:prstGeom>
          <a:noFill/>
          <a:ln/>
        </p:spPr>
        <p:txBody>
          <a:bodyPr wrap="square" lIns="0" tIns="0" rIns="0" bIns="0" rtlCol="0" anchor="t"/>
          <a:lstStyle/>
          <a:p>
            <a:pPr algn="l" indent="0" marL="0">
              <a:lnSpc>
                <a:spcPts val="1250"/>
              </a:lnSpc>
              <a:spcBef>
                <a:spcPts val="700"/>
              </a:spcBef>
              <a:buNone/>
            </a:pPr>
            <a:r>
              <a:rPr lang="en-US" sz="1000" dirty="0">
                <a:solidFill>
                  <a:srgbClr val="1B1D19"/>
                </a:solidFill>
                <a:latin typeface="Arial" pitchFamily="34" charset="0"/>
                <a:ea typeface="Arial" pitchFamily="34" charset="-122"/>
                <a:cs typeface="Arial" pitchFamily="34" charset="-120"/>
              </a:rPr>
              <a:t>Longitudinal patterns</a:t>
            </a:r>
            <a:endParaRPr lang="en-US" sz="1000" dirty="0"/>
          </a:p>
        </p:txBody>
      </p:sp>
      <p:sp>
        <p:nvSpPr>
          <p:cNvPr id="19" name="Text 17"/>
          <p:cNvSpPr/>
          <p:nvPr/>
        </p:nvSpPr>
        <p:spPr>
          <a:xfrm>
            <a:off x="6664452" y="2124968"/>
            <a:ext cx="310896" cy="371773"/>
          </a:xfrm>
          <a:prstGeom prst="rect">
            <a:avLst/>
          </a:prstGeom>
          <a:noFill/>
          <a:ln/>
        </p:spPr>
        <p:txBody>
          <a:bodyPr wrap="square" lIns="0" tIns="0" rIns="0" bIns="0" rtlCol="0" anchor="t"/>
          <a:lstStyle/>
          <a:p>
            <a:pPr algn="ctr" indent="0" marL="0">
              <a:lnSpc>
                <a:spcPts val="2928"/>
              </a:lnSpc>
              <a:buNone/>
            </a:pPr>
            <a:r>
              <a:rPr lang="en-US" sz="2400" dirty="0">
                <a:solidFill>
                  <a:srgbClr val="C8F23D"/>
                </a:solidFill>
                <a:latin typeface="Arial" pitchFamily="34" charset="0"/>
                <a:ea typeface="Arial" pitchFamily="34" charset="-122"/>
                <a:cs typeface="Arial" pitchFamily="34" charset="-120"/>
              </a:rPr>
              <a:t>→</a:t>
            </a:r>
            <a:endParaRPr lang="en-US" sz="2400" dirty="0"/>
          </a:p>
        </p:txBody>
      </p:sp>
      <p:sp>
        <p:nvSpPr>
          <p:cNvPr id="20" name="Text 18"/>
          <p:cNvSpPr/>
          <p:nvPr/>
        </p:nvSpPr>
        <p:spPr>
          <a:xfrm>
            <a:off x="7124700" y="1743670"/>
            <a:ext cx="1638300" cy="1134517"/>
          </a:xfrm>
          <a:prstGeom prst="roundRect">
            <a:avLst>
              <a:gd name="adj" fmla="val 15672"/>
            </a:avLst>
          </a:prstGeom>
          <a:solidFill>
            <a:srgbClr val="F49C86"/>
          </a:solidFill>
          <a:ln w="19050">
            <a:solidFill>
              <a:srgbClr val="30342E"/>
            </a:solidFill>
          </a:ln>
        </p:spPr>
        <p:txBody>
          <a:bodyPr wrap="square" rtlCol="0" anchor="ctr"/>
          <a:lstStyle/>
          <a:p>
            <a:pPr indent="0" marL="0">
              <a:buNone/>
            </a:pPr>
            <a:endParaRPr lang="en-US" dirty="0"/>
          </a:p>
        </p:txBody>
      </p:sp>
      <p:sp>
        <p:nvSpPr>
          <p:cNvPr id="21" name="Text 19"/>
          <p:cNvSpPr/>
          <p:nvPr/>
        </p:nvSpPr>
        <p:spPr>
          <a:xfrm>
            <a:off x="7346900" y="1965871"/>
            <a:ext cx="1217777" cy="131564"/>
          </a:xfrm>
          <a:prstGeom prst="rect">
            <a:avLst/>
          </a:prstGeom>
          <a:noFill/>
          <a:ln/>
        </p:spPr>
        <p:txBody>
          <a:bodyPr wrap="square" lIns="0" tIns="0" rIns="0" bIns="0" rtlCol="0" anchor="t"/>
          <a:lstStyle/>
          <a:p>
            <a:pPr algn="l" indent="0" marL="0">
              <a:lnSpc>
                <a:spcPts val="1037"/>
              </a:lnSpc>
              <a:spcAft>
                <a:spcPts val="800"/>
              </a:spcAft>
              <a:buNone/>
            </a:pPr>
            <a:r>
              <a:rPr lang="en-US" sz="850" b="1" dirty="0">
                <a:solidFill>
                  <a:srgbClr val="1B1D19"/>
                </a:solidFill>
                <a:latin typeface="Arial" pitchFamily="34" charset="0"/>
                <a:ea typeface="Arial" pitchFamily="34" charset="-122"/>
                <a:cs typeface="Arial" pitchFamily="34" charset="-120"/>
              </a:rPr>
              <a:t>GUIDANCE</a:t>
            </a:r>
            <a:endParaRPr lang="en-US" sz="850" dirty="0"/>
          </a:p>
        </p:txBody>
      </p:sp>
      <p:sp>
        <p:nvSpPr>
          <p:cNvPr id="22" name="Text 20"/>
          <p:cNvSpPr/>
          <p:nvPr/>
        </p:nvSpPr>
        <p:spPr>
          <a:xfrm>
            <a:off x="7346900" y="2198936"/>
            <a:ext cx="1217777" cy="209550"/>
          </a:xfrm>
          <a:prstGeom prst="rect">
            <a:avLst/>
          </a:prstGeom>
          <a:noFill/>
          <a:ln/>
        </p:spPr>
        <p:txBody>
          <a:bodyPr wrap="square" lIns="0" tIns="0" rIns="0" bIns="0" rtlCol="0" anchor="t"/>
          <a:lstStyle/>
          <a:p>
            <a:pPr algn="l" indent="0" marL="0">
              <a:lnSpc>
                <a:spcPts val="1650"/>
              </a:lnSpc>
              <a:buNone/>
            </a:pPr>
            <a:r>
              <a:rPr lang="en-US" sz="1500" b="1" dirty="0">
                <a:solidFill>
                  <a:srgbClr val="1B1D19"/>
                </a:solidFill>
                <a:latin typeface="Arial" pitchFamily="34" charset="0"/>
                <a:ea typeface="Arial" pitchFamily="34" charset="-122"/>
                <a:cs typeface="Arial" pitchFamily="34" charset="-120"/>
              </a:rPr>
              <a:t>Validated AI</a:t>
            </a:r>
            <a:endParaRPr lang="en-US" sz="1500" dirty="0"/>
          </a:p>
        </p:txBody>
      </p:sp>
      <p:sp>
        <p:nvSpPr>
          <p:cNvPr id="23" name="Text 21"/>
          <p:cNvSpPr/>
          <p:nvPr/>
        </p:nvSpPr>
        <p:spPr>
          <a:xfrm>
            <a:off x="7346900" y="2497336"/>
            <a:ext cx="1217777" cy="158651"/>
          </a:xfrm>
          <a:prstGeom prst="rect">
            <a:avLst/>
          </a:prstGeom>
          <a:noFill/>
          <a:ln/>
        </p:spPr>
        <p:txBody>
          <a:bodyPr wrap="square" lIns="0" tIns="0" rIns="0" bIns="0" rtlCol="0" anchor="t"/>
          <a:lstStyle/>
          <a:p>
            <a:pPr algn="l" indent="0" marL="0">
              <a:lnSpc>
                <a:spcPts val="1250"/>
              </a:lnSpc>
              <a:spcBef>
                <a:spcPts val="700"/>
              </a:spcBef>
              <a:buNone/>
            </a:pPr>
            <a:r>
              <a:rPr lang="en-US" sz="1000" dirty="0">
                <a:solidFill>
                  <a:srgbClr val="1B1D19"/>
                </a:solidFill>
                <a:latin typeface="Arial" pitchFamily="34" charset="0"/>
                <a:ea typeface="Arial" pitchFamily="34" charset="-122"/>
                <a:cs typeface="Arial" pitchFamily="34" charset="-120"/>
              </a:rPr>
              <a:t>Explains, not scores</a:t>
            </a:r>
            <a:endParaRPr lang="en-US" sz="1000" dirty="0"/>
          </a:p>
        </p:txBody>
      </p:sp>
      <p:sp>
        <p:nvSpPr>
          <p:cNvPr id="24" name="Text 22"/>
          <p:cNvSpPr/>
          <p:nvPr/>
        </p:nvSpPr>
        <p:spPr>
          <a:xfrm>
            <a:off x="381000" y="3106787"/>
            <a:ext cx="1632049" cy="285155"/>
          </a:xfrm>
          <a:prstGeom prst="roundRect">
            <a:avLst>
              <a:gd name="adj" fmla="val 4449264"/>
            </a:avLst>
          </a:prstGeom>
          <a:solidFill>
            <a:srgbClr val="C8F23D"/>
          </a:solidFill>
          <a:ln w="9525">
            <a:solidFill>
              <a:srgbClr val="1B1D19"/>
            </a:solidFill>
          </a:ln>
        </p:spPr>
        <p:txBody>
          <a:bodyPr wrap="square" rtlCol="0" anchor="ctr"/>
          <a:lstStyle/>
          <a:p>
            <a:pPr indent="0" marL="0">
              <a:buNone/>
            </a:pPr>
            <a:endParaRPr lang="en-US" dirty="0"/>
          </a:p>
        </p:txBody>
      </p:sp>
      <p:sp>
        <p:nvSpPr>
          <p:cNvPr id="25" name="Text 23"/>
          <p:cNvSpPr/>
          <p:nvPr/>
        </p:nvSpPr>
        <p:spPr>
          <a:xfrm>
            <a:off x="517475" y="3179713"/>
            <a:ext cx="1386280" cy="139303"/>
          </a:xfrm>
          <a:prstGeom prst="rect">
            <a:avLst/>
          </a:prstGeom>
          <a:noFill/>
          <a:ln/>
        </p:spPr>
        <p:txBody>
          <a:bodyPr wrap="square" lIns="0" tIns="0" rIns="0" bIns="0" rtlCol="0" anchor="t"/>
          <a:lstStyle/>
          <a:p>
            <a:pPr algn="l" indent="0" marL="0">
              <a:lnSpc>
                <a:spcPts val="1098"/>
              </a:lnSpc>
              <a:buNone/>
            </a:pPr>
            <a:r>
              <a:rPr lang="en-US" sz="900" b="1" dirty="0">
                <a:solidFill>
                  <a:srgbClr val="1B1D19"/>
                </a:solidFill>
                <a:latin typeface="Arial" pitchFamily="34" charset="0"/>
                <a:ea typeface="Arial" pitchFamily="34" charset="-122"/>
                <a:cs typeface="Arial" pitchFamily="34" charset="-120"/>
              </a:rPr>
              <a:t>DETERMINISTIC ENGINE</a:t>
            </a:r>
            <a:endParaRPr lang="en-US" sz="900" dirty="0"/>
          </a:p>
        </p:txBody>
      </p:sp>
      <p:sp>
        <p:nvSpPr>
          <p:cNvPr id="26" name="Text 24"/>
          <p:cNvSpPr/>
          <p:nvPr/>
        </p:nvSpPr>
        <p:spPr>
          <a:xfrm>
            <a:off x="2165449" y="3106787"/>
            <a:ext cx="1945035" cy="285155"/>
          </a:xfrm>
          <a:prstGeom prst="roundRect">
            <a:avLst>
              <a:gd name="adj" fmla="val 4449264"/>
            </a:avLst>
          </a:prstGeom>
          <a:solidFill>
            <a:srgbClr val="FFFFFF"/>
          </a:solidFill>
          <a:ln w="9525">
            <a:solidFill>
              <a:srgbClr val="1B1D19"/>
            </a:solidFill>
          </a:ln>
        </p:spPr>
        <p:txBody>
          <a:bodyPr wrap="square" rtlCol="0" anchor="ctr"/>
          <a:lstStyle/>
          <a:p>
            <a:pPr indent="0" marL="0">
              <a:buNone/>
            </a:pPr>
            <a:endParaRPr lang="en-US" dirty="0"/>
          </a:p>
        </p:txBody>
      </p:sp>
      <p:sp>
        <p:nvSpPr>
          <p:cNvPr id="27" name="Text 25"/>
          <p:cNvSpPr/>
          <p:nvPr/>
        </p:nvSpPr>
        <p:spPr>
          <a:xfrm>
            <a:off x="2301925" y="3179713"/>
            <a:ext cx="1705526" cy="139303"/>
          </a:xfrm>
          <a:prstGeom prst="rect">
            <a:avLst/>
          </a:prstGeom>
          <a:noFill/>
          <a:ln/>
        </p:spPr>
        <p:txBody>
          <a:bodyPr wrap="square" lIns="0" tIns="0" rIns="0" bIns="0" rtlCol="0" anchor="t"/>
          <a:lstStyle/>
          <a:p>
            <a:pPr algn="l" indent="0" marL="0">
              <a:lnSpc>
                <a:spcPts val="1098"/>
              </a:lnSpc>
              <a:buNone/>
            </a:pPr>
            <a:r>
              <a:rPr lang="en-US" sz="900" b="1" dirty="0">
                <a:solidFill>
                  <a:srgbClr val="1B1D19"/>
                </a:solidFill>
                <a:latin typeface="Arial" pitchFamily="34" charset="0"/>
                <a:ea typeface="Arial" pitchFamily="34" charset="-122"/>
                <a:cs typeface="Arial" pitchFamily="34" charset="-120"/>
              </a:rPr>
              <a:t>SCHEMA-VALIDATED OUTPUT</a:t>
            </a:r>
            <a:endParaRPr lang="en-US" sz="900" dirty="0"/>
          </a:p>
        </p:txBody>
      </p:sp>
      <p:sp>
        <p:nvSpPr>
          <p:cNvPr id="28" name="Text 26"/>
          <p:cNvSpPr/>
          <p:nvPr/>
        </p:nvSpPr>
        <p:spPr>
          <a:xfrm>
            <a:off x="4262884" y="3106787"/>
            <a:ext cx="1627733" cy="285155"/>
          </a:xfrm>
          <a:prstGeom prst="roundRect">
            <a:avLst>
              <a:gd name="adj" fmla="val 4449264"/>
            </a:avLst>
          </a:prstGeom>
          <a:solidFill>
            <a:srgbClr val="72B56E"/>
          </a:solidFill>
          <a:ln w="9525">
            <a:solidFill>
              <a:srgbClr val="1B1D19"/>
            </a:solidFill>
          </a:ln>
        </p:spPr>
        <p:txBody>
          <a:bodyPr wrap="square" rtlCol="0" anchor="ctr"/>
          <a:lstStyle/>
          <a:p>
            <a:pPr indent="0" marL="0">
              <a:buNone/>
            </a:pPr>
            <a:endParaRPr lang="en-US" dirty="0"/>
          </a:p>
        </p:txBody>
      </p:sp>
      <p:sp>
        <p:nvSpPr>
          <p:cNvPr id="29" name="Text 27"/>
          <p:cNvSpPr/>
          <p:nvPr/>
        </p:nvSpPr>
        <p:spPr>
          <a:xfrm>
            <a:off x="4399359" y="3179713"/>
            <a:ext cx="1381878" cy="139303"/>
          </a:xfrm>
          <a:prstGeom prst="rect">
            <a:avLst/>
          </a:prstGeom>
          <a:noFill/>
          <a:ln/>
        </p:spPr>
        <p:txBody>
          <a:bodyPr wrap="square" lIns="0" tIns="0" rIns="0" bIns="0" rtlCol="0" anchor="t"/>
          <a:lstStyle/>
          <a:p>
            <a:pPr algn="l" indent="0" marL="0">
              <a:lnSpc>
                <a:spcPts val="1098"/>
              </a:lnSpc>
              <a:buNone/>
            </a:pPr>
            <a:r>
              <a:rPr lang="en-US" sz="900" b="1" dirty="0">
                <a:solidFill>
                  <a:srgbClr val="1B1D19"/>
                </a:solidFill>
                <a:latin typeface="Arial" pitchFamily="34" charset="0"/>
                <a:ea typeface="Arial" pitchFamily="34" charset="-122"/>
                <a:cs typeface="Arial" pitchFamily="34" charset="-120"/>
              </a:rPr>
              <a:t>NOT A MEDICAL DEVICE</a:t>
            </a:r>
            <a:endParaRPr lang="en-US" sz="900" dirty="0"/>
          </a:p>
        </p:txBody>
      </p:sp>
      <p:sp>
        <p:nvSpPr>
          <p:cNvPr id="30" name="Text 28"/>
          <p:cNvSpPr/>
          <p:nvPr/>
        </p:nvSpPr>
        <p:spPr>
          <a:xfrm>
            <a:off x="381000" y="3607743"/>
            <a:ext cx="8382000" cy="501551"/>
          </a:xfrm>
          <a:prstGeom prst="roundRect">
            <a:avLst>
              <a:gd name="adj" fmla="val 35450"/>
            </a:avLst>
          </a:prstGeom>
          <a:solidFill>
            <a:srgbClr val="30342E"/>
          </a:solidFill>
          <a:ln w="19050">
            <a:solidFill>
              <a:srgbClr val="596057"/>
            </a:solidFill>
          </a:ln>
        </p:spPr>
        <p:txBody>
          <a:bodyPr wrap="square" rtlCol="0" anchor="ctr"/>
          <a:lstStyle/>
          <a:p>
            <a:pPr indent="0" marL="0">
              <a:buNone/>
            </a:pPr>
            <a:endParaRPr lang="en-US" dirty="0"/>
          </a:p>
        </p:txBody>
      </p:sp>
      <p:sp>
        <p:nvSpPr>
          <p:cNvPr id="31" name="Text 29"/>
          <p:cNvSpPr/>
          <p:nvPr/>
        </p:nvSpPr>
        <p:spPr>
          <a:xfrm>
            <a:off x="590550" y="3779193"/>
            <a:ext cx="8122158" cy="158651"/>
          </a:xfrm>
          <a:prstGeom prst="rect">
            <a:avLst/>
          </a:prstGeom>
          <a:noFill/>
          <a:ln/>
        </p:spPr>
        <p:txBody>
          <a:bodyPr wrap="square" lIns="0" tIns="0" rIns="0" bIns="0" rtlCol="0" anchor="t"/>
          <a:lstStyle/>
          <a:p>
            <a:pPr algn="l" indent="0" marL="0">
              <a:lnSpc>
                <a:spcPts val="1250"/>
              </a:lnSpc>
              <a:buNone/>
            </a:pPr>
            <a:r>
              <a:rPr lang="en-US" sz="1000" b="1" dirty="0">
                <a:solidFill>
                  <a:srgbClr val="F5F2E8"/>
                </a:solidFill>
                <a:latin typeface="Arial" pitchFamily="34" charset="0"/>
                <a:ea typeface="Arial" pitchFamily="34" charset="-122"/>
                <a:cs typeface="Arial" pitchFamily="34" charset="-120"/>
              </a:rPr>
              <a:t>Core challenge:</a:t>
            </a:r>
            <a:pPr algn="l" indent="0" marL="0">
              <a:lnSpc>
                <a:spcPts val="1250"/>
              </a:lnSpc>
              <a:buNone/>
            </a:pPr>
            <a:r>
              <a:rPr lang="en-US" sz="1000" dirty="0">
                <a:solidFill>
                  <a:srgbClr val="F5F2E8"/>
                </a:solidFill>
                <a:latin typeface="Arial" pitchFamily="34" charset="0"/>
                <a:ea typeface="Arial" pitchFamily="34" charset="-122"/>
                <a:cs typeface="Arial" pitchFamily="34" charset="-120"/>
              </a:rPr>
              <a:t> turning noisy lifestyle signals into useful guidance without overstating certainty.</a:t>
            </a:r>
            <a:endParaRPr lang="en-US" sz="1000" dirty="0"/>
          </a:p>
        </p:txBody>
      </p:sp>
      <p:sp>
        <p:nvSpPr>
          <p:cNvPr id="32" name="Text 30"/>
          <p:cNvSpPr/>
          <p:nvPr/>
        </p:nvSpPr>
        <p:spPr>
          <a:xfrm>
            <a:off x="381000" y="4925913"/>
            <a:ext cx="2278740" cy="116086"/>
          </a:xfrm>
          <a:prstGeom prst="rect">
            <a:avLst/>
          </a:prstGeom>
          <a:noFill/>
          <a:ln/>
        </p:spPr>
        <p:txBody>
          <a:bodyPr wrap="square" lIns="0" tIns="0" rIns="0" bIns="0" rtlCol="0" anchor="t"/>
          <a:lstStyle/>
          <a:p>
            <a:pPr algn="l" indent="0" marL="0">
              <a:lnSpc>
                <a:spcPts val="915"/>
              </a:lnSpc>
              <a:buNone/>
            </a:pPr>
            <a:r>
              <a:rPr lang="en-US" sz="750" b="1" dirty="0">
                <a:solidFill>
                  <a:srgbClr val="AEB5AA"/>
                </a:solidFill>
                <a:latin typeface="Arial" pitchFamily="34" charset="0"/>
                <a:ea typeface="Arial" pitchFamily="34" charset="-122"/>
                <a:cs typeface="Arial" pitchFamily="34" charset="-120"/>
              </a:rPr>
              <a:t>AKESO · ICON × LYRA HACKATHON 2026</a:t>
            </a:r>
            <a:endParaRPr lang="en-US" sz="750" dirty="0"/>
          </a:p>
        </p:txBody>
      </p:sp>
      <p:sp>
        <p:nvSpPr>
          <p:cNvPr id="33" name="Text 31"/>
          <p:cNvSpPr/>
          <p:nvPr/>
        </p:nvSpPr>
        <p:spPr>
          <a:xfrm>
            <a:off x="8636645" y="4925913"/>
            <a:ext cx="128882" cy="116086"/>
          </a:xfrm>
          <a:prstGeom prst="rect">
            <a:avLst/>
          </a:prstGeom>
          <a:noFill/>
          <a:ln/>
        </p:spPr>
        <p:txBody>
          <a:bodyPr wrap="square" lIns="0" tIns="0" rIns="0" bIns="0" rtlCol="0" anchor="t"/>
          <a:lstStyle/>
          <a:p>
            <a:pPr algn="l" indent="0" marL="0">
              <a:lnSpc>
                <a:spcPts val="915"/>
              </a:lnSpc>
              <a:buNone/>
            </a:pPr>
            <a:r>
              <a:rPr lang="en-US" sz="750" b="1" dirty="0">
                <a:solidFill>
                  <a:srgbClr val="AEB5AA"/>
                </a:solidFill>
                <a:latin typeface="Arial" pitchFamily="34" charset="0"/>
                <a:ea typeface="Arial" pitchFamily="34" charset="-122"/>
                <a:cs typeface="Arial" pitchFamily="34" charset="-120"/>
              </a:rPr>
              <a:t>07</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2E8"/>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72B56E"/>
          </a:solidFill>
          <a:ln/>
        </p:spPr>
        <p:txBody>
          <a:bodyPr wrap="square" rtlCol="0" anchor="ctr"/>
          <a:lstStyle/>
          <a:p>
            <a:pPr indent="0" marL="0">
              <a:buNone/>
            </a:pPr>
            <a:endParaRPr lang="en-US" dirty="0"/>
          </a:p>
        </p:txBody>
      </p:sp>
      <p:sp>
        <p:nvSpPr>
          <p:cNvPr id="3" name="Text 1"/>
          <p:cNvSpPr/>
          <p:nvPr/>
        </p:nvSpPr>
        <p:spPr>
          <a:xfrm>
            <a:off x="381000" y="330101"/>
            <a:ext cx="8549640" cy="131564"/>
          </a:xfrm>
          <a:prstGeom prst="rect">
            <a:avLst/>
          </a:prstGeom>
          <a:noFill/>
          <a:ln/>
        </p:spPr>
        <p:txBody>
          <a:bodyPr wrap="square" lIns="0" tIns="0" rIns="0" bIns="0" rtlCol="0" anchor="t"/>
          <a:lstStyle/>
          <a:p>
            <a:pPr algn="l" indent="0" marL="0">
              <a:lnSpc>
                <a:spcPts val="1037"/>
              </a:lnSpc>
              <a:spcAft>
                <a:spcPts val="800"/>
              </a:spcAft>
              <a:buNone/>
            </a:pPr>
            <a:r>
              <a:rPr lang="en-US" sz="850" b="1" dirty="0">
                <a:solidFill>
                  <a:srgbClr val="667066"/>
                </a:solidFill>
                <a:latin typeface="Arial" pitchFamily="34" charset="0"/>
                <a:ea typeface="Arial" pitchFamily="34" charset="-122"/>
                <a:cs typeface="Arial" pitchFamily="34" charset="-120"/>
              </a:rPr>
              <a:t>07 · WHAT’S NEXT</a:t>
            </a:r>
            <a:endParaRPr lang="en-US" sz="850" dirty="0"/>
          </a:p>
        </p:txBody>
      </p:sp>
      <p:sp>
        <p:nvSpPr>
          <p:cNvPr id="4" name="Text 2"/>
          <p:cNvSpPr/>
          <p:nvPr/>
        </p:nvSpPr>
        <p:spPr>
          <a:xfrm>
            <a:off x="381000" y="801439"/>
            <a:ext cx="5682505" cy="1755577"/>
          </a:xfrm>
          <a:prstGeom prst="rect">
            <a:avLst/>
          </a:prstGeom>
          <a:noFill/>
          <a:ln/>
        </p:spPr>
        <p:txBody>
          <a:bodyPr wrap="square" lIns="0" tIns="0" rIns="0" bIns="0" rtlCol="0" anchor="t"/>
          <a:lstStyle/>
          <a:p>
            <a:pPr algn="l" indent="0" marL="0">
              <a:lnSpc>
                <a:spcPts val="4608"/>
              </a:lnSpc>
              <a:buNone/>
            </a:pPr>
            <a:r>
              <a:rPr lang="en-US" sz="4800" dirty="0">
                <a:solidFill>
                  <a:srgbClr val="1B1D19"/>
                </a:solidFill>
                <a:latin typeface="Impact" pitchFamily="34" charset="0"/>
                <a:ea typeface="Impact" pitchFamily="34" charset="-122"/>
                <a:cs typeface="Impact" pitchFamily="34" charset="-120"/>
              </a:rPr>
              <a:t>UNDERSTAND</a:t>
            </a:r>
            <a:endParaRPr lang="en-US" sz="4800" dirty="0"/>
          </a:p>
          <a:p>
            <a:pPr algn="l" indent="0" marL="0">
              <a:lnSpc>
                <a:spcPts val="4608"/>
              </a:lnSpc>
              <a:buNone/>
            </a:pPr>
            <a:r>
              <a:rPr lang="en-US" sz="4800" dirty="0">
                <a:solidFill>
                  <a:srgbClr val="1B1D19"/>
                </a:solidFill>
                <a:latin typeface="Impact" pitchFamily="34" charset="0"/>
                <a:ea typeface="Impact" pitchFamily="34" charset="-122"/>
                <a:cs typeface="Impact" pitchFamily="34" charset="-120"/>
              </a:rPr>
              <a:t>YOUR ENERGY.</a:t>
            </a:r>
            <a:endParaRPr lang="en-US" sz="4800" dirty="0"/>
          </a:p>
          <a:p>
            <a:pPr algn="l" indent="0" marL="0">
              <a:lnSpc>
                <a:spcPts val="4608"/>
              </a:lnSpc>
              <a:buNone/>
            </a:pPr>
            <a:r>
              <a:rPr lang="en-US" sz="4800" dirty="0">
                <a:solidFill>
                  <a:srgbClr val="1B1D19"/>
                </a:solidFill>
                <a:latin typeface="Impact" pitchFamily="34" charset="0"/>
                <a:ea typeface="Impact" pitchFamily="34" charset="-122"/>
                <a:cs typeface="Impact" pitchFamily="34" charset="-120"/>
              </a:rPr>
              <a:t>FEED IT BETTER.</a:t>
            </a:r>
            <a:endParaRPr lang="en-US" sz="4800" dirty="0"/>
          </a:p>
        </p:txBody>
      </p:sp>
      <p:sp>
        <p:nvSpPr>
          <p:cNvPr id="5" name="Text 3"/>
          <p:cNvSpPr/>
          <p:nvPr/>
        </p:nvSpPr>
        <p:spPr>
          <a:xfrm>
            <a:off x="381000" y="2785616"/>
            <a:ext cx="5311039" cy="464641"/>
          </a:xfrm>
          <a:prstGeom prst="rect">
            <a:avLst/>
          </a:prstGeom>
          <a:noFill/>
          <a:ln/>
        </p:spPr>
        <p:txBody>
          <a:bodyPr wrap="square" lIns="0" tIns="0" rIns="0" bIns="0" rtlCol="0" anchor="t"/>
          <a:lstStyle/>
          <a:p>
            <a:pPr algn="l" indent="0" marL="0">
              <a:lnSpc>
                <a:spcPts val="1830"/>
              </a:lnSpc>
              <a:spcBef>
                <a:spcPts val="1800"/>
              </a:spcBef>
              <a:buNone/>
            </a:pPr>
            <a:r>
              <a:rPr lang="en-US" sz="1500" b="1" dirty="0">
                <a:solidFill>
                  <a:srgbClr val="1B1D19"/>
                </a:solidFill>
                <a:latin typeface="Arial" pitchFamily="34" charset="0"/>
                <a:ea typeface="Arial" pitchFamily="34" charset="-122"/>
                <a:cs typeface="Arial" pitchFamily="34" charset="-120"/>
              </a:rPr>
              <a:t>A more accessible path to personalised energy and nutrition guidance.</a:t>
            </a:r>
            <a:endParaRPr lang="en-US" sz="1500" dirty="0"/>
          </a:p>
        </p:txBody>
      </p:sp>
      <p:sp>
        <p:nvSpPr>
          <p:cNvPr id="6" name="Text 4"/>
          <p:cNvSpPr/>
          <p:nvPr/>
        </p:nvSpPr>
        <p:spPr>
          <a:xfrm>
            <a:off x="381000" y="3504158"/>
            <a:ext cx="1663601" cy="285155"/>
          </a:xfrm>
          <a:prstGeom prst="roundRect">
            <a:avLst>
              <a:gd name="adj" fmla="val 4449264"/>
            </a:avLst>
          </a:prstGeom>
          <a:solidFill>
            <a:srgbClr val="F49C86"/>
          </a:solidFill>
          <a:ln w="9525">
            <a:solidFill>
              <a:srgbClr val="1B1D19"/>
            </a:solidFill>
          </a:ln>
        </p:spPr>
        <p:txBody>
          <a:bodyPr wrap="square" rtlCol="0" anchor="ctr"/>
          <a:lstStyle/>
          <a:p>
            <a:pPr indent="0" marL="0">
              <a:buNone/>
            </a:pPr>
            <a:endParaRPr lang="en-US" dirty="0"/>
          </a:p>
        </p:txBody>
      </p:sp>
      <p:sp>
        <p:nvSpPr>
          <p:cNvPr id="7" name="Text 5"/>
          <p:cNvSpPr/>
          <p:nvPr/>
        </p:nvSpPr>
        <p:spPr>
          <a:xfrm>
            <a:off x="517475" y="3577084"/>
            <a:ext cx="1418463" cy="139303"/>
          </a:xfrm>
          <a:prstGeom prst="rect">
            <a:avLst/>
          </a:prstGeom>
          <a:noFill/>
          <a:ln/>
        </p:spPr>
        <p:txBody>
          <a:bodyPr wrap="square" lIns="0" tIns="0" rIns="0" bIns="0" rtlCol="0" anchor="t"/>
          <a:lstStyle/>
          <a:p>
            <a:pPr algn="l" indent="0" marL="0">
              <a:lnSpc>
                <a:spcPts val="1098"/>
              </a:lnSpc>
              <a:buNone/>
            </a:pPr>
            <a:r>
              <a:rPr lang="en-US" sz="900" b="1" dirty="0">
                <a:solidFill>
                  <a:srgbClr val="1B1D19"/>
                </a:solidFill>
                <a:latin typeface="Arial" pitchFamily="34" charset="0"/>
                <a:ea typeface="Arial" pitchFamily="34" charset="-122"/>
                <a:cs typeface="Arial" pitchFamily="34" charset="-120"/>
              </a:rPr>
              <a:t>NEXT · EMOTION COACH</a:t>
            </a:r>
            <a:endParaRPr lang="en-US" sz="900" dirty="0"/>
          </a:p>
        </p:txBody>
      </p:sp>
      <p:sp>
        <p:nvSpPr>
          <p:cNvPr id="8" name="Text 6"/>
          <p:cNvSpPr/>
          <p:nvPr/>
        </p:nvSpPr>
        <p:spPr>
          <a:xfrm>
            <a:off x="2146102" y="3504158"/>
            <a:ext cx="1610767" cy="285155"/>
          </a:xfrm>
          <a:prstGeom prst="roundRect">
            <a:avLst>
              <a:gd name="adj" fmla="val 4449264"/>
            </a:avLst>
          </a:prstGeom>
          <a:solidFill>
            <a:srgbClr val="FFFFFF"/>
          </a:solidFill>
          <a:ln w="9525">
            <a:solidFill>
              <a:srgbClr val="1B1D19"/>
            </a:solidFill>
          </a:ln>
        </p:spPr>
        <p:txBody>
          <a:bodyPr wrap="square" rtlCol="0" anchor="ctr"/>
          <a:lstStyle/>
          <a:p>
            <a:pPr indent="0" marL="0">
              <a:buNone/>
            </a:pPr>
            <a:endParaRPr lang="en-US" dirty="0"/>
          </a:p>
        </p:txBody>
      </p:sp>
      <p:sp>
        <p:nvSpPr>
          <p:cNvPr id="9" name="Text 7"/>
          <p:cNvSpPr/>
          <p:nvPr/>
        </p:nvSpPr>
        <p:spPr>
          <a:xfrm>
            <a:off x="2282577" y="3577084"/>
            <a:ext cx="1364572" cy="139303"/>
          </a:xfrm>
          <a:prstGeom prst="rect">
            <a:avLst/>
          </a:prstGeom>
          <a:noFill/>
          <a:ln/>
        </p:spPr>
        <p:txBody>
          <a:bodyPr wrap="square" lIns="0" tIns="0" rIns="0" bIns="0" rtlCol="0" anchor="t"/>
          <a:lstStyle/>
          <a:p>
            <a:pPr algn="l" indent="0" marL="0">
              <a:lnSpc>
                <a:spcPts val="1098"/>
              </a:lnSpc>
              <a:buNone/>
            </a:pPr>
            <a:r>
              <a:rPr lang="en-US" sz="900" b="1" dirty="0">
                <a:solidFill>
                  <a:srgbClr val="1B1D19"/>
                </a:solidFill>
                <a:latin typeface="Arial" pitchFamily="34" charset="0"/>
                <a:ea typeface="Arial" pitchFamily="34" charset="-122"/>
                <a:cs typeface="Arial" pitchFamily="34" charset="-120"/>
              </a:rPr>
              <a:t>PHOTO FOOD LOGGING</a:t>
            </a:r>
            <a:endParaRPr lang="en-US" sz="900" dirty="0"/>
          </a:p>
        </p:txBody>
      </p:sp>
      <p:sp>
        <p:nvSpPr>
          <p:cNvPr id="10" name="Text 8"/>
          <p:cNvSpPr/>
          <p:nvPr/>
        </p:nvSpPr>
        <p:spPr>
          <a:xfrm>
            <a:off x="3858369" y="3504158"/>
            <a:ext cx="1380232" cy="285155"/>
          </a:xfrm>
          <a:prstGeom prst="roundRect">
            <a:avLst>
              <a:gd name="adj" fmla="val 4449264"/>
            </a:avLst>
          </a:prstGeom>
          <a:solidFill>
            <a:srgbClr val="F6EA7B"/>
          </a:solidFill>
          <a:ln w="9525">
            <a:solidFill>
              <a:srgbClr val="1B1D19"/>
            </a:solidFill>
          </a:ln>
        </p:spPr>
        <p:txBody>
          <a:bodyPr wrap="square" rtlCol="0" anchor="ctr"/>
          <a:lstStyle/>
          <a:p>
            <a:pPr indent="0" marL="0">
              <a:buNone/>
            </a:pPr>
            <a:endParaRPr lang="en-US" dirty="0"/>
          </a:p>
        </p:txBody>
      </p:sp>
      <p:sp>
        <p:nvSpPr>
          <p:cNvPr id="11" name="Text 9"/>
          <p:cNvSpPr/>
          <p:nvPr/>
        </p:nvSpPr>
        <p:spPr>
          <a:xfrm>
            <a:off x="3994845" y="3577084"/>
            <a:ext cx="1129427" cy="139303"/>
          </a:xfrm>
          <a:prstGeom prst="rect">
            <a:avLst/>
          </a:prstGeom>
          <a:noFill/>
          <a:ln/>
        </p:spPr>
        <p:txBody>
          <a:bodyPr wrap="square" lIns="0" tIns="0" rIns="0" bIns="0" rtlCol="0" anchor="t"/>
          <a:lstStyle/>
          <a:p>
            <a:pPr algn="l" indent="0" marL="0">
              <a:lnSpc>
                <a:spcPts val="1098"/>
              </a:lnSpc>
              <a:buNone/>
            </a:pPr>
            <a:r>
              <a:rPr lang="en-US" sz="900" b="1" dirty="0">
                <a:solidFill>
                  <a:srgbClr val="1B1D19"/>
                </a:solidFill>
                <a:latin typeface="Arial" pitchFamily="34" charset="0"/>
                <a:ea typeface="Arial" pitchFamily="34" charset="-122"/>
                <a:cs typeface="Arial" pitchFamily="34" charset="-120"/>
              </a:rPr>
              <a:t>WEEKLY PATTERNS</a:t>
            </a:r>
            <a:endParaRPr lang="en-US" sz="900" dirty="0"/>
          </a:p>
        </p:txBody>
      </p:sp>
      <p:sp>
        <p:nvSpPr>
          <p:cNvPr id="12" name="Text 10"/>
          <p:cNvSpPr/>
          <p:nvPr/>
        </p:nvSpPr>
        <p:spPr>
          <a:xfrm>
            <a:off x="381000" y="3890814"/>
            <a:ext cx="1009650" cy="285155"/>
          </a:xfrm>
          <a:prstGeom prst="roundRect">
            <a:avLst>
              <a:gd name="adj" fmla="val 4449264"/>
            </a:avLst>
          </a:prstGeom>
          <a:solidFill>
            <a:srgbClr val="B9D7F2"/>
          </a:solidFill>
          <a:ln w="9525">
            <a:solidFill>
              <a:srgbClr val="1B1D19"/>
            </a:solidFill>
          </a:ln>
        </p:spPr>
        <p:txBody>
          <a:bodyPr wrap="square" rtlCol="0" anchor="ctr"/>
          <a:lstStyle/>
          <a:p>
            <a:pPr indent="0" marL="0">
              <a:buNone/>
            </a:pPr>
            <a:endParaRPr lang="en-US" dirty="0"/>
          </a:p>
        </p:txBody>
      </p:sp>
      <p:sp>
        <p:nvSpPr>
          <p:cNvPr id="13" name="Text 11"/>
          <p:cNvSpPr/>
          <p:nvPr/>
        </p:nvSpPr>
        <p:spPr>
          <a:xfrm>
            <a:off x="517475" y="3963739"/>
            <a:ext cx="751433" cy="139303"/>
          </a:xfrm>
          <a:prstGeom prst="rect">
            <a:avLst/>
          </a:prstGeom>
          <a:noFill/>
          <a:ln/>
        </p:spPr>
        <p:txBody>
          <a:bodyPr wrap="square" lIns="0" tIns="0" rIns="0" bIns="0" rtlCol="0" anchor="t"/>
          <a:lstStyle/>
          <a:p>
            <a:pPr algn="l" indent="0" marL="0">
              <a:lnSpc>
                <a:spcPts val="1098"/>
              </a:lnSpc>
              <a:buNone/>
            </a:pPr>
            <a:r>
              <a:rPr lang="en-US" sz="900" b="1" dirty="0">
                <a:solidFill>
                  <a:srgbClr val="1B1D19"/>
                </a:solidFill>
                <a:latin typeface="Arial" pitchFamily="34" charset="0"/>
                <a:ea typeface="Arial" pitchFamily="34" charset="-122"/>
                <a:cs typeface="Arial" pitchFamily="34" charset="-120"/>
              </a:rPr>
              <a:t>WEARABLES</a:t>
            </a:r>
            <a:endParaRPr lang="en-US" sz="900" dirty="0"/>
          </a:p>
        </p:txBody>
      </p:sp>
      <p:sp>
        <p:nvSpPr>
          <p:cNvPr id="14" name="Text 12"/>
          <p:cNvSpPr/>
          <p:nvPr/>
        </p:nvSpPr>
        <p:spPr>
          <a:xfrm>
            <a:off x="1492151" y="3890814"/>
            <a:ext cx="2013198" cy="285155"/>
          </a:xfrm>
          <a:prstGeom prst="roundRect">
            <a:avLst>
              <a:gd name="adj" fmla="val 4449264"/>
            </a:avLst>
          </a:prstGeom>
          <a:solidFill>
            <a:srgbClr val="C8F23D"/>
          </a:solidFill>
          <a:ln w="9525">
            <a:solidFill>
              <a:srgbClr val="1B1D19"/>
            </a:solidFill>
          </a:ln>
        </p:spPr>
        <p:txBody>
          <a:bodyPr wrap="square" rtlCol="0" anchor="ctr"/>
          <a:lstStyle/>
          <a:p>
            <a:pPr indent="0" marL="0">
              <a:buNone/>
            </a:pPr>
            <a:endParaRPr lang="en-US" dirty="0"/>
          </a:p>
        </p:txBody>
      </p:sp>
      <p:sp>
        <p:nvSpPr>
          <p:cNvPr id="15" name="Text 13"/>
          <p:cNvSpPr/>
          <p:nvPr/>
        </p:nvSpPr>
        <p:spPr>
          <a:xfrm>
            <a:off x="1628626" y="3963739"/>
            <a:ext cx="1775052" cy="139303"/>
          </a:xfrm>
          <a:prstGeom prst="rect">
            <a:avLst/>
          </a:prstGeom>
          <a:noFill/>
          <a:ln/>
        </p:spPr>
        <p:txBody>
          <a:bodyPr wrap="square" lIns="0" tIns="0" rIns="0" bIns="0" rtlCol="0" anchor="t"/>
          <a:lstStyle/>
          <a:p>
            <a:pPr algn="l" indent="0" marL="0">
              <a:lnSpc>
                <a:spcPts val="1098"/>
              </a:lnSpc>
              <a:buNone/>
            </a:pPr>
            <a:r>
              <a:rPr lang="en-US" sz="900" b="1" dirty="0">
                <a:solidFill>
                  <a:srgbClr val="1B1D19"/>
                </a:solidFill>
                <a:latin typeface="Arial" pitchFamily="34" charset="0"/>
                <a:ea typeface="Arial" pitchFamily="34" charset="-122"/>
                <a:cs typeface="Arial" pitchFamily="34" charset="-120"/>
              </a:rPr>
              <a:t>EXPERT-REVIEWED GUIDANCE</a:t>
            </a:r>
            <a:endParaRPr lang="en-US" sz="900" dirty="0"/>
          </a:p>
        </p:txBody>
      </p:sp>
      <p:sp>
        <p:nvSpPr>
          <p:cNvPr id="16" name="Text 14"/>
          <p:cNvSpPr/>
          <p:nvPr/>
        </p:nvSpPr>
        <p:spPr>
          <a:xfrm>
            <a:off x="381000" y="4455319"/>
            <a:ext cx="5682505" cy="170408"/>
          </a:xfrm>
          <a:prstGeom prst="rect">
            <a:avLst/>
          </a:prstGeom>
          <a:noFill/>
          <a:ln/>
        </p:spPr>
        <p:txBody>
          <a:bodyPr wrap="square" lIns="0" tIns="0" rIns="0" bIns="0" rtlCol="0" anchor="t"/>
          <a:lstStyle/>
          <a:p>
            <a:pPr algn="l" indent="0" marL="0">
              <a:lnSpc>
                <a:spcPts val="1342"/>
              </a:lnSpc>
              <a:spcBef>
                <a:spcPts val="2200"/>
              </a:spcBef>
              <a:buNone/>
            </a:pPr>
            <a:r>
              <a:rPr lang="en-US" sz="1100" b="1" dirty="0">
                <a:solidFill>
                  <a:srgbClr val="1B1D19"/>
                </a:solidFill>
                <a:latin typeface="Arial" pitchFamily="34" charset="0"/>
                <a:ea typeface="Arial" pitchFamily="34" charset="-122"/>
                <a:cs typeface="Arial" pitchFamily="34" charset="-120"/>
              </a:rPr>
              <a:t>github.com/EdwinjJ1/akeso</a:t>
            </a:r>
            <a:endParaRPr lang="en-US" sz="1100" dirty="0"/>
          </a:p>
        </p:txBody>
      </p:sp>
      <p:sp>
        <p:nvSpPr>
          <p:cNvPr id="17" name="Text 15"/>
          <p:cNvSpPr/>
          <p:nvPr/>
        </p:nvSpPr>
        <p:spPr>
          <a:xfrm>
            <a:off x="6383834" y="1157883"/>
            <a:ext cx="2379166" cy="3111401"/>
          </a:xfrm>
          <a:prstGeom prst="roundRect">
            <a:avLst>
              <a:gd name="adj" fmla="val 16014"/>
            </a:avLst>
          </a:prstGeom>
          <a:solidFill>
            <a:srgbClr val="1B1D19"/>
          </a:solidFill>
          <a:ln w="19050">
            <a:solidFill>
              <a:srgbClr val="1B1D19"/>
            </a:solidFill>
          </a:ln>
        </p:spPr>
        <p:txBody>
          <a:bodyPr wrap="square" rtlCol="0" anchor="ctr"/>
          <a:lstStyle/>
          <a:p>
            <a:pPr indent="0" marL="0">
              <a:buNone/>
            </a:pPr>
            <a:endParaRPr lang="en-US" dirty="0"/>
          </a:p>
        </p:txBody>
      </p:sp>
      <p:pic>
        <p:nvPicPr>
          <p:cNvPr id="18" name="Image 0" descr="/Users/edwinj/Edwin/second-brain/01-projects/UNSWHac/pitch/assets/mascot-celebrate.png">    </p:cNvPr>
          <p:cNvPicPr>
            <a:picLocks noChangeAspect="1"/>
          </p:cNvPicPr>
          <p:nvPr/>
        </p:nvPicPr>
        <p:blipFill>
          <a:blip r:embed="rId1"/>
          <a:stretch>
            <a:fillRect/>
          </a:stretch>
        </p:blipFill>
        <p:spPr>
          <a:xfrm>
            <a:off x="6239917" y="1583234"/>
            <a:ext cx="2667000" cy="2667000"/>
          </a:xfrm>
          <a:prstGeom prst="rect">
            <a:avLst/>
          </a:prstGeom>
        </p:spPr>
      </p:pic>
      <p:sp>
        <p:nvSpPr>
          <p:cNvPr id="19" name="Text 16"/>
          <p:cNvSpPr/>
          <p:nvPr/>
        </p:nvSpPr>
        <p:spPr>
          <a:xfrm>
            <a:off x="381000" y="4925913"/>
            <a:ext cx="2214679" cy="116086"/>
          </a:xfrm>
          <a:prstGeom prst="rect">
            <a:avLst/>
          </a:prstGeom>
          <a:noFill/>
          <a:ln/>
        </p:spPr>
        <p:txBody>
          <a:bodyPr wrap="square" lIns="0" tIns="0" rIns="0" bIns="0" rtlCol="0" anchor="t"/>
          <a:lstStyle/>
          <a:p>
            <a:pPr algn="l" indent="0" marL="0">
              <a:lnSpc>
                <a:spcPts val="915"/>
              </a:lnSpc>
              <a:buNone/>
            </a:pPr>
            <a:r>
              <a:rPr lang="en-US" sz="750" b="1" dirty="0">
                <a:solidFill>
                  <a:srgbClr val="1B1D19"/>
                </a:solidFill>
                <a:latin typeface="Arial" pitchFamily="34" charset="0"/>
                <a:ea typeface="Arial" pitchFamily="34" charset="-122"/>
                <a:cs typeface="Arial" pitchFamily="34" charset="-120"/>
              </a:rPr>
              <a:t>AKESO · LESS GRIND. BETTER TIMING.</a:t>
            </a:r>
            <a:endParaRPr lang="en-US" sz="750" dirty="0"/>
          </a:p>
        </p:txBody>
      </p:sp>
      <p:sp>
        <p:nvSpPr>
          <p:cNvPr id="20" name="Text 17"/>
          <p:cNvSpPr/>
          <p:nvPr/>
        </p:nvSpPr>
        <p:spPr>
          <a:xfrm>
            <a:off x="8636645" y="4925913"/>
            <a:ext cx="128882" cy="116086"/>
          </a:xfrm>
          <a:prstGeom prst="rect">
            <a:avLst/>
          </a:prstGeom>
          <a:noFill/>
          <a:ln/>
        </p:spPr>
        <p:txBody>
          <a:bodyPr wrap="square" lIns="0" tIns="0" rIns="0" bIns="0" rtlCol="0" anchor="t"/>
          <a:lstStyle/>
          <a:p>
            <a:pPr algn="l" indent="0" marL="0">
              <a:lnSpc>
                <a:spcPts val="915"/>
              </a:lnSpc>
              <a:buNone/>
            </a:pPr>
            <a:r>
              <a:rPr lang="en-US" sz="750" b="1" dirty="0">
                <a:solidFill>
                  <a:srgbClr val="1B1D19"/>
                </a:solidFill>
                <a:latin typeface="Arial" pitchFamily="34" charset="0"/>
                <a:ea typeface="Arial" pitchFamily="34" charset="-122"/>
                <a:cs typeface="Arial" pitchFamily="34" charset="-120"/>
              </a:rPr>
              <a:t>08</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mpac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ICON UNSW × Lyra Hackathon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Akeso — Understand Your Energy. Feed It Better.</dc:title>
  <dc:subject>Akeso personal energy and nutrition coach pitch</dc:subject>
  <dc:creator>Akeso Team</dc:creator>
  <cp:lastModifiedBy>Akeso Team</cp:lastModifiedBy>
  <cp:revision>1</cp:revision>
  <dcterms:created xsi:type="dcterms:W3CDTF">2026-07-22T07:16:41Z</dcterms:created>
  <dcterms:modified xsi:type="dcterms:W3CDTF">2026-07-22T07:16:41Z</dcterms:modified>
</cp:coreProperties>
</file>